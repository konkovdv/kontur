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79" r:id="rId27"/>
    <p:sldId id="278" r:id="rId26"/>
    <p:sldId id="268" r:id="rId16"/>
    <p:sldId id="277" r:id="rId25"/>
    <p:sldId id="299" r:id="rId31"/>
    <p:sldId id="275" r:id="rId23"/>
    <p:sldId id="271" r:id="rId19"/>
    <p:sldId id="280" r:id="rId28"/>
    <p:sldId id="273" r:id="rId21"/>
    <p:sldId id="270" r:id="rId18"/>
    <p:sldId id="293" r:id="rId45"/>
    <p:sldId id="294" r:id="rId46"/>
    <p:sldId id="295" r:id="rId47"/>
    <p:sldId id="276" r:id="rId24"/>
    <p:sldId id="272" r:id="rId20"/>
    <p:sldId id="267" r:id="rId15"/>
    <p:sldId id="296" r:id="rId48"/>
    <p:sldId id="297" r:id="rId49"/>
    <p:sldId id="298" r:id="rId50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21.xml"/><Relationship Id="rId16" Type="http://schemas.openxmlformats.org/officeDocument/2006/relationships/slide" Target="slides/slide8.xml"/><Relationship Id="rId18" Type="http://schemas.openxmlformats.org/officeDocument/2006/relationships/slide" Target="slides/slide15.xml"/><Relationship Id="rId19" Type="http://schemas.openxmlformats.org/officeDocument/2006/relationships/slide" Target="slides/slide12.xml"/><Relationship Id="rId20" Type="http://schemas.openxmlformats.org/officeDocument/2006/relationships/slide" Target="slides/slide20.xml"/><Relationship Id="rId21" Type="http://schemas.openxmlformats.org/officeDocument/2006/relationships/slide" Target="slides/slide14.xml"/><Relationship Id="rId23" Type="http://schemas.openxmlformats.org/officeDocument/2006/relationships/slide" Target="slides/slide11.xml"/><Relationship Id="rId24" Type="http://schemas.openxmlformats.org/officeDocument/2006/relationships/slide" Target="slides/slide19.xml"/><Relationship Id="rId25" Type="http://schemas.openxmlformats.org/officeDocument/2006/relationships/slide" Target="slides/slide9.xml"/><Relationship Id="rId26" Type="http://schemas.openxmlformats.org/officeDocument/2006/relationships/slide" Target="slides/slide7.xml"/><Relationship Id="rId27" Type="http://schemas.openxmlformats.org/officeDocument/2006/relationships/slide" Target="slides/slide6.xml"/><Relationship Id="rId28" Type="http://schemas.openxmlformats.org/officeDocument/2006/relationships/slide" Target="slides/slide13.xml"/><Relationship Id="rId31" Type="http://schemas.openxmlformats.org/officeDocument/2006/relationships/slide" Target="slides/slide1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Relationship Id="rId45" Type="http://schemas.openxmlformats.org/officeDocument/2006/relationships/slide" Target="slides/slide16.xml"/><Relationship Id="rId46" Type="http://schemas.openxmlformats.org/officeDocument/2006/relationships/slide" Target="slides/slide17.xml"/><Relationship Id="rId47" Type="http://schemas.openxmlformats.org/officeDocument/2006/relationships/slide" Target="slides/slide18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Relationship Id="rId2" Type="http://schemas.microsoft.com/office/2011/relationships/chartStyle" Target="style3.xml"/><Relationship Id="rId3" Type="http://schemas.microsoft.com/office/2011/relationships/chartColorStyle" Target="colors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Параметры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Исполняются</c:v>
                </c:pt>
                <c:pt idx="1">
                  <c:v>Без экстрактора</c:v>
                </c:pt>
                <c:pt idx="2">
                  <c:v>Справочные</c:v>
                </c:pt>
                <c:pt idx="3">
                  <c:v>Без источника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1</c:v>
                </c:pt>
                <c:pt idx="3">
                  <c:v>4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 bwMode="auto">
        <a:prstGeom prst="rect">
          <a:avLst/>
        </a:prstGeom>
        <a:noFill/>
        <a:ln w="25400"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Порог ТЗ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</c:dPt>
          <c:cat>
            <c:strRef>
              <c:f>Sheet1!$A$2:$A$9</c:f>
              <c:strCache>
                <c:ptCount val="8"/>
                <c:pt idx="0">
                  <c:v>FPR ≤</c:v>
                </c:pt>
                <c:pt idx="1">
                  <c:v>F1</c:v>
                </c:pt>
                <c:pt idx="2">
                  <c:v>R</c:v>
                </c:pt>
                <c:pt idx="3">
                  <c:v>P</c:v>
                </c:pt>
                <c:pt idx="4">
                  <c:v>IoU</c:v>
                </c:pt>
                <c:pt idx="5">
                  <c:v>Связка</c:v>
                </c:pt>
                <c:pt idx="6">
                  <c:v>EM</c:v>
                </c:pt>
                <c:pt idx="7">
                  <c:v>CA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</c:v>
                </c:pt>
                <c:pt idx="1">
                  <c:v>0.85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0.95</c:v>
                </c:pt>
                <c:pt idx="6">
                  <c:v>0.9</c:v>
                </c:pt>
                <c:pt idx="7">
                  <c:v>0.95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Файлы публичного объекта</c:v>
                </c:pt>
              </c:strCache>
            </c:strRef>
          </c:tx>
          <c:spPr bwMode="auto"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</c:dPt>
          <c:dPt>
            <c:idx val="1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</c:dPt>
          <c:dPt>
            <c:idx val="2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</c:dPt>
          <c:dPt>
            <c:idx val="3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</c:dPt>
          <c:dLbls>
            <c:dLbl>
              <c:idx val="2"/>
              <c:layout/>
              <c:showBubbleSize val="0"/>
              <c:showCatName val="0"/>
              <c:showLegendKey val="0"/>
              <c:showPercent val="1"/>
              <c:showSerName val="0"/>
              <c:showVal val="0"/>
              <c:spPr bwMode="auto">
                <a:prstGeom prst="rect">
                  <a:avLst/>
                </a:prstGeom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</c:dLbl>
            <c:dLbl>
              <c:idx val="3"/>
              <c:layout/>
              <c:showBubbleSize val="0"/>
              <c:showCatName val="0"/>
              <c:showLegendKey val="0"/>
              <c:showPercent val="1"/>
              <c:showSerName val="0"/>
              <c:showVal val="0"/>
              <c:spPr bwMode="auto">
                <a:prstGeom prst="rect">
                  <a:avLst/>
                </a:prstGeom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</c:dLbl>
            <c:showBubbleSize val="0"/>
            <c:showCatName val="1"/>
            <c:showLeaderLines val="0"/>
            <c:showLegendKey val="0"/>
            <c:showPercent val="1"/>
            <c:showSerName val="0"/>
            <c:showVal val="0"/>
            <c:spPr bwMode="auto">
              <a:prstGeom prst="rect">
                <a:avLst/>
              </a:prstGeom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</c:dLbls>
          <c:cat>
            <c:strRef>
              <c:f>Sheet1!$A$2:$A$3</c:f>
              <c:strCache>
                <c:ptCount val="2"/>
                <c:pt idx="0">
                  <c:v>ПД</c:v>
                </c:pt>
                <c:pt idx="1">
                  <c:v>РД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46</c:v>
                </c:pt>
                <c:pt idx="1">
                  <c:v>4</c:v>
                </c:pt>
              </c:numCache>
            </c:numRef>
          </c:val>
        </c:ser>
        <c:dLbls>
          <c:showBubbleSize val="0"/>
          <c:showCatName val="1"/>
          <c:showLeaderLines val="0"/>
          <c:showLegendKey val="0"/>
          <c:showPercent val="1"/>
          <c:showSerName val="0"/>
          <c:showVal val="0"/>
        </c:dLbls>
        <c:firstSliceAng val="0"/>
        <c:holeSize val="75"/>
      </c:doughnutChart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625096" y="1360288"/>
      <a:ext cx="5125748" cy="4385667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100837621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 GLM-OCR 2605.14930; WildHandBench 2608.17012; DocTrace 2608.02149; State-Conditioned Visual Evidence Retrieval 2608.19233; The Count Is There, but Misaligned 2607.07615; ABACUS 2606.18210; PolarSym 2608.06244; RealCADBench 2609.02871; ARCHER 2607.21883; Geometry-Intensive Compliance Checking in BIM 2606.08715; Trustworthy Agentic AI 2609.22712; Doc2DB-Bench 2608.08459 (таблицы). Перед питчем сверить карточки источников.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Тезис всего доклада: ядро продукта не OCR, а доказательная цепочка «актуальная редакция → доказательное извлечение → атомарное правило → решение инспектора». Источник: README репозитория github.com/KonkovDV/Kontur, срез 28.09.2026.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Ответы организатора 26.09.2026: №10 (форматы), №11–12 (эталон), №28 (3 действия), №23 (локальный прогон). Стек и отклонения: docs/STACK_DEVIATIONS.md.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67B9-54C4-EB22-8C9E-0FC5BA1455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Цитата — по записи сессии вопросов и ответов 16.09.2026; текста записи в репозитории нет. Ответы 11, 12, 19, 23 — docs/ORGANIZER_ANSWERS_2026_09_26.md.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6433E8-611F-BD03-8F63-CEE1C3799AA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питча по ответу 13: сначала живое демо, затем архитектура и метрики. Шаги 1–6 пройдены через API на коде main 28.09: submission/04-prototype, раздел 7. Отклонение без reason_code — 409.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EDA9EC-F428-112D-3923-9BEBB54611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Честный кейс вместо иллюстративного «42,5 = 42,5»: TRAIN-0006 в разметке — нарушение (вытяжка отсутствует), а не совпадение. Цепочка прогонов 24–28.09 последовательно сняла стопоры: пустой шифр → утверждение → sole_head → якорь шифра; текущий стопор — якорь числа на листе.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99ED4-F20B-0701-D13A-3B951D3B50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docs/OCR_BAKEOFF.md: образ kontur-core, 26.09.2026, корпус SILVER PDF_TEXT_LAYER без Речникова. eslav: mean_ca 0,794, tz_low 0,663, gate_i_low 0,632; Tesseract 5.5: 0,777 / 0,635 / 0,603. Пороги 0,95/0,97 не взяты, гейт I открыт.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F06EBC-152B-39B7-84F3-BD9F4D07EC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989F1-D0BC-C9C6-34DF-3DCD13FDA7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46 · 4 · 0: объект OBJ-TYUMENSKAYA-5-GOLD-SEED, загружено 46 ПД и 4 РД, ИД нет; cipher=null у всех 50 файлов (docs/GOLD_DIAGNOSIS.md). Прежнее число 85,9% сканов (2 675 из 3 114) в репозитории не записано — без скрипта и лога на слайд не возвращать. 30 минут — ответ организатора 16, три действия — ответ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BE8A63-6423-9D1A-6C53-0FD2972D0E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docs/ARCHITECTURE.md: gateway :3000 (лимиты, статика, статусов не пишет) → ядро :8000 (JWT, роль, object_id; PDF в дочернем процессе с таймаутом) → детерминированный путь из 4 шагов → протокол → mock-очередь РиН.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16.09.2026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16.09.2026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16.09.2026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16.09.2026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16.09.2026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16.09.2026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16.09.2026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16.09.2026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16.09.2026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16.09.2026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16.09.2026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16.09.2026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16.09.2026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16.09.2026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16.09.2026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16.09.2026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16.09.2026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16.09.2026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16.09.2026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1.png"/><Relationship Id="rId4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КОМАНДА «КОНТУР»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>
                <a:solidFill/>
              </a:rPr>
              <a:t>Задача №10 · Мосгосстройнадзор. «Инспектор ИИ»: доказательная сверка ПД · РД · ИД по 132 параметрам</a:t>
            </a:r>
            <a:endParaRPr lang="ru-RU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609484257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Модель не пишет статус: ядро правил формирует кандидата, нарушение подтверждает только инспектор. Находка без листа, координат и SHA-256 источника не сохраняется (ADR-0001, ADR-0002).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Коньков Дмитрий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2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chemeClr val="tx1"/>
                </a:solidFill>
              </a:rPr>
              <a:t>Контур: с 16.09.2026 504 коммита и 225 pull request’ов, main меняется только через PR и обязательный CI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chemeClr val="tx1"/>
                </a:solidFill>
              </a:rPr>
              <a:t>Опыт AeroBIM: 1106 коммитов с апреля 2026; участник программы «Техлаб Москва» (демо-день 21.09.2026)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Москва</a:t>
            </a:r>
            <a:endParaRPr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КОМАНДА «КОНТУР»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Сверяет ПД, РД и ИД по 132 параметрам: извлекает значения с доказательствами, детерминированно сравнивает с эталонной редакцией ПД и честно отказывается там, где доказательства нет.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>
                <a:solidFill/>
              </a:rPr>
              <a:t>2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Системный инженер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Метрики, сборка, приёмка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konkovaelena@yandex.ru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[телефон] · TG: [@ник]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Елена Конькова</a:t>
            </a:r>
            <a:endParaRPr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288949743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КОМАНДА «КОНТУР»</a:t>
            </a:r>
            <a:endParaRPr lang="ru-RU">
              <a:latin typeface="Montserrat"/>
            </a:endParaRP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Капитан команды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Архитектура, движок правил, OCR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konkov-dmitrij@yandex.ru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400">
                <a:solidFill>
                  <a:schemeClr val="tx1"/>
                </a:solidFill>
              </a:rPr>
              <a:t>+7 915 452-88-64 · TG: [@ник]</a:t>
            </a:r>
            <a:endParaRPr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Дмитрий Коньков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ИСТОРИЯ КОМАНДЫ</a:t>
            </a:r>
            <a:endParaRPr lang="ru-RU">
              <a:latin typeface="Montserrat"/>
            </a:endParaRP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 апреля 2026 строим AeroBIM (1106 коммитов, программа «Техлаб Москва»). С 16.09 Контур: 504 коммита, 225 PR за 13 дней, реестр пробелов и Red Team в открытом репозитории.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Сканы и штампы поверх текста, пустые шифры в штампах, несколько голов редакции, разные названия одного параметра. Ответ: вектор pdfium + двойное чтение OCR, резолвер редакций по шифру, статусы отказа вместо догадки.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Сотни листов трёх стадий по 132 параметрам сверяются вручную. «ПД для нас истина и эталон», сказал заказчик. Рутину отдаём машине, решение — человеку.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Сверка ПД ↔ РД ↔ ИД по 132 параметрам из 12 разделов, не проект против СНиП (ADR-0006)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Эталон: голова редакции ПД по шифру; две головы → CLARIFICATION_REQUIRED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Вектор pypdfium2 первичен; кроп значения: PP-OCRv5 eslav + Tesseract 5.5, несогласие → ABSTAIN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Атомарные правила, 12 операторов: вердикт сравнения пишет код, не модель (ADR-0001)</a:t>
            </a:r>
            <a:endParaRPr/>
          </a:p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Python · FastAPI · React+TS · PostgreSQL · Redis · RabbitMQ · Node.js BFF, OpenAPI 3.1 и 3.0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600">
                <a:solidFill>
                  <a:schemeClr val="tx1"/>
                </a:solidFill>
              </a:rPr>
              <a:t>Одно окно: панели ПД/РД/ИД и полигон расхождения на листе исходника</a:t>
            </a:r>
            <a:endParaRPr/>
          </a:p>
          <a:p>
            <a:pPr>
              <a:defRPr/>
            </a:pPr>
            <a:r>
              <a:rPr>
                <a:solidFill/>
              </a:rPr>
              <a:t>Не более 3 действий на решение: открыть → решить с причиной → сохранить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Протокол JSON, DOCX, XML и PDF собирается из одного решения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CONFIRMED_VIOLATION ставит только инспектор, автор каждого действия в аудите</a:t>
            </a:r>
            <a:endParaRPr lang="ru-RU" sz="1400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/>
              </a:rPr>
              <a:t>Локально и офлайн: Docker, веса в образе, только CPU, Apache-2.0</a:t>
            </a: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/>
              </a:rPr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450799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Инспектор вручную сверяет десятки томов ПД, РД и ИД разных редакций, часть листов — сканы. Две ошибки: пропустить расхождение или принять неполный комплект за нарушение.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АЛЬТЕРНАТИВЫ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Ручная сверка медленная и невоспроизводимая. LLM-чат уверенно отвечает, но плохо указывает фрагмент-основание (DocTrace, 2026): для надзора это непригодно.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2D1451"/>
                </a:solidFill>
              </a:rPr>
              <a:t>НАШЕ 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Извлечение с доказательством, детерминированное сравнение с эталоном ПД, решение инспектора. Нет доказательства: отказ, а не догадка.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142232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ПРОБЛЕМА И РЕШЕНИЕ</a:t>
            </a:r>
            <a:endParaRPr lang="ru-RU"/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775559" name="Скругленный прямоугольник 1"/>
          <p:cNvSpPr/>
          <p:nvPr/>
        </p:nvSpPr>
        <p:spPr bwMode="auto">
          <a:xfrm>
            <a:off x="346075" y="324562"/>
            <a:ext cx="429310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6616054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7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318130621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46 · 4 · 0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878405022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739825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томов ПД, РД и ИД в публичном объекте; шифр в штампе пуст у всех 50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44952325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132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458881947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08386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параметра сверки в 12 разделах по ТЗ заказчика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28887783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30 мин · 3 клика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226906187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276947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протокол от READY до решений; ≤3 действия на кандидата (ответы 16, 28)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828808947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26994727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545509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права на ложный вердикт: вывод «нарушений нет» без доказательства запрещён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109608534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70958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927347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ПРОБЛЕМА В ЦИФРАХ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3392376" name="Объект 2"/>
          <p:cNvSpPr>
            <a:spLocks noGrp="1"/>
          </p:cNvSpPr>
          <p:nvPr>
            <p:ph idx="1"/>
          </p:nvPr>
        </p:nvSpPr>
        <p:spPr bwMode="auto">
          <a:xfrm>
            <a:off x="623888" y="1556279"/>
            <a:ext cx="10789619" cy="3745441"/>
          </a:xfrm>
        </p:spPr>
        <p:txBody>
          <a:bodyPr/>
          <a:lstStyle/>
          <a:p>
            <a:pPr>
              <a:spcAft>
                <a:spcPts val="500"/>
              </a:spcAft>
              <a:defRPr/>
            </a:pPr>
            <a:r>
              <a:rPr b="1" sz="2600">
                <a:solidFill>
                  <a:srgbClr val="2D1451"/>
                </a:solidFill>
              </a:rPr>
              <a:t>«ПД для нас истина и эталон, тем более она проходит экспертизу»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600">
                <a:solidFill>
                  <a:srgbClr val="4B5563"/>
                </a:solidFill>
              </a:rPr>
              <a:t>Мосгосстройнадзор, сессия вопросов и ответов, 16.09.2026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/>
              <a:t/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500"/>
              </a:spcAft>
              <a:defRPr/>
            </a:pPr>
            <a:r>
              <a:rPr sz="1800">
                <a:solidFill>
                  <a:srgbClr val="1C1D22"/>
                </a:solidFill>
              </a:rPr>
              <a:t>Что из этого следует (ответы организатора 26.09): эталон — последняя применимая утверждённая ПД (№11–12); три разных значения не схлопываются, а собираются в доказательную группу; неоднозначность — CLARIFICATION_REQUIRED; сервис не подменяет экспертизу (№19); внешние облачные LLM/OCR запрещены (№23).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8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ГОЛОС ЗАКАЗЧИКА</a:t>
            </a:r>
            <a:endParaRPr lang="ru-RU" sz="36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859336" name="Скругленный прямоугольник 1"/>
          <p:cNvSpPr/>
          <p:nvPr/>
        </p:nvSpPr>
        <p:spPr bwMode="auto">
          <a:xfrm>
            <a:off x="346075" y="324562"/>
            <a:ext cx="53675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06422193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9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27317630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8 порогов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66575944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минимумов раздела 14 ТЗ: это нижняя граница приёмки, а не заявленный результат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059579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F1 ≥ 0,85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2597368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ловушка: при P = 0,90 и R = 0,80 F1 = 0,847 &lt; 0,85, нужен запас по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4938651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30 + 10 баллов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2297575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30 экспертиза + 10 питч (живое демо); при равенстве решают F1 и Recall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79708373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object_id + код + location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68925386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единица совпадения — атомарная точка check_id (ответ 14); доли с 95% CI Уилсона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26868884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7779449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001768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КАК НАС БУДУТ ИЗМЕРЯТЬ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Учебный комплект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Одна кнопка: синтетические ПД, РД и ИД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Эталон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Инспектор назначает эталон ПД, запись в аудит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Прогон и статус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Конвейер L1–L7; время по 4 фазам на статусе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Карточка кандидата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Панели ПД/РД/ИД, delta, полигон на листе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Решение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Подтвердить или отклонить с причиной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Протокол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 формата, финализация, РиН (mock) → PENDING_SYNC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СЦЕНАРИЙ ЖИВОГО ДЕМО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Стенд поднимается одной командой docker compose, интерфейс на :3000.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b="1" sz="1800">
                <a:solidFill>
                  <a:srgbClr val="2D1451"/>
                </a:solidFill>
              </a:rPr>
              <a:t>Одно окно инспектора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Очередь кандидатов → карточка с панелями ПД, РД, ИД → решение. Без переключения между PDF и поиска по папкам.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CONFIRMED_VIOLATION ставит только человек.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≤ 3 действий: открыть, решить с причиной, сохранить (ответ 28)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Карточка: finding_id, expected/actual/delta, файл и SHA-256, лист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Полигон расхождения прямо на листе исходника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MISSING_EVIDENCE: не нарушение, а запрос документа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Пачка только для отмеченных CANDIDATE; 30 мин — цель гейта K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РАБОЧЕЕ МЕСТО ИНСПЕКТОРА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51526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12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Актуальная редакция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Голова цепочки по шифру; «не утв.» не эталон; две головы — уточнение (ADR-0015, 0017).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 с доказательством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Значение сохраняется только с листом, координатами и SHA-256 источника (ADR-0002).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Атомарное правило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Код правила сравнивает значение с эталоном ПД. Модель вердикт не пишет (ADR-0001).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Решение инспектора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Ядро предлагает, инспектор подтверждает. Нарушение ставит только человек.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78688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ДОКАЗАТЕЛЬНАЯ ЦЕПОЧКА</a:t>
            </a:r>
            <a:endParaRPr lang="ru-RU"/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5" y="324562"/>
            <a:ext cx="472287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Вход и паспорт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PDF, DOCX, XML; архив и DWG: явный статус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Извлечение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Вектор + OCR в 2 чтения; лист, полигон, SHA-256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Протокол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Решает инспектор; протокол в 4 форматах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Связка и эталон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Голова редакции по шифру; ПД —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Компаратор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12 операторов; нет экстрактора ≠ нарушение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75127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1</a:t>
            </a:r>
            <a:endParaRPr/>
          </a:p>
        </p:txBody>
      </p:sp>
      <p:sp>
        <p:nvSpPr>
          <p:cNvPr id="812859897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2</a:t>
            </a:r>
            <a:endParaRPr/>
          </a:p>
        </p:txBody>
      </p:sp>
      <p:sp>
        <p:nvSpPr>
          <p:cNvPr id="108934526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3</a:t>
            </a:r>
            <a:endParaRPr/>
          </a:p>
        </p:txBody>
      </p:sp>
      <p:sp>
        <p:nvSpPr>
          <p:cNvPr id="1741896490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4</a:t>
            </a:r>
            <a:endParaRPr/>
          </a:p>
        </p:txBody>
      </p:sp>
      <p:sp>
        <p:nvSpPr>
          <p:cNvPr id="1007682587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>
                <a:solidFill/>
              </a:rPr>
              <a:t>5</a:t>
            </a:r>
            <a:endParaRPr/>
          </a:p>
        </p:txBody>
      </p: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35711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АРХИТЕКТУРА РЕШЕНИЯ</a:t>
            </a:r>
            <a:endParaRPr lang="ru-RU"/>
          </a:p>
        </p:txBody>
      </p:sp>
      <p:sp>
        <p:nvSpPr>
          <p:cNvPr id="1473606708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86179979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2105368717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9368571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624313899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Эталон заказчика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Помещение 140: вытяжка есть в ПД (с. 88), отсутствует в РД (с. 18)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прочитано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46 томов ПД и 4 РД; шифр в штампе пуст у всех 50 файлов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Где остановка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«PD: якорь или число не найдены» → COMPARISON_IMPOSSIBLE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Чего нет в ответе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Нет вывода «нарушений нет»: отказ с причиной; ни одной строки VIOLATION_PRESENT без разметки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Счёт по gold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Матрица 0/6, свободный поиск 0/4; Wilson 95% CI для recall [0; 0,39]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Следующий шаг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Якорь и число IOS4 на листах ОВ; пороги по gold не подбираем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РАЗБОР КЕЙСА TRAIN-0006 · IOS4-078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B5563"/>
                </a:solidFill>
                <a:latin typeface="Montserrat"/>
              </a:rPr>
              <a:t>Объект Тюменская-5, TRAIN_PUBLIC, in-sample; прогон 28.09.2026 (docs/GOLD_DIAGNOSIS.md). Не порог ТЗ.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ПОДВОДНЫЕ КАМНИ: ДАННЫЕ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Сканы без текстового слоя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Штампы и печати поверх текста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Скан повёрнут, обрезан, низкое DPI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Таблицы без явных границ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Один параметр называется по-разному в ПД, РД и ИД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15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75" name="TextBox 2098580274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76" name="TextBox 2098580275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77" name="TextBox 2098580276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Вектор pypdfium2; сканы: кроп + PP-OCRv5</a:t>
            </a:r>
          </a:p>
        </p:txBody>
      </p:sp>
      <p:sp>
        <p:nvSpPr>
          <p:cNvPr id="2098580278" name="TextBox 2098580277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Второе чтение Tesseract 5.5; несогласие → ABSTAIN</a:t>
            </a:r>
          </a:p>
        </p:txBody>
      </p:sp>
      <p:sp>
        <p:nvSpPr>
          <p:cNvPr id="2098580279" name="TextBox 2098580278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Учёт /Rotate; цветная печать выбеливается</a:t>
            </a:r>
          </a:p>
        </p:txBody>
      </p:sp>
      <p:sp>
        <p:nvSpPr>
          <p:cNvPr id="2098580280" name="TextBox 2098580279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Таблицы: отдельный контур, пока не заявляем</a:t>
            </a:r>
          </a:p>
        </p:txBody>
      </p:sp>
      <p:sp>
        <p:nvSpPr>
          <p:cNvPr id="2098580281" name="TextBox 2098580280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C1D22"/>
                </a:solidFill>
                <a:latin typeface="Montserrat"/>
              </a:rPr>
              <a:t>Якоря правила в матрице; латиница B→В, P→П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ПОДВОДНЫЕ КАМНИ: ЛОГИКА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Несколько голов редакции, пустой шифр в штампе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Неутверждённая или устаревшая редакция как эталон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Параметр отсутствует в документе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Документ не читается в принципе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Интеграция с ИАИС «РиН»: внешний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98580282" name="TextBox 2098580281"/>
          <p:cNvSpPr txBox="1"/>
          <p:nvPr/>
        </p:nvSpPr>
        <p:spPr>
          <a:xfrm>
            <a:off x="521207" y="1207008"/>
            <a:ext cx="49011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ЧТО МЕШАЕТ</a:t>
            </a:r>
          </a:p>
        </p:txBody>
      </p:sp>
      <p:sp>
        <p:nvSpPr>
          <p:cNvPr id="2098580283" name="TextBox 2098580282"/>
          <p:cNvSpPr txBox="1"/>
          <p:nvPr/>
        </p:nvSpPr>
        <p:spPr>
          <a:xfrm>
            <a:off x="5989320" y="1207008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FF0053"/>
                </a:solidFill>
                <a:latin typeface="Montserrat"/>
              </a:rPr>
              <a:t>НАШИ ОТВЕТЫ</a:t>
            </a:r>
          </a:p>
        </p:txBody>
      </p:sp>
      <p:sp>
        <p:nvSpPr>
          <p:cNvPr id="2098580284" name="TextBox 2098580283"/>
          <p:cNvSpPr txBox="1"/>
          <p:nvPr/>
        </p:nvSpPr>
        <p:spPr>
          <a:xfrm>
            <a:off x="5989320" y="1691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Голова по шифру; две головы → CLARIFICATION_REQUIRED</a:t>
            </a:r>
          </a:p>
        </p:txBody>
      </p:sp>
      <p:sp>
        <p:nvSpPr>
          <p:cNvPr id="2098580285" name="TextBox 2098580284"/>
          <p:cNvSpPr txBox="1"/>
          <p:nvPr/>
        </p:nvSpPr>
        <p:spPr>
          <a:xfrm>
            <a:off x="5989320" y="2551176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«не утв.» не эталон; SOLE_HEAD, штамп не переписываем</a:t>
            </a:r>
          </a:p>
        </p:txBody>
      </p:sp>
      <p:sp>
        <p:nvSpPr>
          <p:cNvPr id="2098580286" name="TextBox 2098580285"/>
          <p:cNvSpPr txBox="1"/>
          <p:nvPr/>
        </p:nvSpPr>
        <p:spPr>
          <a:xfrm>
            <a:off x="5989320" y="3410712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MISSING_EVIDENCE / NOT_APPLICABLE: не нарушение</a:t>
            </a:r>
          </a:p>
        </p:txBody>
      </p:sp>
      <p:sp>
        <p:nvSpPr>
          <p:cNvPr id="2098580287" name="TextBox 2098580286"/>
          <p:cNvSpPr txBox="1"/>
          <p:nvPr/>
        </p:nvSpPr>
        <p:spPr>
          <a:xfrm>
            <a:off x="5989320" y="4270248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LOW_QUALITY / ABSTAIN вместо угаданного вердикта</a:t>
            </a:r>
          </a:p>
        </p:txBody>
      </p:sp>
      <p:sp>
        <p:nvSpPr>
          <p:cNvPr id="2098580288" name="TextBox 2098580287"/>
          <p:cNvSpPr txBox="1"/>
          <p:nvPr/>
        </p:nvSpPr>
        <p:spPr>
          <a:xfrm>
            <a:off x="5989320" y="5120640"/>
            <a:ext cx="5806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Montserrat"/>
              </a:rPr>
              <a:t>Outbox в брокер; confirm брокера ≠ ACK РиН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4172641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242999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17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817660197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ОПОРА НА SOTA-2026</a:t>
            </a:r>
            <a:endParaRPr lang="ru-RU" sz="3600">
              <a:solidFill>
                <a:schemeClr val="bg1"/>
              </a:solidFill>
            </a:endParaRPr>
          </a:p>
        </p:txBody>
      </p:sp>
      <p:graphicFrame>
        <p:nvGraphicFramePr>
          <p:cNvPr id="2041726419" name="Table 2041726418"/>
          <p:cNvGraphicFramePr>
            <a:graphicFrameLocks noGrp="1"/>
          </p:cNvGraphicFramePr>
          <p:nvPr/>
        </p:nvGraphicFramePr>
        <p:xfrm>
          <a:off x="621792" y="15544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737360"/>
                <a:gridCol w="42976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Слой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Берём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Лицензия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Почему</a:t>
                      </a:r>
                    </a:p>
                  </a:txBody>
                  <a:tcPr marL="54864" marR="54864" marT="27432" marB="27432">
                    <a:solidFill>
                      <a:srgbClr val="52097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Векторный PDF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pypdfium2 + pdfminer.six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BSD-3/Apache-2.0 · MIT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Текст и геометрия без OCR, основной путь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OCR кропа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PP-OCRv5 eslav mobile (ONNX)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SILVER n=5 935: mean CA 0,794 против 0,777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Второе чтение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Tesseract 5.5 rus+eng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Apache-2.0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Согласие двух чтений или ABSTAIN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C1D22"/>
                          </a:solidFill>
                          <a:latin typeface="Montserrat"/>
                        </a:rPr>
                        <a:t>Правила и вердикт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Детерминированное ядро + инспектор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Наш код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Статус не пишет модель (ADR-0001)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 берём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Облачные LLM/OCR/VLM, PyMuPDF (AGPL), Marker/Surya (ограничения весов)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Запрет ответа 23, лицензии</a:t>
                      </a:r>
                    </a:p>
                  </a:txBody>
                  <a:tcPr marL="54864" marR="54864" marT="27432" marB="27432">
                    <a:solidFill>
                      <a:srgbClr val="FFD6E3"/>
                    </a:solidFill>
                  </a:tcPr>
                </a:tc>
              </a:tr>
            </a:tbl>
          </a:graphicData>
        </a:graphic>
      </p:graphicFrame>
      <p:sp>
        <p:nvSpPr>
          <p:cNvPr id="2041726420" name="TextBox 2041726419"/>
          <p:cNvSpPr txBox="1"/>
          <p:nvPr/>
        </p:nvSpPr>
        <p:spPr>
          <a:xfrm>
            <a:off x="621792" y="5074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B5563"/>
                </a:solidFill>
                <a:latin typeface="Montserrat"/>
              </a:rPr>
              <a:t>Публичные бенчмарки не переносятся на порог ТЗ. Свои числа только с n и 95% CI Уилсона.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1585286" name="Скругленный прямоугольник 22"/>
          <p:cNvSpPr/>
          <p:nvPr/>
        </p:nvSpPr>
        <p:spPr bwMode="auto">
          <a:xfrm>
            <a:off x="346075" y="324562"/>
            <a:ext cx="622706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924016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18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683252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Печатный OCR на плато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274999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GLM-OCR 94,6, OmniDocBench ≈96 → ставка на двойное чтение, не на «новый OCR»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15709516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Доказательство слабо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935713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DocTrace, Visual Evidence Retrieval: ответ без места непригоден → полигон в evidence_group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227100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Подсчёт у VLM слаб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5510263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ABACUS, «The Count Is There…» → 14 правил подсчёта честно extractor_missing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32407529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Чертёж — это вектор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26745284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PolarSym, ArchCAD-400K, RealCADBench → графический контур на векторе PDF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4559789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Правила как 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698645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ARCHER, BIM compliance: норма → исполняемое правило → матрица JSON + компараторы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2318069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Документ не доверен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2253597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OWASP LLM01, Trustworthy Agentic AI → LLM вне вердикта, офлайн, сканер инъекций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202978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861304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SOTA-2026 → НАШИ РЕШЕНИЯ</a:t>
            </a:r>
            <a:endParaRPr lang="ru-RU"/>
          </a:p>
        </p:txBody>
      </p:sp>
      <p:sp>
        <p:nvSpPr>
          <p:cNvPr id="105796806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74629868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3141499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783136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42989749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06169420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6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15709517" name="TextBox 191570951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arXiv 2605–2609 (2026), OSINT-срез docs/RESEARCH_OSINT_2026.md. Чужие цифры — ориентир, не наш результат.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425051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5067186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9896725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05219055" name="Скругленный прямоугольник 1"/>
          <p:cNvSpPr/>
          <p:nvPr/>
        </p:nvSpPr>
        <p:spPr bwMode="auto">
          <a:xfrm>
            <a:off x="346075" y="324562"/>
            <a:ext cx="64419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06338296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19</a:t>
            </a:r>
            <a:endParaRPr lang="ru-RU"/>
          </a:p>
        </p:txBody>
      </p:sp>
      <p:sp>
        <p:nvSpPr>
          <p:cNvPr id="1233537166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55 из 132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474682657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правил имеют рабочий экстрактор; 72 ждут экстрактора, 1 справочный, 4 без источника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0241620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OCR: CA 0,794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0928945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Средняя CA, SILVER n=5 935; нижняя граница Wilson доли строк с CA ≥ 0,97 = 0,632. Порог не взят, гейт I открыт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186484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18 мс p95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72379139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k6 /status: 100 VU, 60 с, n = 6 000, 0 ошибок. Инженерный прогон, не SLA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668511626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81421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6076188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ЧЕСТНЫЕ МЕТРИКИ, СРЕЗ 28.09</a:t>
            </a:r>
            <a:endParaRPr lang="ru-RU"/>
          </a:p>
        </p:txBody>
      </p:sp>
      <p:sp>
        <p:nvSpPr>
          <p:cNvPr id="1706338297" name="TextBox 1706338296"/>
          <p:cNvSpPr txBox="1"/>
          <p:nvPr/>
        </p:nvSpPr>
        <p:spPr>
          <a:xfrm>
            <a:off x="521207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FFD6E4"/>
                </a:solidFill>
                <a:latin typeface="Montserrat"/>
              </a:rPr>
              <a:t>Публичный gold (in-sample, 28.09): матрица 0/6, поиск 0/4 — отказы; строк VIOLATION_PRESENT без разметки нет. Wilson при n=6: [0; 0,39]; для нижней границы ≥ 0,80 нужно n ≥ 16.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Работает сегодня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Стенд одной командой, учебный комплект, карточка с полигоном, решение и пачка CANDIDATE, протокол в 4 форматах, DOCX-таблицы, пакетный прогон и счёт с 95% CI.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Ещё не приёмка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Гейты I–L открыты: frozen val, 5 сессий инспекторов, XML и вложения PDF, архивы в сервисе, живой РиН, УКЭП, OIDC. DWG не требуется (ответ 10).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Право на отказ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Не читается: говорим прямо. MISSING_EVIDENCE, LOW_QUALITY, ABSTAIN вместо угаданного вердикта.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УМЕЕМ СЕГОДНЯ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45436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4751754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b="1" sz="1800">
                <a:solidFill>
                  <a:srgbClr val="2D1451"/>
                </a:solidFill>
              </a:rPr>
              <a:t>Проверка жюри из комплекта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docker compose -f docker-compose.yml \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    -f docker-compose.demo.yml up -d --build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curl :3000/api/v1/healthz  → 200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docker compose --profile runner run --rm package-runner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sz="1600">
                <a:solidFill>
                  <a:srgbClr val="1C1D22"/>
                </a:solidFill>
                <a:latin typeface="Consolas"/>
              </a:rPr>
              <a:t>$ python -m kontur.cli.score --submissions out/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  → n и 95% CI; порог ТЗ не объявляется взятым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>
                <a:solidFill>
                  <a:srgbClr val="1C1D22"/>
                </a:solidFill>
              </a:rPr>
              <a:t>Офлайн: docker-compose.offline.yml, веса OCR в vendor/ocr со сверкой SHA-256.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65220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21</a:t>
            </a:r>
            <a:endParaRPr lang="ru-RU"/>
          </a:p>
        </p:txBody>
      </p:sp>
      <p:sp>
        <p:nvSpPr>
          <p:cNvPr id="1029284307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2D1451"/>
                </a:solidFill>
              </a:rPr>
              <a:t>ЗАКРЫТЫЙ КОНТУР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065220023" name="TextBox 2065220022"/>
          <p:cNvSpPr txBox="1"/>
          <p:nvPr/>
        </p:nvSpPr>
        <p:spPr>
          <a:xfrm>
            <a:off x="6812280" y="1371600"/>
            <a:ext cx="4892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ontserrat"/>
              </a:rPr>
              <a:t>ЧТО ПОЛУЧАЕТ ЖЮРИ</a:t>
            </a:r>
          </a:p>
          <a:p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Compose, lock-файлы по хешам, healthcheck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package-runner: submission, protocol, manifest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Открытый API: OpenAPI 3.1 и 3.0 (contracts/)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· Обмен с РиН: outbox mock, ACK нет</a:t>
            </a:r>
          </a:p>
          <a:p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</a:p>
          <a:p>
            <a:r>
              <a:rPr sz="1500" b="1" i="0">
                <a:solidFill>
                  <a:srgbClr val="FFFFFF"/>
                </a:solidFill>
                <a:latin typeface="Montserrat"/>
              </a:rPr>
              <a:t>СТЕК</a:t>
            </a:r>
          </a:p>
          <a:p>
            <a:r>
              <a:rPr sz="1200" b="0" i="0">
                <a:solidFill>
                  <a:srgbClr val="1C1D22"/>
                </a:solidFill>
                <a:latin typeface="Montserrat"/>
              </a:rPr>
              <a:t/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Python · FastAPI · React+Vite+TS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PostgreSQL · Redis · RabbitMQ · MinIO · Node.js</a:t>
            </a:r>
          </a:p>
          <a:p>
            <a:r>
              <a:rPr sz="1400" b="0" i="0">
                <a:solidFill>
                  <a:srgbClr val="FFFFFF"/>
                </a:solidFill>
                <a:latin typeface="Montserrat"/>
              </a:rPr>
              <a:t>Linux, только CPU. NVIDIA не нужна.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1012528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/>
              </a:rPr>
              <a:t>22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1–2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Замороженная выборка: комплекты ПД/РД/ИД по 3–5 объектам, фиксация хэшами.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3–6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Табличный и графический контур для 72 правил без экстрактора, скан-конвейер; 5 сессий с инспекторами.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1C1D22"/>
                </a:solidFill>
              </a:rPr>
              <a:t>Недели 7–8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Акт: P/R/F1, FPR с 95% CI по порогам ТЗ; обмен с РиН, УКЭП.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rgbClr val="FFFFFF"/>
                </a:solidFill>
              </a:rPr>
              <a:t>ПИЛОТ: 8 НЕДЕЛЬ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79729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b="1" sz="1800">
                <a:solidFill>
                  <a:srgbClr val="2D1451"/>
                </a:solidFill>
              </a:rPr>
              <a:t>Пилот удался, если: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/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нижняя граница 95% CI по критическим параметрам ≥ 0,80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FPR ≤ 0,10 с учётом устаревших редакций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протокол ≤ 30 минут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>
                <a:solidFill>
                  <a:srgbClr val="1C1D22"/>
                </a:solidFill>
              </a:rPr>
              <a:t>· ни одного статуса, поставленного моделью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Комплекты ПД/РД/ИД по 3–5 объектам (с согласием на обработку)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Два инспектора для разметки и юзабилити-сессий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Контракт обмена с ИАИС «РиН» и тестовый контур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Размеченные NEGATIVE_VERIFIED: без них FPR не измерим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Регламент приёмки и приоритетные параметры первого релиза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23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5431536" cy="376138"/>
          </a:xfrm>
        </p:spPr>
        <p:txBody>
          <a:bodyPr/>
          <a:lstStyle/>
          <a:p>
            <a:pPr>
              <a:defRPr/>
            </a:pPr>
            <a:r>
              <a:rPr>
                <a:solidFill/>
              </a:rPr>
              <a:t>ЧТО НУЖНО ОТ КОМИТЕТА</a:t>
            </a:r>
            <a:endParaRPr lang="ru-RU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>
                <a:solidFill>
                  <a:srgbClr val="FFFFFF"/>
                </a:solidFill>
              </a:rPr>
              <a:t>СПАСИБО!</a:t>
            </a:r>
            <a:endParaRPr lang="ru-RU" sz="4800"/>
          </a:p>
        </p:txBody>
      </p:sp>
      <p:pic>
        <p:nvPicPr>
          <p:cNvPr id="1636791008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1512348" y="329184"/>
            <a:ext cx="2772599" cy="1078992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>
                <a:solidFill/>
              </a:rPr>
              <a:t>Команда «Контур» · Дмитрий Коньков +7 915 452-88-64 · konkov-dmitrij@yandex.ru · Елена Конькова konkovaelena@yandex.ru · github.com/KonkovDV/Kontur</a:t>
            </a:r>
            <a:endParaRPr lang="ru-RU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2026-09-16T13:19:25Z</dcterms:modified>
</cp:coreProperties>
</file>