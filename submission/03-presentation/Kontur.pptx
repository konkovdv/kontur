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62" r:id="rId2"/>
    <p:sldId id="263" r:id="rId3"/>
    <p:sldId id="264" r:id="rId4"/>
    <p:sldId id="265" r:id="rId5"/>
    <p:sldId id="279" r:id="rId6"/>
    <p:sldId id="278" r:id="rId7"/>
    <p:sldId id="268" r:id="rId8"/>
    <p:sldId id="266" r:id="rId9"/>
    <p:sldId id="299" r:id="rId10"/>
    <p:sldId id="275" r:id="rId11"/>
    <p:sldId id="305" r:id="rId12"/>
    <p:sldId id="271" r:id="rId13"/>
    <p:sldId id="280" r:id="rId14"/>
    <p:sldId id="277" r:id="rId15"/>
    <p:sldId id="276" r:id="rId16"/>
    <p:sldId id="273" r:id="rId17"/>
    <p:sldId id="272" r:id="rId18"/>
    <p:sldId id="267" r:id="rId19"/>
    <p:sldId id="296" r:id="rId20"/>
    <p:sldId id="297" r:id="rId21"/>
    <p:sldId id="298" r:id="rId22"/>
    <p:sldId id="270" r:id="rId23"/>
    <p:sldId id="293" r:id="rId24"/>
    <p:sldId id="294" r:id="rId25"/>
    <p:sldId id="295" r:id="rId26"/>
    <p:sldId id="300" r:id="rId27"/>
    <p:sldId id="301" r:id="rId28"/>
    <p:sldId id="302" r:id="rId29"/>
    <p:sldId id="303" r:id="rId30"/>
    <p:sldId id="304" r:id="rId31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Дистанционные проверки застройщиков (214-ФЗ), I пол. 2026, %</c:v>
                </c:pt>
              </c:strCache>
            </c:strRef>
          </c:tx>
          <c:spPr>
            <a:ln w="63500"/>
          </c:spPr>
          <c:dPt>
            <c:idx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1F0-44BF-B988-F3E0B900CF33}"/>
              </c:ext>
            </c:extLst>
          </c:dPt>
          <c:dPt>
            <c:idx val="1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1F0-44BF-B988-F3E0B900CF33}"/>
              </c:ext>
            </c:extLst>
          </c:dPt>
          <c:dPt>
            <c:idx val="2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1F0-44BF-B988-F3E0B900CF33}"/>
              </c:ext>
            </c:extLst>
          </c:dPt>
          <c:dPt>
            <c:idx val="3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1F0-44BF-B988-F3E0B900CF33}"/>
              </c:ext>
            </c:extLst>
          </c:dPt>
          <c:cat>
            <c:strRef>
              <c:f>Sheet1!$A$2:$A$3</c:f>
              <c:strCache>
                <c:ptCount val="2"/>
                <c:pt idx="0">
                  <c:v>Без нарушений</c:v>
                </c:pt>
                <c:pt idx="1">
                  <c:v>С нарушениями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</c:v>
                </c:pt>
                <c:pt idx="1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1F0-44BF-B988-F3E0B900CF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8"/>
      </c:doughnutChart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625096" y="1360288"/>
      <a:ext cx="5125748" cy="4385667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499999999999"/>
          <c:w val="0.86424199999999995"/>
          <c:h val="0.6674710000000000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Порог ТЗ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F46-4DDC-B296-51EEED63EE6F}"/>
              </c:ext>
            </c:extLst>
          </c:dPt>
          <c:dPt>
            <c:idx val="1"/>
            <c:invertIfNegative val="0"/>
            <c:bubble3D val="0"/>
            <c:spPr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F46-4DDC-B296-51EEED63EE6F}"/>
              </c:ext>
            </c:extLst>
          </c:dPt>
          <c:dPt>
            <c:idx val="2"/>
            <c:invertIfNegative val="0"/>
            <c:bubble3D val="0"/>
            <c:spPr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F46-4DDC-B296-51EEED63EE6F}"/>
              </c:ext>
            </c:extLst>
          </c:dPt>
          <c:dPt>
            <c:idx val="3"/>
            <c:invertIfNegative val="0"/>
            <c:bubble3D val="0"/>
            <c:spPr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F46-4DDC-B296-51EEED63EE6F}"/>
              </c:ext>
            </c:extLst>
          </c:dPt>
          <c:cat>
            <c:strRef>
              <c:f>Sheet1!$A$2:$A$10</c:f>
              <c:strCache>
                <c:ptCount val="9"/>
                <c:pt idx="0">
                  <c:v>FPR ≤</c:v>
                </c:pt>
                <c:pt idx="1">
                  <c:v>F1</c:v>
                </c:pt>
                <c:pt idx="2">
                  <c:v>R</c:v>
                </c:pt>
                <c:pt idx="3">
                  <c:v>P</c:v>
                </c:pt>
                <c:pt idx="4">
                  <c:v>IoU</c:v>
                </c:pt>
                <c:pt idx="5">
                  <c:v>Локализация</c:v>
                </c:pt>
                <c:pt idx="6">
                  <c:v>Связка</c:v>
                </c:pt>
                <c:pt idx="7">
                  <c:v>EM</c:v>
                </c:pt>
                <c:pt idx="8">
                  <c:v>CA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</c:v>
                </c:pt>
                <c:pt idx="1">
                  <c:v>0.85</c:v>
                </c:pt>
                <c:pt idx="2">
                  <c:v>0.8</c:v>
                </c:pt>
                <c:pt idx="3">
                  <c:v>0.9</c:v>
                </c:pt>
                <c:pt idx="4">
                  <c:v>0.5</c:v>
                </c:pt>
                <c:pt idx="5">
                  <c:v>0.95</c:v>
                </c:pt>
                <c:pt idx="6">
                  <c:v>0.95</c:v>
                </c:pt>
                <c:pt idx="7">
                  <c:v>0.9</c:v>
                </c:pt>
                <c:pt idx="8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F46-4DDC-B296-51EEED63EE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baseline="0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 sz="1200">
          <a:solidFill>
            <a:srgbClr val="1C1D22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7999999999998E-2"/>
          <c:y val="0.12693499999999999"/>
          <c:w val="0.92608599999999996"/>
          <c:h val="0.6674710000000000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Параметры</c:v>
                </c:pt>
              </c:strCache>
            </c:strRef>
          </c:tx>
          <c:spPr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В матрице ТЗ</c:v>
                </c:pt>
                <c:pt idx="1">
                  <c:v>Правила как данные</c:v>
                </c:pt>
                <c:pt idx="2">
                  <c:v>С рабочим экстрактором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132</c:v>
                </c:pt>
                <c:pt idx="1">
                  <c:v>132</c:v>
                </c:pt>
                <c:pt idx="2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24-467F-94ED-3B9B5F9F8F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20"/>
      </c:valAx>
      <c:spPr>
        <a:prstGeom prst="rect">
          <a:avLst/>
        </a:prstGeom>
        <a:noFill/>
        <a:ln w="25400">
          <a:noFill/>
        </a:ln>
        <a:effectLst/>
      </c:spPr>
    </c:plotArea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 sz="1200">
          <a:solidFill>
            <a:srgbClr val="FFFFFF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BE8A63-6423-9D1A-6C53-0FD2972D0E47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Цитата — устная реплика на сессии вопросов и ответов 16.09.2026. Письменные ответы организатора — docs/ORGANIZER_ANSWERS_2026_09_26.md. Последняя фраза — по описанию задачи на mos.ru (mos.ru/news/item/173576073): «карта потенциальных нарушений» перед выездом.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6433E8-611F-BD03-8F63-CEE1C3799AAE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C2024A-A9FC-D896-80FF-52C5C7D0B8F6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Экран инспектора на учебном комплекте OBJ-DEMO-COLD-START. Показать: очередь кандидатов → карточка PZ-001 (площадь застройки) → ПД-эталон и РД рядом с контуром на листе → решение инспектора.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D2C792-5871-848D-AF35-371AFE72CB4F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6C42D-DEF1-692D-EB23-56912B18EA73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8989F1-D0BC-C9C6-34DF-3DCD13FDA7B1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F06EBC-152B-39B7-84F3-BD9F4D07ECD0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899ED4-F20B-0701-D13A-3B951D3B50DF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EDA9EC-F428-112D-3923-9BEBB546110F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0654A-DB5D-4FA2-BFBA-DA32D08A6797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>
                <a:solidFill>
                  <a:srgbClr val="FFFFFF"/>
                </a:solidFill>
              </a:rPr>
              <a:t>КОМАНДА «КОНТУР»</a:t>
            </a:r>
            <a:endParaRPr lang="ru-RU" sz="4800"/>
          </a:p>
        </p:txBody>
      </p:sp>
      <p:pic>
        <p:nvPicPr>
          <p:cNvPr id="1636791008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>
            <a:fillRect/>
          </a:stretch>
        </p:blipFill>
        <p:spPr>
          <a:xfrm>
            <a:off x="1512348" y="329184"/>
            <a:ext cx="2772599" cy="1078992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356616" y="5659501"/>
            <a:ext cx="8574025" cy="757174"/>
          </a:xfrm>
        </p:spPr>
        <p:txBody>
          <a:bodyPr anchor="ctr">
            <a:normAutofit lnSpcReduction="10000"/>
          </a:bodyPr>
          <a:lstStyle/>
          <a:p>
            <a:pPr indent="268288">
              <a:defRPr/>
            </a:pPr>
            <a:r>
              <a:rPr dirty="0" err="1">
                <a:solidFill>
                  <a:srgbClr val="FFFFFF"/>
                </a:solidFill>
              </a:rPr>
              <a:t>Задача</a:t>
            </a:r>
            <a:r>
              <a:rPr dirty="0">
                <a:solidFill>
                  <a:srgbClr val="FFFFFF"/>
                </a:solidFill>
              </a:rPr>
              <a:t> №10 · </a:t>
            </a:r>
            <a:r>
              <a:rPr dirty="0" err="1">
                <a:solidFill>
                  <a:srgbClr val="FFFFFF"/>
                </a:solidFill>
              </a:rPr>
              <a:t>Мосгосстройнадзор</a:t>
            </a:r>
            <a:r>
              <a:rPr dirty="0">
                <a:solidFill>
                  <a:srgbClr val="FFFFFF"/>
                </a:solidFill>
              </a:rPr>
              <a:t>. ИИ-</a:t>
            </a:r>
            <a:r>
              <a:rPr dirty="0" err="1">
                <a:solidFill>
                  <a:srgbClr val="FFFFFF"/>
                </a:solidFill>
              </a:rPr>
              <a:t>сервис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выявления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отклонений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от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проектной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документации</a:t>
            </a:r>
            <a:r>
              <a:rPr dirty="0">
                <a:solidFill>
                  <a:srgbClr val="FFFFFF"/>
                </a:solidFill>
              </a:rPr>
              <a:t>: </a:t>
            </a:r>
            <a:r>
              <a:rPr dirty="0" err="1">
                <a:solidFill>
                  <a:srgbClr val="FFFFFF"/>
                </a:solidFill>
              </a:rPr>
              <a:t>доказательная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сверка</a:t>
            </a:r>
            <a:r>
              <a:rPr dirty="0">
                <a:solidFill>
                  <a:srgbClr val="FFFFFF"/>
                </a:solidFill>
              </a:rPr>
              <a:t> ПД · РД · ИД</a:t>
            </a:r>
            <a:endParaRPr lang="ru-RU" dirty="0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4731F55-12EC-0470-3D1E-080D75B2975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0" r="6560"/>
          <a:stretch>
            <a:fillRect/>
          </a:stretch>
        </p:blipFill>
        <p:spPr bwMode="auto">
          <a:xfrm>
            <a:off x="0" y="334963"/>
            <a:ext cx="6456363" cy="2971800"/>
          </a:xfrm>
          <a:prstGeom prst="rect">
            <a:avLst/>
          </a:prstGeom>
        </p:spPr>
      </p:pic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Нарушение ставит только инспектор: код сравнивает, человек решает. Каждая находка привязана к листу, координатам и хешу файла. Нет доказательства: система говорит, какой документ запросить.</a:t>
            </a:r>
            <a:endParaRPr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Коньков Дмитрий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2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Контур: репозиторий с 16.09.2026, 527 коммитов в main, 236 pull request’ов (162 влито); main меняется только через PR и 11 обязательных проверок CI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Опыт AeroBIM: 1106 коммитов с апреля 2026; участник программы «Техлаб Москва»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 Москва</a:t>
            </a:r>
            <a:endParaRPr dirty="0"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КОМАНДА «КОНТУР»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Сверяет ПД, РД и ИД по 132 параметрам матрицы ТЗ: находит значение на листе, сравнивает с утверждённой ПД и показывает инспектору расхождение с доказательством.</a:t>
            </a:r>
            <a:endParaRPr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>
                <a:solidFill>
                  <a:srgbClr val="FF0053"/>
                </a:solidFill>
              </a:rPr>
              <a:t>2</a:t>
            </a:r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628156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645384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dirty="0">
                <a:solidFill>
                  <a:schemeClr val="tx1"/>
                </a:solidFill>
              </a:rPr>
              <a:t>Системный инженер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dirty="0">
                <a:solidFill>
                  <a:schemeClr val="tx1"/>
                </a:solidFill>
              </a:rPr>
              <a:t>Метрики, сборка, приёмка</a:t>
            </a:r>
            <a:endParaRPr dirty="0"/>
          </a:p>
          <a:p>
            <a:pPr marL="0" indent="0">
              <a:spcBef>
                <a:spcPts val="0"/>
              </a:spcBef>
              <a:buNone/>
              <a:defRPr/>
            </a:pP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259743807" name="Текст 8"/>
          <p:cNvSpPr txBox="1"/>
          <p:nvPr/>
        </p:nvSpPr>
        <p:spPr bwMode="auto">
          <a:xfrm>
            <a:off x="645384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Елена Конькова</a:t>
            </a:r>
            <a:endParaRPr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97624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3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37BCACC-CB89-8CF7-1C2E-CB5B7B34336E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31" b="4931"/>
          <a:stretch>
            <a:fillRect/>
          </a:stretch>
        </p:blipFill>
        <p:spPr bwMode="auto">
          <a:xfrm>
            <a:off x="4211193" y="1816100"/>
            <a:ext cx="1722438" cy="15525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8469C58-A140-2964-8ED2-F0F73BF3C0FA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3" b="5253"/>
          <a:stretch>
            <a:fillRect/>
          </a:stretch>
        </p:blipFill>
        <p:spPr bwMode="auto">
          <a:xfrm>
            <a:off x="6516243" y="1827213"/>
            <a:ext cx="1722438" cy="1541462"/>
          </a:xfrm>
          <a:prstGeom prst="rect">
            <a:avLst/>
          </a:prstGeom>
        </p:spPr>
      </p:pic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КОМАНДА «КОНТУР»</a:t>
            </a:r>
            <a:endParaRPr lang="ru-RU">
              <a:latin typeface="Montserrat"/>
            </a:endParaRP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4148528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 dirty="0">
                <a:solidFill>
                  <a:schemeClr val="tx1"/>
                </a:solidFill>
              </a:rPr>
              <a:t>Капитан команды</a:t>
            </a:r>
            <a:endParaRPr dirty="0"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 dirty="0">
                <a:solidFill>
                  <a:schemeClr val="tx1"/>
                </a:solidFill>
              </a:rPr>
              <a:t>Архитектура, движок правил, OCR</a:t>
            </a:r>
            <a:endParaRPr dirty="0"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414852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Дмитрий Коньков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ИСТОРИЯ КОМАНДЫ</a:t>
            </a:r>
            <a:endParaRPr lang="ru-RU">
              <a:latin typeface="Montserrat"/>
            </a:endParaRP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 апреля 2026 строим AeroBIM (1106 коммитов, «Техлаб Москва»). С 16.09 Контур: 527 коммитов и 236 PR за две недели, 11 обязательных проверок CI и Red Team в открытом репозитории.</a:t>
            </a:r>
            <a:endParaRPr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Сканы и штампы поверх текста, пустые шифры в штампах, несколько редакций одного тома, разные названия одного параметра. Ответ: векторный текст PDF + два независимых OCR, выбор редакции по шифру, контролируемый отказ вместо догадки.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Сотни листов трёх стадий по 132 параметрам сверяются вручную. Заказчик: «ПД для нас истина и эталон». Рутину отдаём машине, решение остаётся за человеком.</a:t>
            </a:r>
            <a:endParaRPr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183568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9524664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66709802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86554" name="Скругленный прямоугольник 1"/>
          <p:cNvSpPr/>
          <p:nvPr/>
        </p:nvSpPr>
        <p:spPr bwMode="auto">
          <a:xfrm>
            <a:off x="346075" y="324562"/>
            <a:ext cx="450799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17109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56749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5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30935763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ПРОБЛЕМА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Инспектор вручную сверяет десятки томов ПД, РД и ИД разных редакций, часть листов — сканы. Ошибка двойная: пропустить отклонение или принять неполный комплект за нарушение.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21543870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АЛЬТЕРНАТИВЫ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Ручная сверка медленная и невоспроизводимая. Облачный LLM-чат запрещён условиями (ответ 23), а вывод без ссылки на лист для надзора непригоден.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09396534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НАШЕ РЕШЕНИЕ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Находим значение на листе, сравниваем с утверждённой ПД кодом, решение за инспектором. Нет доказательства: запрос документа, а не догадка.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40055161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3133576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749588672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197120625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221184223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142232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ПРОБЛЕМА И РЕШЕНИЕ</a:t>
            </a:r>
            <a:endParaRPr lang="ru-RU"/>
          </a:p>
        </p:txBody>
      </p:sp>
      <p:cxnSp>
        <p:nvCxnSpPr>
          <p:cNvPr id="1633715086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775559" name="Скругленный прямоугольник 1"/>
          <p:cNvSpPr/>
          <p:nvPr/>
        </p:nvSpPr>
        <p:spPr bwMode="auto">
          <a:xfrm>
            <a:off x="346075" y="324562"/>
            <a:ext cx="429310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66160549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6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318130621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6 500+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878405022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739825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бесконтактных проверок застройщиков в 2025 году (долевое строительство, 214-ФЗ): документы и фото в ИС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449523253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92 %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458881947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08386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из 2 798 дистанционных проверок застройщиков в I пол. 2026 — без отступлений от требований: нужен фильтр, куда смотреть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28887783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132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226906187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276947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параметра сверки ПД · РД · ИД на каждый объект по матрице ТЗ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828808947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≤ 30 мин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26994727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545509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цель ТЗ: от готового комплекта до протокола, ≤ 3 действия на решение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2109608534" name="Диаграмма 11"/>
          <p:cNvGraphicFramePr>
            <a:graphicFrameLocks/>
          </p:cNvGraphicFramePr>
          <p:nvPr/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270958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927347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ПРОБЛЕМА В ЦИФРАХ</a:t>
            </a:r>
            <a:endParaRPr lang="ru-RU"/>
          </a:p>
        </p:txBody>
      </p:sp>
      <p:sp>
        <p:nvSpPr>
          <p:cNvPr id="2109608535" name="TextBox 2109608534"/>
          <p:cNvSpPr txBox="1"/>
          <p:nvPr/>
        </p:nvSpPr>
        <p:spPr>
          <a:xfrm>
            <a:off x="2237970" y="3103121"/>
            <a:ext cx="1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0053"/>
                </a:solidFill>
                <a:latin typeface="Montserrat"/>
              </a:rPr>
              <a:t>92 %</a:t>
            </a:r>
          </a:p>
          <a:p>
            <a:pPr algn="ctr"/>
            <a:r>
              <a:rPr sz="1200">
                <a:solidFill>
                  <a:srgbClr val="1C1D22"/>
                </a:solidFill>
                <a:latin typeface="Montserrat"/>
              </a:rPr>
              <a:t>без нарушений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72641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3392376" name="Объект 2"/>
          <p:cNvSpPr>
            <a:spLocks noGrp="1"/>
          </p:cNvSpPr>
          <p:nvPr>
            <p:ph idx="1"/>
          </p:nvPr>
        </p:nvSpPr>
        <p:spPr bwMode="auto">
          <a:xfrm>
            <a:off x="623888" y="1556279"/>
            <a:ext cx="10789619" cy="3745441"/>
          </a:xfrm>
        </p:spPr>
        <p:txBody>
          <a:bodyPr/>
          <a:lstStyle/>
          <a:p>
            <a:pPr>
              <a:spcAft>
                <a:spcPts val="500"/>
              </a:spcAft>
              <a:defRPr/>
            </a:pPr>
            <a:r>
              <a:rPr sz="2600" b="1">
                <a:solidFill>
                  <a:srgbClr val="2D1451"/>
                </a:solidFill>
              </a:rPr>
              <a:t>«ПД для нас истина и эталон, тем более она проходит экспертизу»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 sz="1600">
                <a:solidFill>
                  <a:srgbClr val="4B5563"/>
                </a:solidFill>
              </a:rPr>
              <a:t>Устная реплика на сессии вопросов и ответов, 16.09.2026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 sz="1800">
                <a:solidFill>
                  <a:srgbClr val="1C1D22"/>
                </a:solidFill>
              </a:rPr>
              <a:t>Что из этого следует (ответы организатора 26.09): эталон — последняя утверждённая ПД (№11–12); разные значения не схлопываются, а собираются в доказательную группу; неясность — запрос уточнения; сервис не подменяет экспертизу (№19); облачные LLM и OCR запрещены (№23). Цель заказчика: инспектор выезжает на объект, уже зная, какие узлы проверять первыми.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42999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7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817660197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ГОЛОС ЗАКАЗЧИКА</a:t>
            </a:r>
            <a:endParaRPr lang="ru-RU" sz="36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8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Сверка ПД ↔ РД ↔ ИД по 132 параметрам матрицы ТЗ: документы между собой, а не проект против норм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Эталон: последняя утверждённая редакция ПД; спорная редакция → запрос уточнения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Векторный текст PDF первичен; сканы: PP-OCRv5 + Tesseract 5.5, чтения расходятся → отказ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Вердикт сравнения пишет детерминированный код (12 операторов), не нейросеть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Python · FastAPI · React+TS · PostgreSQL · Redis · RabbitMQ · MinIO · OpenAPI 3.0/3.1</a:t>
            </a:r>
            <a:endParaRPr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Инспектор едет на объект с картой расхождений, а не с папкой томов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Одно окно: ПД, РД и ИД рядом, расхождение подсвечено на листе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≤ 3 действия на решение: открыть → решить с причиной → сохранить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Протокол JSON, DOCX, XML и PDF из одного решения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Нарушение ставит только инспектор; офлайн на CPU, без облаков</a:t>
            </a:r>
            <a:endParaRPr/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FFFFFF"/>
                </a:solidFill>
              </a:rPr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9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Учебный комплект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Синтетические ПД, РД, ИД; две редакции ПД → «требуется уточнение»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Эталон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Инспектор назначает эталон → 3 кандидата: 1250,5→1100 м², B30→B25, 1,2→0,8 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Прогон и статус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Разбор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связка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сравнение</a:t>
            </a:r>
            <a:r>
              <a:rPr dirty="0">
                <a:solidFill>
                  <a:srgbClr val="FFFFFF"/>
                </a:solidFill>
              </a:rPr>
              <a:t>: </a:t>
            </a:r>
            <a:r>
              <a:rPr dirty="0" err="1">
                <a:solidFill>
                  <a:srgbClr val="FFFFFF"/>
                </a:solidFill>
              </a:rPr>
              <a:t>время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по</a:t>
            </a:r>
            <a:r>
              <a:rPr dirty="0">
                <a:solidFill>
                  <a:srgbClr val="FFFFFF"/>
                </a:solidFill>
              </a:rPr>
              <a:t> 4 </a:t>
            </a:r>
            <a:r>
              <a:rPr dirty="0" err="1">
                <a:solidFill>
                  <a:srgbClr val="FFFFFF"/>
                </a:solidFill>
              </a:rPr>
              <a:t>фазам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экране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статуса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Карточка кандидата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Панели</a:t>
            </a:r>
            <a:r>
              <a:rPr dirty="0">
                <a:solidFill>
                  <a:srgbClr val="FFFFFF"/>
                </a:solidFill>
              </a:rPr>
              <a:t> ПД/РД/ИД, </a:t>
            </a:r>
            <a:r>
              <a:rPr dirty="0" err="1">
                <a:solidFill>
                  <a:srgbClr val="FFFFFF"/>
                </a:solidFill>
              </a:rPr>
              <a:t>ожидаемое</a:t>
            </a:r>
            <a:r>
              <a:rPr dirty="0">
                <a:solidFill>
                  <a:srgbClr val="FFFFFF"/>
                </a:solidFill>
              </a:rPr>
              <a:t> и </a:t>
            </a:r>
            <a:r>
              <a:rPr dirty="0" err="1">
                <a:solidFill>
                  <a:srgbClr val="FFFFFF"/>
                </a:solidFill>
              </a:rPr>
              <a:t>фактическое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подсветка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листе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Решение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Подтвердить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или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отклонить</a:t>
            </a:r>
            <a:r>
              <a:rPr dirty="0">
                <a:solidFill>
                  <a:srgbClr val="FFFFFF"/>
                </a:solidFill>
              </a:rPr>
              <a:t> с </a:t>
            </a:r>
            <a:r>
              <a:rPr dirty="0" err="1">
                <a:solidFill>
                  <a:srgbClr val="FFFFFF"/>
                </a:solidFill>
              </a:rPr>
              <a:t>причиной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Протокол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>
                <a:solidFill>
                  <a:srgbClr val="FFFFFF"/>
                </a:solidFill>
              </a:rPr>
              <a:t>4 формата, финализация, передача в тестовую очередь РиН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СЦЕНАРИЙ ЖИВОГО ДЕМО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sz="1800" b="1">
                <a:solidFill>
                  <a:srgbClr val="2D1451"/>
                </a:solidFill>
              </a:rPr>
              <a:t>Одно окно инспектора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sz="1800" b="1">
                <a:solidFill>
                  <a:srgbClr val="2D1451"/>
                </a:solidFill>
              </a:rPr>
              <a:t>Очередь кандидатов → карточка с панелями ПД, РД, ИД → решение. Без переключения между PDF и поиска по папкам.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sz="1800" b="1">
                <a:solidFill>
                  <a:srgbClr val="2D1451"/>
                </a:solidFill>
              </a:rPr>
              <a:t>Статус «нарушение подтверждено» ставит только человек.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≤ 3 действий: открыть, решить с причиной, сохранить (ответ 28)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Карточка: номер находки, ожидаемое / фактическое / разница, файл и SHA-256, лист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Полигон расхождения прямо на листе исходника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Нет документа — не нарушение, а запрос документа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Пакетное решение по отмеченным кандидатам: протокол под цель ТЗ ≤ 30 мин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РАБОЧЕЕ МЕСТО ИНСПЕКТОРА</a:t>
            </a:r>
            <a:endParaRPr lang="ru-R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01D2944-94F2-4CF5-3ABC-F799CEC2B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2985" y="1366423"/>
            <a:ext cx="6042940" cy="4834352"/>
          </a:xfrm>
          <a:prstGeom prst="rect">
            <a:avLst/>
          </a:prstGeom>
        </p:spPr>
      </p:pic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ДЕМО: ЭКРАН ИНСПЕКТОРА</a:t>
            </a:r>
            <a:endParaRPr lang="ru-RU"/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346075" y="1366423"/>
            <a:ext cx="4900000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567061" y="1445505"/>
            <a:ext cx="4455177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Учебный комплект одной кнопкой: объект готов к камеральной проверке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346075" y="2377094"/>
            <a:ext cx="4900000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567061" y="2472872"/>
            <a:ext cx="4455177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Очередь кандидатов по матрице 132 параметров со статусом каждой находки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346075" y="3387765"/>
            <a:ext cx="4900000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567061" y="3485922"/>
            <a:ext cx="4455177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ПД-эталон и РД рядом: лист, страница и контур расхождения на чертеже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346075" y="4398436"/>
            <a:ext cx="4900000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567061" y="4496593"/>
            <a:ext cx="4455177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Правило допуска, фактическое отклонение и ID доказательной группы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346075" y="5409107"/>
            <a:ext cx="4900000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567061" y="5516924"/>
            <a:ext cx="4455177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Решение присваивает только инспектор: подтвердить или отклонить с причиной</a:t>
            </a:r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2007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08184" name="Скругленный прямоугольник 9"/>
          <p:cNvSpPr/>
          <p:nvPr/>
        </p:nvSpPr>
        <p:spPr bwMode="auto">
          <a:xfrm>
            <a:off x="346075" y="324562"/>
            <a:ext cx="515264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71126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2155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64311504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1444935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1328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12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72835697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Актуальная редакция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023033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Последняя редакция по шифру; «не утв.» не эталон; две равные редакции — запрос уточнения.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64861697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Извлечение с доказательством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4068252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Значение сохраняется только с листом, координатами и хешем SHA-256 файла.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902350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Атомарное правило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110492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Код правила сравнивает значение с эталоном ПД. Нейросеть вердикт не пишет.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125539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Решение инспектора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2557127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Ядро предлагает, инспектор подтверждает. Нарушение ставит только человек.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614650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78688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ДОКАЗАТЕЛЬНАЯ ЦЕПОЧКА</a:t>
            </a:r>
            <a:endParaRPr lang="ru-RU"/>
          </a:p>
        </p:txBody>
      </p:sp>
      <p:sp>
        <p:nvSpPr>
          <p:cNvPr id="5536335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0963300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327124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63559711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71956" name="Скругленный прямоугольник 11"/>
          <p:cNvSpPr/>
          <p:nvPr/>
        </p:nvSpPr>
        <p:spPr bwMode="auto">
          <a:xfrm>
            <a:off x="346075" y="324562"/>
            <a:ext cx="472287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098000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13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4579112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Вход и паспорт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5425605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PDF и DOCX; паспорт и SHA-256 каждого файла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67808411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Извлечение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063055699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Векторный текст + OCR в 2 чтения; лист, полигон, SHA-256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0135430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Протокол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21846474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Решает инспектор; протокол в 4 форматах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704065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Связка и эталон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852980671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Голова редакции по шифру; ПД — эталон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8284361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Компаратор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837104852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12 операторов: допуск, округление, классы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731368653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670215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144373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664500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5829465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336023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998851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937511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810320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75127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>
                  <a:srgbClr val="FF0053"/>
                </a:solidFill>
              </a:rPr>
              <a:t>1</a:t>
            </a:r>
            <a:endParaRPr/>
          </a:p>
        </p:txBody>
      </p:sp>
      <p:sp>
        <p:nvSpPr>
          <p:cNvPr id="812859897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>
                  <a:srgbClr val="FF0053"/>
                </a:solidFill>
              </a:rPr>
              <a:t>2</a:t>
            </a:r>
            <a:endParaRPr/>
          </a:p>
        </p:txBody>
      </p:sp>
      <p:sp>
        <p:nvSpPr>
          <p:cNvPr id="108934526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>
                  <a:srgbClr val="FF0053"/>
                </a:solidFill>
              </a:rPr>
              <a:t>3</a:t>
            </a:r>
            <a:endParaRPr/>
          </a:p>
        </p:txBody>
      </p:sp>
      <p:sp>
        <p:nvSpPr>
          <p:cNvPr id="1741896490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>
                  <a:srgbClr val="FF0053"/>
                </a:solidFill>
              </a:rPr>
              <a:t>4</a:t>
            </a:r>
            <a:endParaRPr/>
          </a:p>
        </p:txBody>
      </p:sp>
      <p:sp>
        <p:nvSpPr>
          <p:cNvPr id="1007682587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>
                  <a:srgbClr val="FF0053"/>
                </a:solidFill>
              </a:rPr>
              <a:t>5</a:t>
            </a:r>
            <a:endParaRPr/>
          </a:p>
        </p:txBody>
      </p:sp>
      <p:sp>
        <p:nvSpPr>
          <p:cNvPr id="14754928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357116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АРХИТЕКТУРА РЕШЕНИЯ</a:t>
            </a:r>
            <a:endParaRPr lang="ru-RU"/>
          </a:p>
        </p:txBody>
      </p:sp>
      <p:sp>
        <p:nvSpPr>
          <p:cNvPr id="1473606708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586179979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2105368717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293685711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624313899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9859336" name="Скругленный прямоугольник 1"/>
          <p:cNvSpPr/>
          <p:nvPr/>
        </p:nvSpPr>
        <p:spPr bwMode="auto">
          <a:xfrm>
            <a:off x="346075" y="324562"/>
            <a:ext cx="53675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06422193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27317630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9 порогов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66575944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минимумов раздела 14: CA, EM, связка, локализация, IoU, P, R, F1, FPR. Под них собран наш контур оценки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1059579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F1 ≥ 0,85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25973680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учли заранее: P = 0,90 и R = 0,80 дают F1 = 0,847 &lt; 0,85, поэтому закладываем запас по recall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4938651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30 + 10 баллов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2297575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30 экспертиза + 10 питч (живое демо); при равенстве решают F1 и Recall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79708373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object_id + код + location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68925386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единица совпадения — атомарная точка object_id + код + location (ответ 14); доли с 95% CI Уилсона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26868884" name="Диаграмма 11"/>
          <p:cNvGraphicFramePr>
            <a:graphicFrameLocks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7779449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001768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КАК НАС БУДУТ ИЗМЕРЯТЬ</a:t>
            </a:r>
            <a:endParaRPr lang="ru-R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425051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50671869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9896725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05219055" name="Скругленный прямоугольник 1"/>
          <p:cNvSpPr/>
          <p:nvPr/>
        </p:nvSpPr>
        <p:spPr bwMode="auto">
          <a:xfrm>
            <a:off x="346075" y="324562"/>
            <a:ext cx="644194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06338296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15</a:t>
            </a:r>
            <a:endParaRPr lang="ru-RU"/>
          </a:p>
        </p:txBody>
      </p:sp>
      <p:sp>
        <p:nvSpPr>
          <p:cNvPr id="1233537166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55 из 132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474682657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правил с рабочим экстрактором сквозь всю цепочку; следующая волна — таблицы и графика по приоритету инспекторов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0241620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OCR: 5 935 строк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30928945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Основной путь — векторный текст PDF без OCR. Для сканов выбран PP-OCRv5 (CA 0,794 против 0,777); чтения расходятся → отказ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186484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18 мс p95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72379139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k6 /status: 100 VU, 60 с, 6 000 запросов, 0 ошибок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668511626" name="Диаграмма 9"/>
          <p:cNvGraphicFramePr>
            <a:graphicFrameLocks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81421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6076188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ГОТОВНОСТЬ В ЦИФРАХ, 28.09</a:t>
            </a:r>
            <a:endParaRPr lang="ru-R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16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Что в разметке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Помещение</a:t>
            </a:r>
            <a:r>
              <a:rPr dirty="0">
                <a:solidFill>
                  <a:srgbClr val="1C1D22"/>
                </a:solidFill>
              </a:rPr>
              <a:t> 140: </a:t>
            </a:r>
            <a:r>
              <a:rPr dirty="0" err="1">
                <a:solidFill>
                  <a:srgbClr val="1C1D22"/>
                </a:solidFill>
              </a:rPr>
              <a:t>вытяжка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есть</a:t>
            </a:r>
            <a:r>
              <a:rPr dirty="0">
                <a:solidFill>
                  <a:srgbClr val="1C1D22"/>
                </a:solidFill>
              </a:rPr>
              <a:t> в ПД (с. 88), в РД </a:t>
            </a:r>
            <a:r>
              <a:rPr dirty="0" err="1">
                <a:solidFill>
                  <a:srgbClr val="1C1D22"/>
                </a:solidFill>
              </a:rPr>
              <a:t>отсутствует</a:t>
            </a:r>
            <a:r>
              <a:rPr dirty="0">
                <a:solidFill>
                  <a:srgbClr val="1C1D22"/>
                </a:solidFill>
              </a:rPr>
              <a:t> (с. 18)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Что прочитано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>
                <a:solidFill>
                  <a:srgbClr val="1C1D22"/>
                </a:solidFill>
              </a:rPr>
              <a:t>46 томов ПД и 4 РД разобраны; пустой шифр в штампе у 50 файлов найден автоматически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Как повела себя система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Значение у якоря не найдено → «сравнение невозможно», а не выдуманное «нарушений нет»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Снятые стопоры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Пустой шифр, утверждение, SOLE_HEAD, якорь шифра: 4 стопора сняты за 5 прогонов 24–28.09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Почему это важно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>
                <a:solidFill>
                  <a:srgbClr val="1C1D22"/>
                </a:solidFill>
              </a:rPr>
              <a:t>Ложное нарушение бьёт по доверию к надзору: в очередь идут только проверяемые кандидаты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Следующий шаг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Экстрактор листов ОВ: добавляем якорь и число, повторяем прогон на той же разметке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РАЗБОР КЕЙСА: ТЮМЕНСКАЯ-5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12528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17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Работает сегодня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Стенд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одной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командой</a:t>
            </a:r>
            <a:r>
              <a:rPr dirty="0">
                <a:solidFill>
                  <a:srgbClr val="1C1D22"/>
                </a:solidFill>
              </a:rPr>
              <a:t>, </a:t>
            </a:r>
            <a:r>
              <a:rPr dirty="0" err="1">
                <a:solidFill>
                  <a:srgbClr val="1C1D22"/>
                </a:solidFill>
              </a:rPr>
              <a:t>учебный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комплект</a:t>
            </a:r>
            <a:r>
              <a:rPr dirty="0">
                <a:solidFill>
                  <a:srgbClr val="1C1D22"/>
                </a:solidFill>
              </a:rPr>
              <a:t>, </a:t>
            </a:r>
            <a:r>
              <a:rPr dirty="0" err="1">
                <a:solidFill>
                  <a:srgbClr val="1C1D22"/>
                </a:solidFill>
              </a:rPr>
              <a:t>карточка</a:t>
            </a:r>
            <a:r>
              <a:rPr dirty="0">
                <a:solidFill>
                  <a:srgbClr val="1C1D22"/>
                </a:solidFill>
              </a:rPr>
              <a:t> с </a:t>
            </a:r>
            <a:r>
              <a:rPr dirty="0" err="1">
                <a:solidFill>
                  <a:srgbClr val="1C1D22"/>
                </a:solidFill>
              </a:rPr>
              <a:t>полигоном</a:t>
            </a:r>
            <a:r>
              <a:rPr dirty="0">
                <a:solidFill>
                  <a:srgbClr val="1C1D22"/>
                </a:solidFill>
              </a:rPr>
              <a:t>, </a:t>
            </a:r>
            <a:r>
              <a:rPr dirty="0" err="1">
                <a:solidFill>
                  <a:srgbClr val="1C1D22"/>
                </a:solidFill>
              </a:rPr>
              <a:t>решение</a:t>
            </a:r>
            <a:r>
              <a:rPr dirty="0">
                <a:solidFill>
                  <a:srgbClr val="1C1D22"/>
                </a:solidFill>
              </a:rPr>
              <a:t> и </a:t>
            </a:r>
            <a:r>
              <a:rPr dirty="0" err="1">
                <a:solidFill>
                  <a:srgbClr val="1C1D22"/>
                </a:solidFill>
              </a:rPr>
              <a:t>пачка</a:t>
            </a:r>
            <a:r>
              <a:rPr dirty="0">
                <a:solidFill>
                  <a:srgbClr val="1C1D22"/>
                </a:solidFill>
              </a:rPr>
              <a:t> CANDIDATE, </a:t>
            </a:r>
            <a:r>
              <a:rPr dirty="0" err="1">
                <a:solidFill>
                  <a:srgbClr val="1C1D22"/>
                </a:solidFill>
              </a:rPr>
              <a:t>протокол</a:t>
            </a:r>
            <a:r>
              <a:rPr dirty="0">
                <a:solidFill>
                  <a:srgbClr val="1C1D22"/>
                </a:solidFill>
              </a:rPr>
              <a:t> в 4 </a:t>
            </a:r>
            <a:r>
              <a:rPr dirty="0" err="1">
                <a:solidFill>
                  <a:srgbClr val="1C1D22"/>
                </a:solidFill>
              </a:rPr>
              <a:t>форматах</a:t>
            </a:r>
            <a:r>
              <a:rPr dirty="0">
                <a:solidFill>
                  <a:srgbClr val="1C1D22"/>
                </a:solidFill>
              </a:rPr>
              <a:t>, DOCX-</a:t>
            </a:r>
            <a:r>
              <a:rPr dirty="0" err="1">
                <a:solidFill>
                  <a:srgbClr val="1C1D22"/>
                </a:solidFill>
              </a:rPr>
              <a:t>таблицы</a:t>
            </a:r>
            <a:r>
              <a:rPr dirty="0">
                <a:solidFill>
                  <a:srgbClr val="1C1D22"/>
                </a:solidFill>
              </a:rPr>
              <a:t>, </a:t>
            </a:r>
            <a:r>
              <a:rPr dirty="0" err="1">
                <a:solidFill>
                  <a:srgbClr val="1C1D22"/>
                </a:solidFill>
              </a:rPr>
              <a:t>пакетный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прогон</a:t>
            </a:r>
            <a:r>
              <a:rPr dirty="0">
                <a:solidFill>
                  <a:srgbClr val="1C1D22"/>
                </a:solidFill>
              </a:rPr>
              <a:t> и </a:t>
            </a:r>
            <a:r>
              <a:rPr dirty="0" err="1">
                <a:solidFill>
                  <a:srgbClr val="1C1D22"/>
                </a:solidFill>
              </a:rPr>
              <a:t>счёт</a:t>
            </a:r>
            <a:r>
              <a:rPr dirty="0">
                <a:solidFill>
                  <a:srgbClr val="1C1D22"/>
                </a:solidFill>
              </a:rPr>
              <a:t> с 95% CI.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Следующий шаг: пилот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Замороженная выборка и 5 сессий с инспекторами; разбор XML и архивов в сервисе; боевой обмен с РиН, УКЭП и OIDC в контуре заказчика.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Защита от ложных нарушений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Не читается — «нет документа», «низкое качество» или «отказ»: инспектор не получает угаданный вердикт.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ЧТО УМЕЕМ СЕГОДНЯ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4751754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>
              <a:defRPr/>
            </a:pPr>
            <a:r>
              <a:rPr sz="1800" b="1">
                <a:solidFill>
                  <a:srgbClr val="2D1451"/>
                </a:solidFill>
              </a:rPr>
              <a:t>Проверка жюри из комплекта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  <a:latin typeface="Consolas"/>
              </a:rPr>
              <a:t>$ docker compose -f docker-compose.yml \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  <a:latin typeface="Consolas"/>
              </a:rPr>
              <a:t>  -f docker-compose.demo.yml up -d --build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  <a:latin typeface="Consolas"/>
              </a:rPr>
              <a:t>$ curl :3000/api/v1/healthz  → 200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  <a:latin typeface="Consolas"/>
              </a:rPr>
              <a:t>$ docker compose --profile runner run --rm package-runner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  <a:latin typeface="Consolas"/>
              </a:rPr>
              <a:t>$ python -m kontur.cli.score --submissions out/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defRPr/>
            </a:pPr>
            <a:r>
              <a:rPr sz="1200">
                <a:solidFill>
                  <a:srgbClr val="1C1D22"/>
                </a:solidFill>
              </a:rPr>
              <a:t>  → метрики с n и 95% CI Уилсона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Офлайн: docker-compose.offline.yml, веса OCR в vendor/ocr со сверкой SHA-256.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65220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18</a:t>
            </a:r>
            <a:endParaRPr lang="ru-RU"/>
          </a:p>
        </p:txBody>
      </p:sp>
      <p:sp>
        <p:nvSpPr>
          <p:cNvPr id="1029284307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ЗАКРЫТЫЙ КОНТУР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2065220023" name="TextBox 2065220022"/>
          <p:cNvSpPr txBox="1"/>
          <p:nvPr/>
        </p:nvSpPr>
        <p:spPr>
          <a:xfrm>
            <a:off x="6812280" y="1371600"/>
            <a:ext cx="4892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ontserrat"/>
              </a:rPr>
              <a:t>ЧТО ПОЛУЧАЕТ ЖЮРИ</a:t>
            </a:r>
          </a:p>
          <a:p>
            <a:endParaRPr sz="1500" b="1" i="0">
              <a:solidFill>
                <a:srgbClr val="FFFFFF"/>
              </a:solidFill>
              <a:latin typeface="Montserrat"/>
            </a:endParaRP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Compose, lock-файлы по хешам, healthcheck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package-runner: submission, protocol, manifest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Открытый API: OpenAPI 3.1 и 3.0 (contracts/)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Обмен с РиН: outbox и тестовая очередь</a:t>
            </a:r>
          </a:p>
          <a:p>
            <a:endParaRPr sz="1400" b="0" i="0">
              <a:solidFill>
                <a:srgbClr val="FFFFFF"/>
              </a:solidFill>
              <a:latin typeface="Montserrat"/>
            </a:endParaRPr>
          </a:p>
          <a:p>
            <a:r>
              <a:rPr sz="1500" b="1" i="0">
                <a:solidFill>
                  <a:srgbClr val="FFFFFF"/>
                </a:solidFill>
                <a:latin typeface="Montserrat"/>
              </a:rPr>
              <a:t>СТЕК</a:t>
            </a:r>
          </a:p>
          <a:p>
            <a:endParaRPr sz="1500" b="1" i="0">
              <a:solidFill>
                <a:srgbClr val="FFFFFF"/>
              </a:solidFill>
              <a:latin typeface="Montserrat"/>
            </a:endParaRP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Python · FastAPI · React+Vite+TS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PostgreSQL · Redis · RabbitMQ · MinIO · Node.js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Linux, только CPU. NVIDIA не нужна.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12528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19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1–2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Замороженная выборка: комплекты ПД/РД/ИД по 3–5 объектам, фиксация хешами.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3–6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Расширяем экстракторы по приоритетным параметрам, табличный и графический контур, скан-конвейер; 5 сессий с инспекторами.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7–8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1C1D22"/>
                </a:solidFill>
              </a:rPr>
              <a:t>Акт</a:t>
            </a:r>
            <a:r>
              <a:rPr dirty="0">
                <a:solidFill>
                  <a:srgbClr val="1C1D22"/>
                </a:solidFill>
              </a:rPr>
              <a:t>: P/R/F1, FPR с 95% CI </a:t>
            </a:r>
            <a:r>
              <a:rPr dirty="0" err="1">
                <a:solidFill>
                  <a:srgbClr val="1C1D22"/>
                </a:solidFill>
              </a:rPr>
              <a:t>по</a:t>
            </a:r>
            <a:r>
              <a:rPr dirty="0">
                <a:solidFill>
                  <a:srgbClr val="1C1D22"/>
                </a:solidFill>
              </a:rPr>
              <a:t> </a:t>
            </a:r>
            <a:r>
              <a:rPr dirty="0" err="1">
                <a:solidFill>
                  <a:srgbClr val="1C1D22"/>
                </a:solidFill>
              </a:rPr>
              <a:t>порогам</a:t>
            </a:r>
            <a:r>
              <a:rPr dirty="0">
                <a:solidFill>
                  <a:srgbClr val="1C1D22"/>
                </a:solidFill>
              </a:rPr>
              <a:t> ТЗ; </a:t>
            </a:r>
            <a:r>
              <a:rPr dirty="0" err="1">
                <a:solidFill>
                  <a:srgbClr val="1C1D22"/>
                </a:solidFill>
              </a:rPr>
              <a:t>обмен</a:t>
            </a:r>
            <a:r>
              <a:rPr dirty="0">
                <a:solidFill>
                  <a:srgbClr val="1C1D22"/>
                </a:solidFill>
              </a:rPr>
              <a:t> с </a:t>
            </a:r>
            <a:r>
              <a:rPr dirty="0" err="1">
                <a:solidFill>
                  <a:srgbClr val="1C1D22"/>
                </a:solidFill>
              </a:rPr>
              <a:t>РиН</a:t>
            </a:r>
            <a:r>
              <a:rPr dirty="0">
                <a:solidFill>
                  <a:srgbClr val="1C1D22"/>
                </a:solidFill>
              </a:rPr>
              <a:t>, УКЭП.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ПИЛОТ: 8 НЕДЕЛЬ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sz="1800" b="1">
                <a:solidFill>
                  <a:srgbClr val="2D1451"/>
                </a:solidFill>
              </a:rPr>
              <a:t>Пилот удался, если: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нижняя граница 95% CI по критическим параметрам ≥ 0,80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FPR ≤ 0,10 с учётом устаревших редакций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протокол ≤ 30 минут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ни одного статуса, поставленного моделью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Комплекты ПД/РД/ИД по 3–5 объектам (с согласием на обработку)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Два инспектора для разметки и юзабилити-сессий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Контракт обмена с ИАИС «РиН» и тестовый контур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Размеченные случаи «нарушения нет» для точного замера FPR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Регламент приёмки и приоритетные параметры первого релиза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20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ЧТО НУЖНО ОТ КОМИТЕТА</a:t>
            </a:r>
            <a:endParaRPr lang="ru-R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>
                <a:solidFill>
                  <a:srgbClr val="FFFFFF"/>
                </a:solidFill>
              </a:rPr>
              <a:t>СПАСИБО!</a:t>
            </a:r>
            <a:endParaRPr lang="ru-RU" sz="4800"/>
          </a:p>
        </p:txBody>
      </p:sp>
      <p:pic>
        <p:nvPicPr>
          <p:cNvPr id="1636791008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>
            <a:fillRect/>
          </a:stretch>
        </p:blipFill>
        <p:spPr>
          <a:xfrm>
            <a:off x="1512348" y="329184"/>
            <a:ext cx="2772599" cy="1078992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676656" y="5659501"/>
            <a:ext cx="8253985" cy="757174"/>
          </a:xfrm>
        </p:spPr>
        <p:txBody>
          <a:bodyPr anchor="ctr">
            <a:normAutofit lnSpcReduction="10000"/>
          </a:bodyPr>
          <a:lstStyle/>
          <a:p>
            <a:pPr indent="268288">
              <a:defRPr/>
            </a:pPr>
            <a:r>
              <a:rPr dirty="0" err="1">
                <a:solidFill>
                  <a:schemeClr val="bg1"/>
                </a:solidFill>
              </a:rPr>
              <a:t>Команда «Контур» · github.com/KonkovDV/Kontur</a:t>
            </a:r>
            <a:endParaRPr lang="ru-RU" dirty="0">
              <a:solidFill>
                <a:schemeClr val="bg1"/>
              </a:solidFill>
            </a:endParaRPr>
          </a:p>
          <a:p>
            <a:pPr indent="268288">
              <a:defRPr/>
            </a:pPr>
            <a:r>
              <a:rPr dirty="0" err="1">
                <a:solidFill>
                  <a:schemeClr val="bg1"/>
                </a:solidFill>
              </a:rPr>
              <a:t>Дмитрий Коньков · +7 915 452-88-64 · konkov-dmitrij@yandex.ru</a:t>
            </a:r>
            <a:endParaRPr lang="ru-RU" dirty="0">
              <a:solidFill>
                <a:schemeClr val="bg1"/>
              </a:solidFill>
            </a:endParaRPr>
          </a:p>
          <a:p>
            <a:pPr indent="268288">
              <a:defRPr/>
            </a:pPr>
            <a:r>
              <a:rPr dirty="0" err="1">
                <a:solidFill>
                  <a:schemeClr val="bg1"/>
                </a:solidFill>
              </a:rPr>
              <a:t>Елена Конькова · konkovaelena@yandex.ru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36791009" name="Rounded Rectangle 1636791008"/>
          <p:cNvSpPr/>
          <p:nvPr/>
        </p:nvSpPr>
        <p:spPr>
          <a:xfrm>
            <a:off x="9646920" y="3840480"/>
            <a:ext cx="21488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36791010" name="Picture 1636791009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4023360"/>
            <a:ext cx="1600200" cy="1600200"/>
          </a:xfrm>
          <a:prstGeom prst="rect">
            <a:avLst/>
          </a:prstGeom>
        </p:spPr>
      </p:pic>
      <p:sp>
        <p:nvSpPr>
          <p:cNvPr id="1636791011" name="TextBox 1636791010"/>
          <p:cNvSpPr txBox="1"/>
          <p:nvPr/>
        </p:nvSpPr>
        <p:spPr>
          <a:xfrm>
            <a:off x="9738360" y="5696712"/>
            <a:ext cx="1965960" cy="5486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2D1451"/>
                </a:solidFill>
                <a:latin typeface="Montserrat"/>
              </a:rPr>
              <a:t>Репозиторий Kontur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00" b="0">
                <a:solidFill>
                  <a:srgbClr val="6B6378"/>
                </a:solidFill>
                <a:latin typeface="Montserrat"/>
              </a:rPr>
              <a:t>KonkovDV/Kontur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ПОДВОДНЫЕ КАМНИ: ДАННЫЕ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Сканы без текстового слоя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Штампы и печати поверх текста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Скан повёрнут, обрезан, низкое DPI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Таблицы без явных границ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Один параметр называется по-разному в ПД, РД и ИД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0053"/>
                </a:solidFill>
              </a:rPr>
              <a:t>22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98580275" name="TextBox 2098580274"/>
          <p:cNvSpPr txBox="1"/>
          <p:nvPr/>
        </p:nvSpPr>
        <p:spPr>
          <a:xfrm>
            <a:off x="521207" y="1207008"/>
            <a:ext cx="4901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ЧТО МЕШАЕТ</a:t>
            </a:r>
          </a:p>
        </p:txBody>
      </p:sp>
      <p:sp>
        <p:nvSpPr>
          <p:cNvPr id="2098580276" name="TextBox 2098580275"/>
          <p:cNvSpPr txBox="1"/>
          <p:nvPr/>
        </p:nvSpPr>
        <p:spPr>
          <a:xfrm>
            <a:off x="5989320" y="1207008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НАШИ ОТВЕТЫ</a:t>
            </a:r>
          </a:p>
        </p:txBody>
      </p:sp>
      <p:sp>
        <p:nvSpPr>
          <p:cNvPr id="2098580277" name="TextBox 2098580276"/>
          <p:cNvSpPr txBox="1"/>
          <p:nvPr/>
        </p:nvSpPr>
        <p:spPr>
          <a:xfrm>
            <a:off x="5989320" y="1691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Векторный текст PDF; сканы: вырез значения + PP-OCRv5</a:t>
            </a:r>
          </a:p>
        </p:txBody>
      </p:sp>
      <p:sp>
        <p:nvSpPr>
          <p:cNvPr id="2098580278" name="TextBox 2098580277"/>
          <p:cNvSpPr txBox="1"/>
          <p:nvPr/>
        </p:nvSpPr>
        <p:spPr>
          <a:xfrm>
            <a:off x="5989320" y="2551176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Второе чтение Tesseract 5.5; чтения расходятся → отказ</a:t>
            </a:r>
          </a:p>
        </p:txBody>
      </p:sp>
      <p:sp>
        <p:nvSpPr>
          <p:cNvPr id="2098580279" name="TextBox 2098580278"/>
          <p:cNvSpPr txBox="1"/>
          <p:nvPr/>
        </p:nvSpPr>
        <p:spPr>
          <a:xfrm>
            <a:off x="5989320" y="3410712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Учёт поворота страницы; цветная печать выбеливается</a:t>
            </a:r>
          </a:p>
        </p:txBody>
      </p:sp>
      <p:sp>
        <p:nvSpPr>
          <p:cNvPr id="2098580280" name="TextBox 2098580279"/>
          <p:cNvSpPr txBox="1"/>
          <p:nvPr/>
        </p:nvSpPr>
        <p:spPr>
          <a:xfrm>
            <a:off x="5989320" y="4270248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Таблицы без границ: табличный контур в пилоте</a:t>
            </a:r>
          </a:p>
        </p:txBody>
      </p:sp>
      <p:sp>
        <p:nvSpPr>
          <p:cNvPr id="2098580281" name="TextBox 2098580280"/>
          <p:cNvSpPr txBox="1"/>
          <p:nvPr/>
        </p:nvSpPr>
        <p:spPr>
          <a:xfrm>
            <a:off x="5989320" y="5120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Синонимы параметра в матрице; латиница B→В, P→П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ПОДВОДНЫЕ КАМНИ: ЛОГИКА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Несколько голов редакции, пустой шифр в штампе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Неутверждённая или устаревшая редакция как эталон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Параметр отсутствует в документе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Документ не читается в принципе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Интеграция с ИАИС «РиН»: внешний контур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23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98580282" name="TextBox 2098580281"/>
          <p:cNvSpPr txBox="1"/>
          <p:nvPr/>
        </p:nvSpPr>
        <p:spPr>
          <a:xfrm>
            <a:off x="521207" y="1207008"/>
            <a:ext cx="4901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ЧТО МЕШАЕТ</a:t>
            </a:r>
          </a:p>
        </p:txBody>
      </p:sp>
      <p:sp>
        <p:nvSpPr>
          <p:cNvPr id="2098580283" name="TextBox 2098580282"/>
          <p:cNvSpPr txBox="1"/>
          <p:nvPr/>
        </p:nvSpPr>
        <p:spPr>
          <a:xfrm>
            <a:off x="5989320" y="1207008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НАШИ ОТВЕТЫ</a:t>
            </a:r>
          </a:p>
        </p:txBody>
      </p:sp>
      <p:sp>
        <p:nvSpPr>
          <p:cNvPr id="2098580284" name="TextBox 2098580283"/>
          <p:cNvSpPr txBox="1"/>
          <p:nvPr/>
        </p:nvSpPr>
        <p:spPr>
          <a:xfrm>
            <a:off x="5989320" y="1691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Последняя редакция по шифру; две равные → запрос уточнения</a:t>
            </a:r>
          </a:p>
        </p:txBody>
      </p:sp>
      <p:sp>
        <p:nvSpPr>
          <p:cNvPr id="2098580285" name="TextBox 2098580284"/>
          <p:cNvSpPr txBox="1"/>
          <p:nvPr/>
        </p:nvSpPr>
        <p:spPr>
          <a:xfrm>
            <a:off x="5989320" y="2551176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«не утв.» не эталон; единственная без штампа — только кандидат</a:t>
            </a:r>
          </a:p>
        </p:txBody>
      </p:sp>
      <p:sp>
        <p:nvSpPr>
          <p:cNvPr id="2098580286" name="TextBox 2098580285"/>
          <p:cNvSpPr txBox="1"/>
          <p:nvPr/>
        </p:nvSpPr>
        <p:spPr>
          <a:xfrm>
            <a:off x="5989320" y="3410712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Нет документа / не применимо: это не нарушение</a:t>
            </a:r>
          </a:p>
        </p:txBody>
      </p:sp>
      <p:sp>
        <p:nvSpPr>
          <p:cNvPr id="2098580287" name="TextBox 2098580286"/>
          <p:cNvSpPr txBox="1"/>
          <p:nvPr/>
        </p:nvSpPr>
        <p:spPr>
          <a:xfrm>
            <a:off x="5989320" y="4270248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Низкое качество → отказ вместо угаданного вердикта</a:t>
            </a:r>
          </a:p>
        </p:txBody>
      </p:sp>
      <p:sp>
        <p:nvSpPr>
          <p:cNvPr id="2098580288" name="TextBox 2098580287"/>
          <p:cNvSpPr txBox="1"/>
          <p:nvPr/>
        </p:nvSpPr>
        <p:spPr>
          <a:xfrm>
            <a:off x="5989320" y="5120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Outbox с повтором; PENDING_SYNC до подтверждения РиН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72641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242999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24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817660197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ТЕХНОЛОГИЧЕСКИЙ ВЫБОР</a:t>
            </a:r>
            <a:endParaRPr lang="ru-RU" sz="3600">
              <a:solidFill>
                <a:schemeClr val="bg1"/>
              </a:solidFill>
            </a:endParaRPr>
          </a:p>
        </p:txBody>
      </p:sp>
      <p:graphicFrame>
        <p:nvGraphicFramePr>
          <p:cNvPr id="2041726419" name="Table 2041726418"/>
          <p:cNvGraphicFramePr>
            <a:graphicFrameLocks noGrp="1"/>
          </p:cNvGraphicFramePr>
          <p:nvPr/>
        </p:nvGraphicFramePr>
        <p:xfrm>
          <a:off x="621792" y="155448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Слой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Берём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Лицензия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Почему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Векторный PDF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pypdfium2 + pdfminer.six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BSD-3/Apache-2.0 · MIT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Текст и геометрия без OCR, основной путь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OCR кропа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PP-OCRv5 eslav mobile (ONNX)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Лучший по нашему замеру на 5 935 строках: CA 0,794 против 0,777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Второе чтение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Tesseract 5.5 rus+eng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Согласие двух чтений или ABSTAIN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Правила и вердикт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Детерминированное ядро + инспектор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Наш код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Статус не пишет модель (ADR-0001)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Не берём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Облачные LLM/OCR/VLM, PyMuPDF (AGPL), Marker/Surya (ограничения весов)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Облачные API запрещены (ответ 23); лицензии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25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Два чтения надёжнее одного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Замер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</a:t>
            </a:r>
            <a:r>
              <a:rPr dirty="0">
                <a:solidFill>
                  <a:srgbClr val="FFFFFF"/>
                </a:solidFill>
              </a:rPr>
              <a:t> 5 935 </a:t>
            </a:r>
            <a:r>
              <a:rPr dirty="0" err="1">
                <a:solidFill>
                  <a:srgbClr val="FFFFFF"/>
                </a:solidFill>
              </a:rPr>
              <a:t>строках</a:t>
            </a:r>
            <a:r>
              <a:rPr dirty="0">
                <a:solidFill>
                  <a:srgbClr val="FFFFFF"/>
                </a:solidFill>
              </a:rPr>
              <a:t>: </a:t>
            </a:r>
            <a:r>
              <a:rPr dirty="0" err="1">
                <a:solidFill>
                  <a:srgbClr val="FFFFFF"/>
                </a:solidFill>
              </a:rPr>
              <a:t>согласие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двух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движков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или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отказ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ошибка</a:t>
            </a:r>
            <a:r>
              <a:rPr dirty="0">
                <a:solidFill>
                  <a:srgbClr val="FFFFFF"/>
                </a:solidFill>
              </a:rPr>
              <a:t> OCR </a:t>
            </a:r>
            <a:r>
              <a:rPr dirty="0" err="1">
                <a:solidFill>
                  <a:srgbClr val="FFFFFF"/>
                </a:solidFill>
              </a:rPr>
              <a:t>не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становится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нарушением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Ответ без места бесполезен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Надзору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нужна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ссылка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фрагмент</a:t>
            </a:r>
            <a:r>
              <a:rPr dirty="0">
                <a:solidFill>
                  <a:srgbClr val="FFFFFF"/>
                </a:solidFill>
              </a:rPr>
              <a:t> → </a:t>
            </a:r>
            <a:r>
              <a:rPr dirty="0" err="1">
                <a:solidFill>
                  <a:srgbClr val="FFFFFF"/>
                </a:solidFill>
              </a:rPr>
              <a:t>лист</a:t>
            </a:r>
            <a:r>
              <a:rPr dirty="0">
                <a:solidFill>
                  <a:srgbClr val="FFFFFF"/>
                </a:solidFill>
              </a:rPr>
              <a:t> и </a:t>
            </a:r>
            <a:r>
              <a:rPr dirty="0" err="1">
                <a:solidFill>
                  <a:srgbClr val="FFFFFF"/>
                </a:solidFill>
              </a:rPr>
              <a:t>полигон</a:t>
            </a:r>
            <a:r>
              <a:rPr dirty="0">
                <a:solidFill>
                  <a:srgbClr val="FFFFFF"/>
                </a:solidFill>
              </a:rPr>
              <a:t> в </a:t>
            </a:r>
            <a:r>
              <a:rPr dirty="0" err="1">
                <a:solidFill>
                  <a:srgbClr val="FFFFFF"/>
                </a:solidFill>
              </a:rPr>
              <a:t>каждой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находке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Подсчёт не угадываем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Подсчёт на плане — слабое место моделей (AECV-Bench, arXiv:2601.04819): не угадываем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Чертёж — это вектор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Текст</a:t>
            </a:r>
            <a:r>
              <a:rPr dirty="0">
                <a:solidFill>
                  <a:srgbClr val="FFFFFF"/>
                </a:solidFill>
              </a:rPr>
              <a:t> и </a:t>
            </a:r>
            <a:r>
              <a:rPr dirty="0" err="1">
                <a:solidFill>
                  <a:srgbClr val="FFFFFF"/>
                </a:solidFill>
              </a:rPr>
              <a:t>координаты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берём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из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вектора</a:t>
            </a:r>
            <a:r>
              <a:rPr dirty="0">
                <a:solidFill>
                  <a:srgbClr val="FFFFFF"/>
                </a:solidFill>
              </a:rPr>
              <a:t> PDF; </a:t>
            </a:r>
            <a:r>
              <a:rPr dirty="0" err="1">
                <a:solidFill>
                  <a:srgbClr val="FFFFFF"/>
                </a:solidFill>
              </a:rPr>
              <a:t>графический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контур</a:t>
            </a:r>
            <a:r>
              <a:rPr dirty="0">
                <a:solidFill>
                  <a:srgbClr val="FFFFFF"/>
                </a:solidFill>
              </a:rPr>
              <a:t> — в </a:t>
            </a:r>
            <a:r>
              <a:rPr dirty="0" err="1">
                <a:solidFill>
                  <a:srgbClr val="FFFFFF"/>
                </a:solidFill>
              </a:rPr>
              <a:t>пилоте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Правила как данные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 err="1">
                <a:solidFill>
                  <a:srgbClr val="FFFFFF"/>
                </a:solidFill>
              </a:rPr>
              <a:t>Матрица</a:t>
            </a:r>
            <a:r>
              <a:rPr dirty="0">
                <a:solidFill>
                  <a:srgbClr val="FFFFFF"/>
                </a:solidFill>
              </a:rPr>
              <a:t> 132 </a:t>
            </a:r>
            <a:r>
              <a:rPr dirty="0" err="1">
                <a:solidFill>
                  <a:srgbClr val="FFFFFF"/>
                </a:solidFill>
              </a:rPr>
              <a:t>параметров</a:t>
            </a:r>
            <a:r>
              <a:rPr dirty="0">
                <a:solidFill>
                  <a:srgbClr val="FFFFFF"/>
                </a:solidFill>
              </a:rPr>
              <a:t> → </a:t>
            </a:r>
            <a:r>
              <a:rPr dirty="0" err="1">
                <a:solidFill>
                  <a:srgbClr val="FFFFFF"/>
                </a:solidFill>
              </a:rPr>
              <a:t>правила</a:t>
            </a:r>
            <a:r>
              <a:rPr dirty="0">
                <a:solidFill>
                  <a:srgbClr val="FFFFFF"/>
                </a:solidFill>
              </a:rPr>
              <a:t> в JSON, </a:t>
            </a:r>
            <a:r>
              <a:rPr dirty="0" err="1">
                <a:solidFill>
                  <a:srgbClr val="FFFFFF"/>
                </a:solidFill>
              </a:rPr>
              <a:t>сравнение</a:t>
            </a:r>
            <a:r>
              <a:rPr dirty="0">
                <a:solidFill>
                  <a:srgbClr val="FFFFFF"/>
                </a:solidFill>
              </a:rPr>
              <a:t> — 12 </a:t>
            </a:r>
            <a:r>
              <a:rPr dirty="0" err="1">
                <a:solidFill>
                  <a:srgbClr val="FFFFFF"/>
                </a:solidFill>
              </a:rPr>
              <a:t>операторов</a:t>
            </a:r>
            <a:r>
              <a:rPr dirty="0">
                <a:solidFill>
                  <a:srgbClr val="FFFFFF"/>
                </a:solidFill>
              </a:rPr>
              <a:t> в </a:t>
            </a:r>
            <a:r>
              <a:rPr dirty="0" err="1">
                <a:solidFill>
                  <a:srgbClr val="FFFFFF"/>
                </a:solidFill>
              </a:rPr>
              <a:t>коде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Документ не доверен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dirty="0">
                <a:solidFill>
                  <a:srgbClr val="FFFFFF"/>
                </a:solidFill>
              </a:rPr>
              <a:t>OWASP LLM01, Trustworthy Agentic AI (</a:t>
            </a:r>
            <a:r>
              <a:rPr dirty="0" err="1">
                <a:solidFill>
                  <a:srgbClr val="FFFFFF"/>
                </a:solidFill>
              </a:rPr>
              <a:t>arXiv</a:t>
            </a:r>
            <a:r>
              <a:rPr dirty="0">
                <a:solidFill>
                  <a:srgbClr val="FFFFFF"/>
                </a:solidFill>
              </a:rPr>
              <a:t> 2609.22712) → LLM </a:t>
            </a:r>
            <a:r>
              <a:rPr dirty="0" err="1">
                <a:solidFill>
                  <a:srgbClr val="FFFFFF"/>
                </a:solidFill>
              </a:rPr>
              <a:t>вне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вердикта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офлайн</a:t>
            </a:r>
            <a:r>
              <a:rPr dirty="0">
                <a:solidFill>
                  <a:srgbClr val="FFFFFF"/>
                </a:solidFill>
              </a:rPr>
              <a:t>, </a:t>
            </a:r>
            <a:r>
              <a:rPr dirty="0" err="1">
                <a:solidFill>
                  <a:srgbClr val="FFFFFF"/>
                </a:solidFill>
              </a:rPr>
              <a:t>сканер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инъекций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ИССЛЕДОВАНИЯ → НАШИ РЕШЕНИЯ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D6E3"/>
                </a:solidFill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320040"/>
            <a:ext cx="4809744" cy="566928"/>
          </a:xfrm>
          <a:prstGeom prst="roundRect">
            <a:avLst>
              <a:gd name="adj" fmla="val 19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320040"/>
            <a:ext cx="4809744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Montserrat"/>
              </a:rPr>
              <a:t>SOTA ИЗ AEROBIM → КОНТУР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685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F0053"/>
                </a:solidFill>
                <a:latin typeface="Montserrat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78992"/>
            <a:ext cx="113385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Montserrat"/>
              </a:rPr>
              <a:t>Что перенесли из AeroBIM (1106 коммитов) в Контур: доверие к доказательству, а не к «умному ответу»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62763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7" y="181051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181051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Детерминированный вердикт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7" y="240487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Статус пишет код компаратора (12 операторов). LLM и VLM не ставят статус находки (ADR-0001).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62763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62272" y="181051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2352" y="181051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Отказ вместо «ОК»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240487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Нет документа — MISSING_EVIDENCE, не прочитано — ABSTAIN. Пустое поле ≠ соответствие.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62763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11896" y="181051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181051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Трасса до источника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240487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Находка не сохраняется без файла, страницы, SHA-256 и полигона на листе (ADR-0002).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373075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7" y="391363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391363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Правила как данные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450799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132 параметра матрицы лежат данными, не кодом. Новый объект — новые данные, не новый релиз.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33672" y="373075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62272" y="391363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91363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Пилот как измерение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2272" y="450799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Замороженная выборка, разбиение по object_id, P/R/F1 и FPR с 95% CI Уилсона по порогам ТЗ.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3730752"/>
            <a:ext cx="363931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11896" y="3913632"/>
            <a:ext cx="73152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1976" y="3913632"/>
            <a:ext cx="2587752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Воспроизводимость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4507992"/>
            <a:ext cx="3182112" cy="100584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main только через PR и 11 обязательных CI-проверок, 1265 тестов, образы по digest, офлайн из tar.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" y="5852160"/>
            <a:ext cx="11338560" cy="457200"/>
          </a:xfrm>
          <a:prstGeom prst="roundRect">
            <a:avLst>
              <a:gd name="adj" fmla="val 30000"/>
            </a:avLst>
          </a:prstGeom>
          <a:solidFill>
            <a:srgbClr val="F6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5852160"/>
            <a:ext cx="1101852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Код сравнивает, инспектор решает, а каждое число идёт вместе с n и интервалом.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320040"/>
            <a:ext cx="5678424" cy="566928"/>
          </a:xfrm>
          <a:prstGeom prst="roundRect">
            <a:avLst>
              <a:gd name="adj" fmla="val 19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320040"/>
            <a:ext cx="5678424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Montserrat"/>
              </a:rPr>
              <a:t>ВОПРОСЫ ЖЮРИ: КОРОТКИЕ ОТВЕТЫ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685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F0053"/>
                </a:solidFill>
                <a:latin typeface="Montserrat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78992"/>
            <a:ext cx="1133856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Montserrat"/>
              </a:rPr>
              <a:t>Формула ответа: факт → граница → чем проверим. Справа от ответа — слайд с доказательством.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600200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0" y="1764792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0" y="1764792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14–16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7" y="1746504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Какая у вас точность?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7" y="2221992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Контур оценки под 9 порогов ТЗ с 95% CI готов; учебный комплект — 3 из 3. Зачётный замер — на замороженной выборке пилота.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600200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789920" y="1764792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0" y="1764792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746504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Почему не LLM «прочитал и решил»?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221992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Надзору нужны повторяемость и ссылка на лист. Облачные модели запрещены (ответ 23), PDF — недоверенный вход.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236976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029200" y="3401568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3401568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17, 23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3383280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Что, если документа или значения нет?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3858768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Это не нарушение и не «соответствует»: MISSING_EVIDENCE, ABSTAIN или запрос уточнения редакции.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236976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789920" y="3401568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789920" y="3401568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3383280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Как это встанет в контур?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3858768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On-prem, только CPU, одна команда docker compose, офлайн из tar. Протокол в 4 форматах, РиН через outbox.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" y="4873752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29200" y="5038344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0" y="5038344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10–12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" y="5020056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Кто ставит нарушение?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7" y="5495544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Только инспектор. Система останавливается на CANDIDATE, отклонение требует причины, всё пишется в аудит.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4873752"/>
            <a:ext cx="557784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789920" y="5038344"/>
            <a:ext cx="749808" cy="329184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789920" y="5038344"/>
            <a:ext cx="749808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Montserrat"/>
              </a:rPr>
              <a:t>19–20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3368" y="5020056"/>
            <a:ext cx="4251959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Что вы просите?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5495544"/>
            <a:ext cx="5120640" cy="768096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8-недельный пилот: комплекты 3–5 объектов, 2 инспектора, тестовый контур РиН, размеченные «нарушений нет».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320040"/>
            <a:ext cx="6199632" cy="566928"/>
          </a:xfrm>
          <a:prstGeom prst="roundRect">
            <a:avLst>
              <a:gd name="adj" fmla="val 19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320040"/>
            <a:ext cx="6199632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Montserrat"/>
              </a:rPr>
              <a:t>ОТВЕТЫ: ДАННЫЕ, БЕЗОПАСНОСТЬ, 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685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F0053"/>
                </a:solidFill>
                <a:latin typeface="Montserrat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363931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90472"/>
            <a:ext cx="3127248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D1451"/>
                </a:solidFill>
                <a:latin typeface="Montserrat"/>
              </a:rPr>
              <a:t>Где живут данные?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3127248" cy="32461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Всё локально: веса OCR в образе, сеть для работы не нужна.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Документы не уходят во внешние LLM, OCR и VLM.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Скрытый тест в карантине: не открывается и не подгоняет пороги.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234440"/>
            <a:ext cx="363931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9704" y="1490472"/>
            <a:ext cx="3127248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D1451"/>
                </a:solidFill>
                <a:latin typeface="Montserrat"/>
              </a:rPr>
              <a:t>Как защищён стенд?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9704" y="2148840"/>
            <a:ext cx="3127248" cy="32461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Ядро и шлюз от uid 10001, файловая система read-only, cap_drop: ALL.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Базовые образы закреплены по digest, лимиты 50 МБ на файл и 200 МБ на пакет.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OIDC, TLS и УКЭП подключаем в контуре заказчика на пилоте.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234440"/>
            <a:ext cx="363931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39327" y="1490472"/>
            <a:ext cx="3127248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D1451"/>
                </a:solidFill>
                <a:latin typeface="Montserrat"/>
              </a:rPr>
              <a:t>Где работает ИИ?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148840"/>
            <a:ext cx="3127248" cy="32461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OCR читает сканы: PP-OCRv5 + Tesseract 5.5.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Чтения расходятся — отказ, а не догадка.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00" b="1">
                <a:solidFill>
                  <a:srgbClr val="FF0053"/>
                </a:solidFill>
                <a:latin typeface="Montserrat"/>
              </a:rPr>
              <a:t>●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Нейросеть не пишет статус и не решает, есть ли нарушение.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" y="5760720"/>
            <a:ext cx="11338560" cy="502920"/>
          </a:xfrm>
          <a:prstGeom prst="roundRect">
            <a:avLst>
              <a:gd name="adj" fmla="val 30000"/>
            </a:avLst>
          </a:prstGeom>
          <a:solidFill>
            <a:srgbClr val="F6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5760720"/>
            <a:ext cx="11018520" cy="50292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Короткий ответ: данные остаются у заказчика, ИИ читает текст, вердикт считает код, статус ставит человек.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320040"/>
            <a:ext cx="6199632" cy="566928"/>
          </a:xfrm>
          <a:prstGeom prst="roundRect">
            <a:avLst>
              <a:gd name="adj" fmla="val 19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320040"/>
            <a:ext cx="6199632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Montserrat"/>
              </a:rPr>
              <a:t>ОТВЕТЫ: ЭФФЕКТ, АНАЛОГИ,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685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F0053"/>
                </a:solidFill>
                <a:latin typeface="Montserrat"/>
              </a:rPr>
              <a:t>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5577840" cy="21762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50292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D1451"/>
                </a:solidFill>
                <a:latin typeface="Montserrat"/>
              </a:rPr>
              <a:t>Какой эффект для инспектора?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11680"/>
            <a:ext cx="5029200" cy="12618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Инспектор выезжает с картой расхождений, а не с папкой томов. Цели ТЗ ≤ 30 минут до протокола и ≤ 3 действия на решение заложены прямо в интерфейс.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234440"/>
            <a:ext cx="5577840" cy="21762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9088" y="1463040"/>
            <a:ext cx="50292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D1451"/>
                </a:solidFill>
                <a:latin typeface="Montserrat"/>
              </a:rPr>
              <a:t>Чем вы отличаетесь от аналогов?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011680"/>
            <a:ext cx="5029200" cy="12618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Сверяем документы между собой: ПД ↔ РД ↔ ИД по 132 параметрам. Модельные чекеры и СОД решают соседние задачи: коллизии, маршрут, комплектность.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3593592"/>
            <a:ext cx="5577840" cy="21762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3822191"/>
            <a:ext cx="50292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D1451"/>
                </a:solidFill>
                <a:latin typeface="Montserrat"/>
              </a:rPr>
              <a:t>Справится ли команда из двух человек?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5029200" cy="12618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Непрерывность в артефактах, а не в людях: публичный репозиторий, ADR, протокол запуска, 1265 тестов, Red Team. Опыт AeroBIM с апреля 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3593592"/>
            <a:ext cx="5577840" cy="21762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3822191"/>
            <a:ext cx="5029200" cy="41148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D1451"/>
                </a:solidFill>
                <a:latin typeface="Montserrat"/>
              </a:rPr>
              <a:t>Чьим будет код?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4370832"/>
            <a:ext cx="5029200" cy="1261872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Репозиторий открыт для проверки жюри: стенд, досье и реестр доказательств. Права на код передаются заказчику задачи.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5852160"/>
            <a:ext cx="11338560" cy="457200"/>
          </a:xfrm>
          <a:prstGeom prst="roundRect">
            <a:avLst>
              <a:gd name="adj" fmla="val 30000"/>
            </a:avLst>
          </a:prstGeom>
          <a:solidFill>
            <a:srgbClr val="F6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1101852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Каждый ответ подкреплён слайдом, репозиторием и живым демо.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320040"/>
            <a:ext cx="2377439" cy="566928"/>
          </a:xfrm>
          <a:prstGeom prst="roundRect">
            <a:avLst>
              <a:gd name="adj" fmla="val 19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7472" y="320040"/>
            <a:ext cx="2377439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800" b="0">
                <a:solidFill>
                  <a:srgbClr val="FFFFFF"/>
                </a:solidFill>
                <a:latin typeface="Montserrat"/>
              </a:rPr>
              <a:t>ОГЛАВЛЕНИЕ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55080"/>
            <a:ext cx="685800" cy="36576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F0053"/>
                </a:solidFill>
                <a:latin typeface="Montserrat"/>
              </a:rPr>
              <a:t>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188720"/>
            <a:ext cx="45262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1463040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О команде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1463040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1–4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04872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404872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Проблема и голос заказчика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2404872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5–7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46704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3346704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Решение, демо, рабочее место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3346704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8–11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88536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4288536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Доказательная цепочка, архитектура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4288536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12–13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30368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230368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Метрики, кейс, готовность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5230368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14–17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1188720"/>
            <a:ext cx="45262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49240" y="1463040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7608" y="1463040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Закрытый контур и пилот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6488" y="1463040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18–20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404872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7608" y="2404872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Контакты и QR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6488" y="2404872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3346704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7608" y="3346704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Подводные камни и технологии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3346704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22–25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4288536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7608" y="4288536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SOTA из AeroBIM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6488" y="4288536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5230368"/>
            <a:ext cx="64008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0053"/>
                </a:solidFill>
                <a:latin typeface="Montserrat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07608" y="5230368"/>
            <a:ext cx="242316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2D1451"/>
                </a:solidFill>
                <a:latin typeface="Montserrat"/>
              </a:rPr>
              <a:t>Ответы на вопросы жюри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6488" y="5230368"/>
            <a:ext cx="914400" cy="457200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50" b="0">
                <a:solidFill>
                  <a:srgbClr val="6B6378"/>
                </a:solidFill>
                <a:latin typeface="Montserrat"/>
              </a:rPr>
              <a:t>27–29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02368" y="1188720"/>
            <a:ext cx="20116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Picture 3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1463040"/>
            <a:ext cx="1645920" cy="16459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939528" y="3291840"/>
            <a:ext cx="1737360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2D1451"/>
                </a:solidFill>
                <a:latin typeface="Montserrat"/>
              </a:rPr>
              <a:t>Репозиторий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6B6378"/>
                </a:solidFill>
                <a:latin typeface="Montserrat"/>
              </a:rPr>
              <a:t>KonkovDV/Kontur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9528" y="4206240"/>
            <a:ext cx="1737360" cy="1828800"/>
          </a:xfrm>
          <a:prstGeom prst="rect">
            <a:avLst/>
          </a:prstGeom>
          <a:noFill/>
        </p:spPr>
        <p:txBody>
          <a:bodyPr wrap="square" lIns="18288" tIns="0" rIns="18288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1C1D22"/>
                </a:solidFill>
                <a:latin typeface="Montserrat"/>
              </a:rPr>
              <a:t>Стенд одной командой, досье для жюри, реестр доказательств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Words>3154</Words>
  <Application>Microsoft Office PowerPoint</Application>
  <PresentationFormat>Широкоэкранный</PresentationFormat>
  <Paragraphs>444</Paragraphs>
  <Slides>30</Slides>
  <Notes>30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6" baseType="lpstr">
      <vt:lpstr>Arial</vt:lpstr>
      <vt:lpstr>Calibri</vt:lpstr>
      <vt:lpstr>Consolas</vt:lpstr>
      <vt:lpstr>Montserrat</vt:lpstr>
      <vt:lpstr>Wingdings</vt:lpstr>
      <vt:lpstr>Для Академия инноваторов 16_9</vt:lpstr>
      <vt:lpstr>КОМАНДА «КОНТУР»</vt:lpstr>
      <vt:lpstr>КОМАНДА «КОНТУР»</vt:lpstr>
      <vt:lpstr>КОМАНДА «КОНТУР»</vt:lpstr>
      <vt:lpstr>ИСТОРИЯ КОМАНДЫ</vt:lpstr>
      <vt:lpstr>ПРОБЛЕМА И РЕШЕНИЕ</vt:lpstr>
      <vt:lpstr>ПРОБЛЕМА В ЦИФРАХ</vt:lpstr>
      <vt:lpstr>ГОЛОС ЗАКАЗЧИКА</vt:lpstr>
      <vt:lpstr>КОРОТКО О РЕШЕНИИ</vt:lpstr>
      <vt:lpstr>СЦЕНАРИЙ ЖИВОГО ДЕМО</vt:lpstr>
      <vt:lpstr>РАБОЧЕЕ МЕСТО ИНСПЕКТОРА</vt:lpstr>
      <vt:lpstr>ДЕМО: ЭКРАН ИНСПЕКТОРА</vt:lpstr>
      <vt:lpstr>ДОКАЗАТЕЛЬНАЯ ЦЕПОЧКА</vt:lpstr>
      <vt:lpstr>АРХИТЕКТУРА РЕШЕНИЯ</vt:lpstr>
      <vt:lpstr>КАК НАС БУДУТ ИЗМЕРЯТЬ</vt:lpstr>
      <vt:lpstr>ГОТОВНОСТЬ В ЦИФРАХ, 28.09</vt:lpstr>
      <vt:lpstr>РАЗБОР КЕЙСА: ТЮМЕНСКАЯ-5</vt:lpstr>
      <vt:lpstr>ЧТО УМЕЕМ СЕГОДНЯ</vt:lpstr>
      <vt:lpstr>ЗАКРЫТЫЙ КОНТУР</vt:lpstr>
      <vt:lpstr>ПИЛОТ: 8 НЕДЕЛЬ</vt:lpstr>
      <vt:lpstr>ЧТО НУЖНО ОТ КОМИТЕТА</vt:lpstr>
      <vt:lpstr>СПАСИБО!</vt:lpstr>
      <vt:lpstr>ПОДВОДНЫЕ КАМНИ: ДАННЫЕ</vt:lpstr>
      <vt:lpstr>ПОДВОДНЫЕ КАМНИ: ЛОГИКА</vt:lpstr>
      <vt:lpstr>ТЕХНОЛОГИЧЕСКИЙ ВЫБОР</vt:lpstr>
      <vt:lpstr>ИССЛЕДОВАНИЯ → НАШИ РЕШЕНИЯ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Ivan Ivanov</cp:lastModifiedBy>
  <cp:revision>103</cp:revision>
  <dcterms:created xsi:type="dcterms:W3CDTF">2023-05-15T07:36:23Z</dcterms:created>
  <dcterms:modified xsi:type="dcterms:W3CDTF">2026-09-29T06:35:31Z</dcterms:modified>
</cp:coreProperties>
</file>