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colors3.xml" ContentType="application/vnd.ms-office.chartcolorstyle+xml"/>
  <Override PartName="/ppt/charts/style1.xml" ContentType="application/vnd.ms-office.chartstyle+xml"/>
  <Override PartName="/ppt/charts/style2.xml" ContentType="application/vnd.ms-office.chartstyle+xml"/>
  <Override PartName="/ppt/charts/style3.xml" ContentType="application/vnd.ms-office.chartstyle+xml"/>
  <Override PartName="/ppt/notesMasters/notesMaster1.xml" ContentType="application/vnd.openxmlformats-officedocument.presentationml.notesMaster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41"/>
  </p:notesMasterIdLst>
  <p:sldIdLst>
    <p:sldId id="262" r:id="rId10"/>
    <p:sldId id="263" r:id="rId11"/>
    <p:sldId id="264" r:id="rId12"/>
    <p:sldId id="265" r:id="rId13"/>
    <p:sldId id="266" r:id="rId14"/>
    <p:sldId id="279" r:id="rId27"/>
    <p:sldId id="278" r:id="rId26"/>
    <p:sldId id="268" r:id="rId16"/>
    <p:sldId id="277" r:id="rId25"/>
    <p:sldId id="299" r:id="rId31"/>
    <p:sldId id="275" r:id="rId23"/>
    <p:sldId id="271" r:id="rId19"/>
    <p:sldId id="280" r:id="rId28"/>
    <p:sldId id="273" r:id="rId21"/>
    <p:sldId id="270" r:id="rId18"/>
    <p:sldId id="293" r:id="rId45"/>
    <p:sldId id="294" r:id="rId46"/>
    <p:sldId id="295" r:id="rId47"/>
    <p:sldId id="276" r:id="rId24"/>
    <p:sldId id="272" r:id="rId20"/>
    <p:sldId id="267" r:id="rId15"/>
    <p:sldId id="296" r:id="rId48"/>
    <p:sldId id="297" r:id="rId49"/>
    <p:sldId id="298" r:id="rId50"/>
  </p:sldIdLst>
  <p:sldSz cx="12192000" cy="6858000"/>
  <p:notesSz cx="6858000" cy="9144000"/>
  <p:defaultTextStyle>
    <a:defPPr>
      <a:defRPr lang="ru-RU"/>
    </a:defPPr>
    <a:lvl1pPr marL="0" algn="l" defTabSz="91422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110" algn="l" defTabSz="91422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220" algn="l" defTabSz="91422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329" algn="l" defTabSz="91422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439" algn="l" defTabSz="91422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5549" algn="l" defTabSz="91422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2658" algn="l" defTabSz="91422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199765" algn="l" defTabSz="91422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6877" algn="l" defTabSz="91422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howGuides="1" snapToGrid="0">
      <p:cViewPr varScale="1">
        <p:scale>
          <a:sx n="112" d="100"/>
          <a:sy n="112" d="100"/>
        </p:scale>
        <p:origin x="200" y="360"/>
      </p:cViewPr>
      <p:guideLst>
        <p:guide pos="597"/>
        <p:guide pos="3591"/>
        <p:guide pos="5496"/>
        <p:guide pos="4112"/>
        <p:guide pos="393"/>
        <p:guide pos="2160" orient="horz"/>
      </p:guideLst>
    </p:cSldViewPr>
  </p:slide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21.xml"/><Relationship Id="rId16" Type="http://schemas.openxmlformats.org/officeDocument/2006/relationships/slide" Target="slides/slide8.xml"/><Relationship Id="rId18" Type="http://schemas.openxmlformats.org/officeDocument/2006/relationships/slide" Target="slides/slide15.xml"/><Relationship Id="rId19" Type="http://schemas.openxmlformats.org/officeDocument/2006/relationships/slide" Target="slides/slide12.xml"/><Relationship Id="rId20" Type="http://schemas.openxmlformats.org/officeDocument/2006/relationships/slide" Target="slides/slide20.xml"/><Relationship Id="rId21" Type="http://schemas.openxmlformats.org/officeDocument/2006/relationships/slide" Target="slides/slide14.xml"/><Relationship Id="rId23" Type="http://schemas.openxmlformats.org/officeDocument/2006/relationships/slide" Target="slides/slide11.xml"/><Relationship Id="rId24" Type="http://schemas.openxmlformats.org/officeDocument/2006/relationships/slide" Target="slides/slide19.xml"/><Relationship Id="rId25" Type="http://schemas.openxmlformats.org/officeDocument/2006/relationships/slide" Target="slides/slide9.xml"/><Relationship Id="rId26" Type="http://schemas.openxmlformats.org/officeDocument/2006/relationships/slide" Target="slides/slide7.xml"/><Relationship Id="rId27" Type="http://schemas.openxmlformats.org/officeDocument/2006/relationships/slide" Target="slides/slide6.xml"/><Relationship Id="rId28" Type="http://schemas.openxmlformats.org/officeDocument/2006/relationships/slide" Target="slides/slide13.xml"/><Relationship Id="rId31" Type="http://schemas.openxmlformats.org/officeDocument/2006/relationships/slide" Target="slides/slide10.xml"/><Relationship Id="rId41" Type="http://schemas.openxmlformats.org/officeDocument/2006/relationships/notesMaster" Target="notesMasters/notesMaster1.xml"/><Relationship Id="rId42" Type="http://schemas.openxmlformats.org/officeDocument/2006/relationships/presProps" Target="presProps.xml"/><Relationship Id="rId43" Type="http://schemas.openxmlformats.org/officeDocument/2006/relationships/tableStyles" Target="tableStyles.xml"/><Relationship Id="rId44" Type="http://schemas.openxmlformats.org/officeDocument/2006/relationships/viewProps" Target="viewProps.xml"/><Relationship Id="rId45" Type="http://schemas.openxmlformats.org/officeDocument/2006/relationships/slide" Target="slides/slide16.xml"/><Relationship Id="rId46" Type="http://schemas.openxmlformats.org/officeDocument/2006/relationships/slide" Target="slides/slide17.xml"/><Relationship Id="rId47" Type="http://schemas.openxmlformats.org/officeDocument/2006/relationships/slide" Target="slides/slide18.xml"/><Relationship Id="rId48" Type="http://schemas.openxmlformats.org/officeDocument/2006/relationships/slide" Target="slides/slide22.xml"/><Relationship Id="rId49" Type="http://schemas.openxmlformats.org/officeDocument/2006/relationships/slide" Target="slides/slide23.xml"/><Relationship Id="rId50" Type="http://schemas.openxmlformats.org/officeDocument/2006/relationships/slide" Target="slides/slide2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Relationship Id="rId2" Type="http://schemas.microsoft.com/office/2011/relationships/chartStyle" Target="style1.xml"/><Relationship Id="rId3" Type="http://schemas.microsoft.com/office/2011/relationships/chartColorStyle" Target="colors1.xml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Relationship Id="rId2" Type="http://schemas.microsoft.com/office/2011/relationships/chartStyle" Target="style2.xml"/><Relationship Id="rId3" Type="http://schemas.microsoft.com/office/2011/relationships/chartColorStyle" Target="colors2.xml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.xlsx"/><Relationship Id="rId2" Type="http://schemas.microsoft.com/office/2011/relationships/chartStyle" Target="style3.xml"/><Relationship Id="rId3" Type="http://schemas.microsoft.com/office/2011/relationships/chartColorStyle" Target="colors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mc="http://schemas.openxmlformats.org/markup-compatibility/2006" xmlns:c15="http://schemas.microsoft.com/office/drawing/2012/chart" xmlns:c14="http://schemas.microsoft.com/office/drawing/2007/8/2/chart" xmlns:c16r2="http://schemas.microsoft.com/office/drawing/2015/06/chart">
  <c:date1904 val="0"/>
  <c:lang val="ru-RU"/>
  <c:roundedCorners val="0"/>
  <mc:AlternateContent>
    <mc:Choice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51688"/>
          <c:y val="0.126935"/>
          <c:w val="0.926086"/>
          <c:h val="0.66747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Параметры</c:v>
                </c:pt>
              </c:strCache>
            </c:strRef>
          </c:tx>
          <c:spPr bwMode="auto">
            <a:prstGeom prst="rect">
              <a:avLst/>
            </a:prstGeom>
            <a:solidFill>
              <a:schemeClr val="accent1"/>
            </a:solidFill>
            <a:ln w="63500"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Исполняются</c:v>
                </c:pt>
                <c:pt idx="1">
                  <c:v>Без экстрактора</c:v>
                </c:pt>
                <c:pt idx="2">
                  <c:v>Справочные</c:v>
                </c:pt>
                <c:pt idx="3">
                  <c:v>Без источника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55</c:v>
                </c:pt>
                <c:pt idx="1">
                  <c:v>72</c:v>
                </c:pt>
                <c:pt idx="2">
                  <c:v>1</c:v>
                </c:pt>
                <c:pt idx="3">
                  <c:v>4</c:v>
                </c:pt>
              </c:numCache>
            </c:numRef>
          </c:val>
        </c:ser>
        <c:dLbls>
          <c:showBubbleSize val="0"/>
          <c:showCatName val="0"/>
          <c:showLeaderLines val="0"/>
          <c:showLegendKey val="0"/>
          <c:showPercent val="0"/>
          <c:showSerName val="0"/>
          <c:showVal val="0"/>
        </c:dLbls>
        <c:gapWidth val="100"/>
        <c:overlap val="-20"/>
        <c:axId val="1688540351"/>
        <c:axId val="1173587135"/>
      </c:barChart>
      <c:catAx>
        <c:axId val="16885403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 bwMode="auto">
          <a:prstGeom prst="rect">
            <a:avLst/>
          </a:prstGeom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>
                <a:solidFill>
                  <a:schemeClr val="bg1"/>
                </a:solidFill>
                <a:latin typeface="Montserrat"/>
                <a:ea typeface="Arial"/>
                <a:cs typeface="Arial"/>
              </a:defRPr>
            </a:pPr>
            <a:endParaRPr lang="ru-RU"/>
          </a:p>
        </c:txPr>
        <c:crossAx val="1173587135"/>
        <c:crosses val="autoZero"/>
        <c:auto val="1"/>
        <c:lblAlgn val="ctr"/>
        <c:lblOffset val="100"/>
        <c:noMultiLvlLbl val="0"/>
      </c:catAx>
      <c:valAx>
        <c:axId val="1173587135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 bwMode="auto">
          <a:prstGeom prst="rect">
            <a:avLst/>
          </a:prstGeom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>
                <a:solidFill>
                  <a:schemeClr val="bg1"/>
                </a:solidFill>
                <a:latin typeface="Montserrat"/>
                <a:ea typeface="Arial"/>
                <a:cs typeface="Arial"/>
              </a:defRPr>
            </a:pPr>
            <a:endParaRPr lang="ru-RU"/>
          </a:p>
        </c:txPr>
        <c:crossAx val="1688540351"/>
        <c:crosses val="autoZero"/>
        <c:crossBetween val="between"/>
        <c:majorUnit val="20.0"/>
      </c:valAx>
      <c:spPr bwMode="auto">
        <a:prstGeom prst="rect">
          <a:avLst/>
        </a:prstGeom>
        <a:noFill/>
        <a:ln w="25400">
          <a:noFill/>
        </a:ln>
        <a:effectLst/>
      </c:spPr>
    </c:plotArea>
    <c:plotVisOnly val="1"/>
    <c:dispBlanksAs val="gap"/>
    <c:showDLblsOverMax val="0"/>
  </c:chart>
  <c:spPr bwMode="auto">
    <a:xfrm rot="0">
      <a:off x="346075" y="1424510"/>
      <a:ext cx="5749925" cy="4401748"/>
    </a:xfrm>
    <a:prstGeom prst="rect">
      <a:avLst/>
    </a:prstGeom>
    <a:noFill/>
    <a:ln>
      <a:noFill/>
    </a:ln>
    <a:effectLst/>
  </c:spPr>
  <c:txPr>
    <a:bodyPr/>
    <a:lstStyle/>
    <a:p>
      <a:pPr>
        <a:defRPr>
          <a:solidFill>
            <a:schemeClr val="bg1"/>
          </a:solidFill>
        </a:defRPr>
      </a:pPr>
      <a:endParaRPr lang="ru-RU"/>
    </a:p>
  </c:txPr>
  <c:externalData r:id="rId1">
    <c:autoUpdate val="1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mc="http://schemas.openxmlformats.org/markup-compatibility/2006" xmlns:c15="http://schemas.microsoft.com/office/drawing/2012/chart" xmlns:c14="http://schemas.microsoft.com/office/drawing/2007/8/2/chart" xmlns:c16r2="http://schemas.microsoft.com/office/drawing/2015/06/chart">
  <c:date1904 val="0"/>
  <c:lang val="ru-RU"/>
  <c:roundedCorners val="0"/>
  <mc:AlternateContent>
    <mc:Choice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13533"/>
          <c:y val="0.126935"/>
          <c:w val="0.864242"/>
          <c:h val="0.667471"/>
        </c:manualLayout>
      </c:layout>
      <c:barChart>
        <c:barDir val="bar"/>
        <c:grouping val="clustered"/>
        <c:varyColors val="0"/>
        <c:ser>
          <c:idx val="1"/>
          <c:order val="0"/>
          <c:tx>
            <c:strRef>
              <c:f>Sheet1!$B$1</c:f>
              <c:strCache>
                <c:ptCount val="1"/>
                <c:pt idx="0">
                  <c:v>Порог ТЗ</c:v>
                </c:pt>
              </c:strCache>
            </c:strRef>
          </c:tx>
          <c:spPr bwMode="auto">
            <a:prstGeom prst="rect">
              <a:avLst/>
            </a:prstGeom>
            <a:solidFill>
              <a:schemeClr val="accent2"/>
            </a:solidFill>
            <a:ln w="63500">
              <a:solidFill>
                <a:schemeClr val="accent2"/>
              </a:solidFill>
            </a:ln>
            <a:effectLst/>
          </c:spPr>
          <c:invertIfNegative val="0"/>
          <c:dPt>
            <c:idx val="0"/>
            <c:invertIfNegative val="0"/>
            <c:bubble3D val="0"/>
            <c:spPr bwMode="auto">
              <a:prstGeom prst="rect">
                <a:avLst/>
              </a:prstGeom>
              <a:solidFill>
                <a:schemeClr val="accent2"/>
              </a:solidFill>
              <a:ln w="63500">
                <a:noFill/>
              </a:ln>
              <a:effectLst/>
            </c:spPr>
          </c:dPt>
          <c:dPt>
            <c:idx val="1"/>
            <c:invertIfNegative val="0"/>
            <c:bubble3D val="0"/>
            <c:spPr bwMode="auto">
              <a:prstGeom prst="rect">
                <a:avLst/>
              </a:prstGeom>
              <a:solidFill>
                <a:schemeClr val="accent4"/>
              </a:solidFill>
              <a:ln w="63500">
                <a:noFill/>
              </a:ln>
              <a:effectLst/>
            </c:spPr>
          </c:dPt>
          <c:dPt>
            <c:idx val="2"/>
            <c:invertIfNegative val="0"/>
            <c:bubble3D val="0"/>
            <c:spPr bwMode="auto">
              <a:prstGeom prst="rect">
                <a:avLst/>
              </a:prstGeom>
              <a:solidFill>
                <a:schemeClr val="accent5"/>
              </a:solidFill>
              <a:ln w="63500">
                <a:noFill/>
              </a:ln>
              <a:effectLst/>
            </c:spPr>
          </c:dPt>
          <c:dPt>
            <c:idx val="3"/>
            <c:invertIfNegative val="0"/>
            <c:bubble3D val="0"/>
            <c:spPr bwMode="auto">
              <a:prstGeom prst="rect">
                <a:avLst/>
              </a:prstGeom>
              <a:solidFill>
                <a:schemeClr val="accent1"/>
              </a:solidFill>
              <a:ln w="63500">
                <a:noFill/>
              </a:ln>
              <a:effectLst/>
            </c:spPr>
          </c:dPt>
          <c:cat>
            <c:strRef>
              <c:f>Sheet1!$A$2:$A$9</c:f>
              <c:strCache>
                <c:ptCount val="8"/>
                <c:pt idx="0">
                  <c:v>FPR ≤</c:v>
                </c:pt>
                <c:pt idx="1">
                  <c:v>F1</c:v>
                </c:pt>
                <c:pt idx="2">
                  <c:v>R</c:v>
                </c:pt>
                <c:pt idx="3">
                  <c:v>P</c:v>
                </c:pt>
                <c:pt idx="4">
                  <c:v>IoU</c:v>
                </c:pt>
                <c:pt idx="5">
                  <c:v>Связка</c:v>
                </c:pt>
                <c:pt idx="6">
                  <c:v>EM</c:v>
                </c:pt>
                <c:pt idx="7">
                  <c:v>CA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0.1</c:v>
                </c:pt>
                <c:pt idx="1">
                  <c:v>0.85</c:v>
                </c:pt>
                <c:pt idx="2">
                  <c:v>0.8</c:v>
                </c:pt>
                <c:pt idx="3">
                  <c:v>0.9</c:v>
                </c:pt>
                <c:pt idx="4">
                  <c:v>0.95</c:v>
                </c:pt>
                <c:pt idx="5">
                  <c:v>0.95</c:v>
                </c:pt>
                <c:pt idx="6">
                  <c:v>0.9</c:v>
                </c:pt>
                <c:pt idx="7">
                  <c:v>0.95</c:v>
                </c:pt>
              </c:numCache>
            </c:numRef>
          </c:val>
        </c:ser>
        <c:dLbls>
          <c:showBubbleSize val="0"/>
          <c:showCatName val="0"/>
          <c:showLeaderLines val="0"/>
          <c:showLegendKey val="0"/>
          <c:showPercent val="0"/>
          <c:showSerName val="0"/>
          <c:showVal val="0"/>
        </c:dLbls>
        <c:gapWidth val="100"/>
        <c:axId val="1688540351"/>
        <c:axId val="1173587135"/>
      </c:barChart>
      <c:catAx>
        <c:axId val="1688540351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 bwMode="auto">
          <a:prstGeom prst="rect">
            <a:avLst/>
          </a:prstGeom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>
                <a:solidFill>
                  <a:schemeClr val="tx1"/>
                </a:solidFill>
                <a:latin typeface="Montserrat"/>
                <a:ea typeface="Arial"/>
                <a:cs typeface="Arial"/>
              </a:defRPr>
            </a:pPr>
            <a:endParaRPr lang="ru-RU"/>
          </a:p>
        </c:txPr>
        <c:crossAx val="1173587135"/>
        <c:crosses val="autoZero"/>
        <c:auto val="1"/>
        <c:lblAlgn val="ctr"/>
        <c:lblOffset val="100"/>
        <c:noMultiLvlLbl val="0"/>
      </c:catAx>
      <c:valAx>
        <c:axId val="1173587135"/>
        <c:scaling>
          <c:orientation val="minMax"/>
        </c:scaling>
        <c:delete val="0"/>
        <c:axPos val="b"/>
        <c:majorGridlines>
          <c:spPr bwMode="auto">
            <a:prstGeom prst="rect">
              <a:avLst/>
            </a:prstGeom>
            <a:ln w="9525" cap="flat" cmpd="sng" algn="ctr">
              <a:solidFill>
                <a:schemeClr val="tx1">
                  <a:alpha val="5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 bwMode="auto">
          <a:prstGeom prst="rect">
            <a:avLst/>
          </a:prstGeom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>
                <a:solidFill>
                  <a:schemeClr val="tx1"/>
                </a:solidFill>
                <a:latin typeface="Montserrat"/>
                <a:ea typeface="Arial"/>
                <a:cs typeface="Arial"/>
              </a:defRPr>
            </a:pPr>
            <a:endParaRPr lang="ru-RU"/>
          </a:p>
        </c:txPr>
        <c:crossAx val="1688540351"/>
        <c:crosses val="autoZero"/>
        <c:crossBetween val="between"/>
        <c:majorUnit val="1.000000"/>
      </c:valAx>
      <c:spPr bwMode="auto">
        <a:prstGeom prst="rect">
          <a:avLst/>
        </a:prstGeom>
        <a:noFill/>
        <a:ln>
          <a:noFill/>
        </a:ln>
        <a:effectLst/>
      </c:spPr>
    </c:plotArea>
    <c:plotVisOnly val="1"/>
    <c:dispBlanksAs val="gap"/>
    <c:showDLblsOverMax val="0"/>
  </c:chart>
  <c:spPr bwMode="auto">
    <a:xfrm rot="0">
      <a:off x="346075" y="1424510"/>
      <a:ext cx="5749925" cy="4401748"/>
    </a:xfrm>
    <a:prstGeom prst="rect">
      <a:avLst/>
    </a:prstGeom>
    <a:noFill/>
    <a:ln>
      <a:noFill/>
    </a:ln>
    <a:effectLst/>
  </c:spPr>
  <c:txPr>
    <a:bodyPr/>
    <a:lstStyle/>
    <a:p>
      <a:pPr>
        <a:defRPr>
          <a:solidFill>
            <a:schemeClr val="tx1"/>
          </a:solidFill>
        </a:defRPr>
      </a:pPr>
      <a:endParaRPr lang="ru-RU"/>
    </a:p>
  </c:txPr>
  <c:externalData r:id="rId1">
    <c:autoUpdate val="1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mc="http://schemas.openxmlformats.org/markup-compatibility/2006" xmlns:c15="http://schemas.microsoft.com/office/drawing/2012/chart" xmlns:c14="http://schemas.microsoft.com/office/drawing/2007/8/2/chart" xmlns:c16r2="http://schemas.microsoft.com/office/drawing/2015/06/chart">
  <c:date1904 val="0"/>
  <c:lang val="ru-RU"/>
  <c:roundedCorners val="0"/>
  <mc:AlternateContent>
    <mc:Choice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Файлы публичного объекта</c:v>
                </c:pt>
              </c:strCache>
            </c:strRef>
          </c:tx>
          <c:spPr bwMode="auto">
            <a:ln w="63500"/>
          </c:spPr>
          <c:dPt>
            <c:idx val="0"/>
            <c:bubble3D val="0"/>
            <c:spPr bwMode="auto">
              <a:prstGeom prst="rect">
                <a:avLst/>
              </a:prstGeom>
              <a:solidFill>
                <a:schemeClr val="accent1"/>
              </a:solidFill>
              <a:ln w="63500" cap="rnd">
                <a:solidFill>
                  <a:schemeClr val="accent1"/>
                </a:solidFill>
              </a:ln>
              <a:effectLst/>
            </c:spPr>
          </c:dPt>
          <c:dPt>
            <c:idx val="1"/>
            <c:bubble3D val="0"/>
            <c:spPr bwMode="auto">
              <a:prstGeom prst="rect">
                <a:avLst/>
              </a:prstGeom>
              <a:solidFill>
                <a:schemeClr val="accent5"/>
              </a:solidFill>
              <a:ln w="63500" cap="rnd">
                <a:solidFill>
                  <a:schemeClr val="accent5"/>
                </a:solidFill>
              </a:ln>
              <a:effectLst/>
            </c:spPr>
          </c:dPt>
          <c:dPt>
            <c:idx val="2"/>
            <c:bubble3D val="0"/>
            <c:spPr bwMode="auto">
              <a:prstGeom prst="rect">
                <a:avLst/>
              </a:prstGeom>
              <a:solidFill>
                <a:schemeClr val="accent4"/>
              </a:solidFill>
              <a:ln w="63500" cap="rnd">
                <a:solidFill>
                  <a:schemeClr val="accent4"/>
                </a:solidFill>
              </a:ln>
              <a:effectLst/>
            </c:spPr>
          </c:dPt>
          <c:dPt>
            <c:idx val="3"/>
            <c:bubble3D val="0"/>
            <c:spPr bwMode="auto">
              <a:prstGeom prst="rect">
                <a:avLst/>
              </a:prstGeom>
              <a:solidFill>
                <a:schemeClr val="accent2"/>
              </a:solidFill>
              <a:ln w="63500" cap="rnd">
                <a:solidFill>
                  <a:schemeClr val="accent2"/>
                </a:solidFill>
              </a:ln>
              <a:effectLst/>
            </c:spPr>
          </c:dPt>
          <c:dLbls>
            <c:dLbl>
              <c:idx val="2"/>
              <c:layout/>
              <c:showBubbleSize val="0"/>
              <c:showCatName val="0"/>
              <c:showLegendKey val="0"/>
              <c:showPercent val="1"/>
              <c:showSerName val="0"/>
              <c:showVal val="0"/>
              <c:spPr bwMode="auto">
                <a:prstGeom prst="rect">
                  <a:avLst/>
                </a:prstGeom>
                <a:solidFill>
                  <a:prstClr val="white">
                    <a:alpha val="10000"/>
                  </a:prstClr>
                </a:solidFill>
                <a:ln>
                  <a:noFill/>
                </a:ln>
                <a:effectLst/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400" b="1" i="0" u="none" strike="noStrike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</c:dLbl>
            <c:dLbl>
              <c:idx val="3"/>
              <c:layout/>
              <c:showBubbleSize val="0"/>
              <c:showCatName val="0"/>
              <c:showLegendKey val="0"/>
              <c:showPercent val="1"/>
              <c:showSerName val="0"/>
              <c:showVal val="0"/>
              <c:spPr bwMode="auto">
                <a:prstGeom prst="rect">
                  <a:avLst/>
                </a:prstGeom>
                <a:solidFill>
                  <a:prstClr val="white">
                    <a:alpha val="10000"/>
                  </a:prstClr>
                </a:solidFill>
                <a:ln>
                  <a:noFill/>
                </a:ln>
                <a:effectLst/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400" b="1" i="0" u="none" strike="noStrike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</c:dLbl>
            <c:showBubbleSize val="0"/>
            <c:showCatName val="1"/>
            <c:showLeaderLines val="0"/>
            <c:showLegendKey val="0"/>
            <c:showPercent val="1"/>
            <c:showSerName val="0"/>
            <c:showVal val="0"/>
            <c:spPr bwMode="auto">
              <a:prstGeom prst="rect">
                <a:avLst/>
              </a:prstGeom>
              <a:solidFill>
                <a:prstClr val="white">
                  <a:alpha val="10000"/>
                </a:prstClr>
              </a:solidFill>
              <a:ln>
                <a:noFill/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</c:dLbls>
          <c:cat>
            <c:strRef>
              <c:f>Sheet1!$A$2:$A$3</c:f>
              <c:strCache>
                <c:ptCount val="2"/>
                <c:pt idx="0">
                  <c:v>ПД</c:v>
                </c:pt>
                <c:pt idx="1">
                  <c:v>РД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46</c:v>
                </c:pt>
                <c:pt idx="1">
                  <c:v>4</c:v>
                </c:pt>
              </c:numCache>
            </c:numRef>
          </c:val>
        </c:ser>
        <c:dLbls>
          <c:showBubbleSize val="0"/>
          <c:showCatName val="1"/>
          <c:showLeaderLines val="0"/>
          <c:showLegendKey val="0"/>
          <c:showPercent val="1"/>
          <c:showSerName val="0"/>
          <c:showVal val="0"/>
        </c:dLbls>
        <c:firstSliceAng val="0"/>
        <c:holeSize val="75"/>
      </c:doughnutChart>
      <c:spPr bwMode="auto">
        <a:prstGeom prst="rect">
          <a:avLst/>
        </a:prstGeom>
        <a:noFill/>
        <a:ln>
          <a:noFill/>
        </a:ln>
        <a:effectLst/>
      </c:spPr>
    </c:plotArea>
    <c:plotVisOnly val="1"/>
    <c:dispBlanksAs val="gap"/>
    <c:showDLblsOverMax val="0"/>
  </c:chart>
  <c:spPr bwMode="auto">
    <a:xfrm rot="0">
      <a:off x="625096" y="1360288"/>
      <a:ext cx="5125748" cy="4385667"/>
    </a:xfrm>
    <a:prstGeom prst="rect">
      <a:avLst/>
    </a:prstGeom>
    <a:noFill/>
    <a:ln>
      <a:noFill/>
    </a:ln>
    <a:effectLst/>
  </c:spPr>
  <c:txPr>
    <a:bodyPr/>
    <a:lstStyle/>
    <a:p>
      <a:pPr>
        <a:defRPr>
          <a:solidFill>
            <a:schemeClr val="bg1"/>
          </a:solidFill>
        </a:defRPr>
      </a:pPr>
      <a:endParaRPr lang="ru-RU"/>
    </a:p>
  </c:txPr>
  <c:externalData r:id="rId1">
    <c:autoUpdate val="1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5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 bwMode="auto">
      <a:prstGeom prst="rect">
        <a:avLst/>
      </a:prstGeom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200"/>
  </cs:categoryAxis>
  <cs:chartArea>
    <cs:lnRef idx="0"/>
    <cs:fillRef idx="0"/>
    <cs:effectRef idx="0"/>
    <cs:fontRef idx="minor">
      <a:schemeClr val="tx1"/>
    </cs:fontRef>
    <cs:spPr bwMode="auto">
      <a:prstGeom prst="rect">
        <a:avLst/>
      </a:prstGeom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5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 bwMode="auto">
      <a:prstGeom prst="rect">
        <a:avLst/>
      </a:prstGeom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 bwMode="auto">
      <a:prstGeom prst="rect">
        <a:avLst/>
      </a:prstGeom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 bwMode="auto">
      <a:prstGeom prst="rect">
        <a:avLst/>
      </a:prstGeom>
      <a:ln w="9525">
        <a:solidFill>
          <a:schemeClr val="phClr"/>
        </a:solidFill>
      </a:ln>
    </cs:spPr>
  </cs:dataPointMarker>
  <cs:dataPointWireframe>
    <cs:lnRef idx="0">
      <cs:styleClr val="auto"/>
    </cs:lnRef>
    <cs:fillRef idx="1"/>
    <cs:effectRef idx="0"/>
    <cs:fontRef idx="minor">
      <a:schemeClr val="tx1"/>
    </cs:fontRef>
    <cs:spPr bwMode="auto">
      <a:prstGeom prst="rect">
        <a:avLst/>
      </a:prstGeom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 bwMode="auto">
      <a:prstGeom prst="rect">
        <a:avLst/>
      </a:prstGeom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200"/>
  </cs:dataTable>
  <cs:downBar>
    <cs:lnRef idx="0"/>
    <cs:fillRef idx="0"/>
    <cs:effectRef idx="0"/>
    <cs:fontRef idx="minor">
      <a:schemeClr val="dk1"/>
    </cs:fontRef>
    <cs:spPr bwMode="auto">
      <a:prstGeom prst="rect">
        <a:avLst/>
      </a:prstGeom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 bwMode="auto">
      <a:prstGeom prst="rect">
        <a:avLst/>
      </a:prstGeom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200"/>
  </cs:seriesAxis>
  <cs:seriesLine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50" b="0" spc="0"/>
  </cs:title>
  <cs:trendline>
    <cs:lnRef idx="0">
      <cs:styleClr val="auto"/>
    </cs:lnRef>
    <cs:fillRef idx="0"/>
    <cs:effectRef idx="0"/>
    <cs:fontRef idx="minor">
      <a:schemeClr val="tx1"/>
    </cs:fontRef>
    <cs:spPr bwMode="auto">
      <a:prstGeom prst="rect">
        <a:avLst/>
      </a:prstGeom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200"/>
  </cs:trendlineLabel>
  <cs:upBar>
    <cs:lnRef idx="0"/>
    <cs:fillRef idx="0"/>
    <cs:effectRef idx="0"/>
    <cs:fontRef idx="minor">
      <a:schemeClr val="dk1"/>
    </cs:fontRef>
    <cs:spPr bwMode="auto">
      <a:prstGeom prst="rect">
        <a:avLst/>
      </a:prstGeom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200"/>
  </cs:valueAxis>
  <cs:wall>
    <cs:lnRef idx="0"/>
    <cs:fillRef idx="0"/>
    <cs:effectRef idx="0"/>
    <cs:fontRef idx="minor">
      <a:schemeClr val="tx1"/>
    </cs:fontRef>
    <cs:spPr bwMode="auto">
      <a:prstGeom prst="rect">
        <a:avLst/>
      </a:prstGeom>
      <a:noFill/>
      <a:ln>
        <a:noFill/>
      </a:ln>
    </cs:spPr>
  </cs:wall>
  <cs:dataPointMarkerLayout symbol="circle" size="5"/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5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 bwMode="auto">
      <a:prstGeom prst="rect">
        <a:avLst/>
      </a:prstGeom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200"/>
  </cs:categoryAxis>
  <cs:chartArea>
    <cs:lnRef idx="0"/>
    <cs:fillRef idx="0"/>
    <cs:effectRef idx="0"/>
    <cs:fontRef idx="minor">
      <a:schemeClr val="tx1"/>
    </cs:fontRef>
    <cs:spPr bwMode="auto">
      <a:prstGeom prst="rect">
        <a:avLst/>
      </a:prstGeom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5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 bwMode="auto">
      <a:prstGeom prst="rect">
        <a:avLst/>
      </a:prstGeom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 bwMode="auto">
      <a:prstGeom prst="rect">
        <a:avLst/>
      </a:prstGeom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 bwMode="auto">
      <a:prstGeom prst="rect">
        <a:avLst/>
      </a:prstGeom>
      <a:ln w="9525">
        <a:solidFill>
          <a:schemeClr val="phClr"/>
        </a:solidFill>
      </a:ln>
    </cs:spPr>
  </cs:dataPointMarker>
  <cs:dataPointWireframe>
    <cs:lnRef idx="0">
      <cs:styleClr val="auto"/>
    </cs:lnRef>
    <cs:fillRef idx="1"/>
    <cs:effectRef idx="0"/>
    <cs:fontRef idx="minor">
      <a:schemeClr val="tx1"/>
    </cs:fontRef>
    <cs:spPr bwMode="auto">
      <a:prstGeom prst="rect">
        <a:avLst/>
      </a:prstGeom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 bwMode="auto">
      <a:prstGeom prst="rect">
        <a:avLst/>
      </a:prstGeom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200"/>
  </cs:dataTable>
  <cs:downBar>
    <cs:lnRef idx="0"/>
    <cs:fillRef idx="0"/>
    <cs:effectRef idx="0"/>
    <cs:fontRef idx="minor">
      <a:schemeClr val="dk1"/>
    </cs:fontRef>
    <cs:spPr bwMode="auto">
      <a:prstGeom prst="rect">
        <a:avLst/>
      </a:prstGeom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 bwMode="auto">
      <a:prstGeom prst="rect">
        <a:avLst/>
      </a:prstGeom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200"/>
  </cs:seriesAxis>
  <cs:seriesLine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50" b="0" spc="0"/>
  </cs:title>
  <cs:trendline>
    <cs:lnRef idx="0">
      <cs:styleClr val="auto"/>
    </cs:lnRef>
    <cs:fillRef idx="0"/>
    <cs:effectRef idx="0"/>
    <cs:fontRef idx="minor">
      <a:schemeClr val="tx1"/>
    </cs:fontRef>
    <cs:spPr bwMode="auto">
      <a:prstGeom prst="rect">
        <a:avLst/>
      </a:prstGeom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200"/>
  </cs:trendlineLabel>
  <cs:upBar>
    <cs:lnRef idx="0"/>
    <cs:fillRef idx="0"/>
    <cs:effectRef idx="0"/>
    <cs:fontRef idx="minor">
      <a:schemeClr val="dk1"/>
    </cs:fontRef>
    <cs:spPr bwMode="auto">
      <a:prstGeom prst="rect">
        <a:avLst/>
      </a:prstGeom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200"/>
  </cs:valueAxis>
  <cs:wall>
    <cs:lnRef idx="0"/>
    <cs:fillRef idx="0"/>
    <cs:effectRef idx="0"/>
    <cs:fontRef idx="minor">
      <a:schemeClr val="tx1"/>
    </cs:fontRef>
    <cs:spPr bwMode="auto">
      <a:prstGeom prst="rect">
        <a:avLst/>
      </a:prstGeom>
      <a:noFill/>
      <a:ln>
        <a:noFill/>
      </a:ln>
    </cs:spPr>
  </cs:wall>
  <cs:dataPointMarkerLayout symbol="circle" size="5"/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5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 bwMode="auto">
      <a:prstGeom prst="rect">
        <a:avLst/>
      </a:prstGeom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200"/>
  </cs:categoryAxis>
  <cs:chartArea>
    <cs:lnRef idx="0"/>
    <cs:fillRef idx="0"/>
    <cs:effectRef idx="0"/>
    <cs:fontRef idx="minor">
      <a:schemeClr val="tx1"/>
    </cs:fontRef>
    <cs:spPr bwMode="auto">
      <a:prstGeom prst="rect">
        <a:avLst/>
      </a:prstGeom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 bwMode="auto">
      <a:prstGeom prst="rect">
        <a:avLst/>
      </a:prstGeom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 bwMode="auto">
      <a:prstGeom prst="rect">
        <a:avLst/>
      </a:prstGeom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 bwMode="auto">
      <a:prstGeom prst="rect">
        <a:avLst/>
      </a:prstGeom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 bwMode="auto">
      <a:prstGeom prst="rect">
        <a:avLst/>
      </a:prstGeom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 bwMode="auto">
      <a:prstGeom prst="rect">
        <a:avLst/>
      </a:prstGeom>
      <a:ln w="9525">
        <a:solidFill>
          <a:schemeClr val="phClr"/>
        </a:solidFill>
      </a:ln>
    </cs:spPr>
  </cs:dataPointMarker>
  <cs:dataPointWireframe>
    <cs:lnRef idx="0">
      <cs:styleClr val="auto"/>
    </cs:lnRef>
    <cs:fillRef idx="0"/>
    <cs:effectRef idx="0"/>
    <cs:fontRef idx="minor">
      <a:schemeClr val="tx1"/>
    </cs:fontRef>
    <cs:spPr bwMode="auto">
      <a:prstGeom prst="rect">
        <a:avLst/>
      </a:prstGeom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 bwMode="auto">
      <a:prstGeom prst="rect">
        <a:avLst/>
      </a:prstGeom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200"/>
  </cs:dataTable>
  <cs:downBar>
    <cs:lnRef idx="0"/>
    <cs:fillRef idx="0"/>
    <cs:effectRef idx="0"/>
    <cs:fontRef idx="minor">
      <a:schemeClr val="tx1"/>
    </cs:fontRef>
    <cs:spPr bwMode="auto">
      <a:prstGeom prst="rect">
        <a:avLst/>
      </a:prstGeom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 bwMode="auto">
      <a:prstGeom prst="rect">
        <a:avLst/>
      </a:prstGeom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200"/>
  </cs:seriesAxis>
  <cs:seriesLine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50" b="0" spc="0"/>
  </cs:title>
  <cs:trendline>
    <cs:lnRef idx="0">
      <cs:styleClr val="auto"/>
    </cs:lnRef>
    <cs:fillRef idx="0"/>
    <cs:effectRef idx="0"/>
    <cs:fontRef idx="minor">
      <a:schemeClr val="tx1"/>
    </cs:fontRef>
    <cs:spPr bwMode="auto">
      <a:prstGeom prst="rect">
        <a:avLst/>
      </a:prstGeom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200"/>
  </cs:trendlineLabel>
  <cs:upBar>
    <cs:lnRef idx="0"/>
    <cs:fillRef idx="0"/>
    <cs:effectRef idx="0"/>
    <cs:fontRef idx="minor">
      <a:schemeClr val="tx1"/>
    </cs:fontRef>
    <cs:spPr bwMode="auto">
      <a:prstGeom prst="rect">
        <a:avLst/>
      </a:prstGeom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200"/>
  </cs:valueAxis>
  <cs:wall>
    <cs:lnRef idx="0"/>
    <cs:fillRef idx="0"/>
    <cs:effectRef idx="0"/>
    <cs:fontRef idx="minor">
      <a:schemeClr val="tx1"/>
    </cs:fontRef>
    <cs:spPr bwMode="auto">
      <a:prstGeom prst="rect">
        <a:avLst/>
      </a:prstGeom>
      <a:noFill/>
      <a:ln>
        <a:noFill/>
      </a:ln>
    </cs:spPr>
  </cs:wall>
  <cs:dataPointMarkerLayout symbol="circle" size="5"/>
</cs:chartStyl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1812951" name="Верхний колонтитул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776178070" name="Дата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9DA401BA-3150-4FF7-8D13-C8A64268AC63}" type="datetimeFigureOut">
              <a:rPr lang="ru-RU"/>
              <a:t>14.09.2026</a:t>
            </a:fld>
            <a:endParaRPr lang="ru-RU"/>
          </a:p>
        </p:txBody>
      </p:sp>
      <p:sp>
        <p:nvSpPr>
          <p:cNvPr id="1008376219" name="Образ слайда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ru-RU"/>
          </a:p>
        </p:txBody>
      </p:sp>
      <p:sp>
        <p:nvSpPr>
          <p:cNvPr id="657332147" name="Заметки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161909993" name="Нижний колонтитул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232077215" name="Номер слайда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3D5F3B14-7AC8-406F-A299-37D374056E4F}" type="slidenum">
              <a:rPr lang="ru-RU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arXiv: GLM-OCR 2605.14930; WildHandBench 2608.17012; DocTrace 2608.02149; State-Conditioned Visual Evidence Retrieval 2608.19233; The Count Is There, but Misaligned 2607.07615; ABACUS 2606.18210; PolarSym 2608.06244; RealCADBench 2609.02871; ARCHER 2607.21883; Geometry-Intensive Compliance Checking in BIM 2606.08715; Trustworthy Agentic AI 2609.22712; Doc2DB-Bench 2608.08459 (таблицы). Перед питчем сверить карточки источников.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r>
              <a:t>Тезис всего доклада: ядро продукта не OCR, а доказательная цепочка «актуальная редакция → доказательное извлечение → атомарное правило → решение инспектора». Источник: README репозитория github.com/KonkovDV/Kontur, срез 28.09.2026.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F4A0333-DA6B-BAA6-F9EA-5D8AC4D62B1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29B8682-549C-E1BB-F508-D1525C1FC77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1444576" name="Образ слайда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32661015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203626082" name="Номер слайда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3D5F3B14-7AC8-406F-A299-37D374056E4F}" type="slidenum">
              <a:rPr lang="ru-RU"/>
              <a:t>9</a:t>
            </a:fld>
            <a:endParaRPr lang="ru-RU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8542127" name="Образ слайда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51567493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959428012" name="Номер слайда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3D5F3B14-7AC8-406F-A299-37D374056E4F}" type="slidenum">
              <a:rPr lang="ru-RU"/>
              <a:t>10</a:t>
            </a:fld>
            <a:endParaRPr lang="ru-RU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r>
              <a:t>Ответы организатора 26.09.2026: №10 (форматы), №11–12 (эталон), №28 (3 действия), №23 (локальный прогон). Стек и отклонения: docs/STACK_DEVIATIONS.md.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2299260-C65D-4A5C-3C37-B22449FEC14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85E67B9-54C4-EB22-8C9E-0FC5BA1455A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r>
              <a:t>Цитата — по записи сессии вопросов и ответов 16.09.2026; текста записи в репозитории нет. Ответы 11, 12, 19, 23 — docs/ORGANIZER_ANSWERS_2026_09_26.md.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F6433E8-611F-BD03-8F63-CEE1C3799AA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Порядок питча по ответу 13: сначала живое демо, затем архитектура и метрики. Шаги 1–6 пройдены через API на коде main 28.09: submission/04-prototype, раздел 7. Отклонение без reason_code — 409.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B10654A-DB5D-4FA2-BFBA-DA32D08A679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7D2C792-5871-848D-AF35-371AFE72CB4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3EDA9EC-F428-112D-3923-9BEBB546110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r>
              <a:t>Честный кейс вместо иллюстративного «42,5 = 42,5»: TRAIN-0006 в разметке — нарушение (вытяжка отсутствует), а не совпадение. Цепочка прогонов 24–28.09 последовательно сняла стопоры: пустой шифр → утверждение → sole_head → якорь шифра; текущий стопор — якорь числа на листе.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3899ED4-F20B-0701-D13A-3B951D3B50D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docs/OCR_BAKEOFF.md: образ kontur-core, 26.09.2026, корпус SILVER PDF_TEXT_LAYER без Речникова. eslav: mean_ca 0,794, tz_low 0,663, gate_i_low 0,632; Tesseract 5.5: 0,777 / 0,635 / 0,603. Пороги 0,95/0,97 не взяты, гейт I открыт.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2C2024A-A9FC-D896-80FF-52C5C7D0B8F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3F06EBC-152B-39B7-84F3-BD9F4D07ECD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F8989F1-D0BC-C9C6-34DF-3DCD13FDA7B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r>
              <a:t>46 · 4 · 0: объект OBJ-TYUMENSKAYA-5-GOLD-SEED, загружено 46 ПД и 4 РД, ИД нет; cipher=null у всех 50 файлов (docs/GOLD_DIAGNOSIS.md). Прежнее число 85,9% сканов (2 675 из 3 114) в репозитории не записано — без скрипта и лога на слайд не возвращать. 30 минут — ответ организатора 16, три действия — ответ 28.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BBE8A63-6423-9D1A-6C53-0FD2972D0E4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90EF839-8C2F-1635-BA9E-18E16C38491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r>
              <a:t>docs/ARCHITECTURE.md: gateway :3000 (лимиты, статика, статусов не пишет) → ядро :8000 (JWT, роль, object_id; PDF в дочернем процессе с таймаутом) → детерминированный путь из 4 шагов → протокол → mock-очередь РиН.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366C42D-DEF1-692D-EB23-56912B18EA7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Титульный слайд">
    <p:bg>
      <p:bgPr shadeToTitle="0">
        <a:blipFill rotWithShape="1"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3682889" name="Рисунок 10"/>
          <p:cNvSpPr>
            <a:spLocks noGrp="1"/>
          </p:cNvSpPr>
          <p:nvPr>
            <p:ph type="pic" sz="quarter" idx="10" hasCustomPrompt="1"/>
          </p:nvPr>
        </p:nvSpPr>
        <p:spPr bwMode="auto">
          <a:xfrm>
            <a:off x="6792000" y="395288"/>
            <a:ext cx="5400000" cy="5400000"/>
          </a:xfrm>
        </p:spPr>
        <p:txBody>
          <a:bodyPr anchor="ctr" anchorCtr="0"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Иконка задачи</a:t>
            </a:r>
            <a:endParaRPr/>
          </a:p>
        </p:txBody>
      </p:sp>
      <p:sp>
        <p:nvSpPr>
          <p:cNvPr id="880295750" name="Заголовок 1"/>
          <p:cNvSpPr>
            <a:spLocks noGrp="1"/>
          </p:cNvSpPr>
          <p:nvPr>
            <p:ph type="ctrTitle" hasCustomPrompt="1"/>
          </p:nvPr>
        </p:nvSpPr>
        <p:spPr bwMode="auto">
          <a:xfrm>
            <a:off x="0" y="4323440"/>
            <a:ext cx="8930641" cy="827011"/>
          </a:xfrm>
          <a:prstGeom prst="rect">
            <a:avLst/>
          </a:prstGeom>
          <a:noFill/>
        </p:spPr>
        <p:txBody>
          <a:bodyPr anchor="ctr" anchorCtr="0"/>
          <a:lstStyle>
            <a:lvl1pPr marL="0" indent="712788"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r>
              <a:rPr lang="ru-RU"/>
              <a:t>НАЗВАНИЕ КОМАНДЫ</a:t>
            </a:r>
            <a:endParaRPr/>
          </a:p>
        </p:txBody>
      </p:sp>
      <p:sp>
        <p:nvSpPr>
          <p:cNvPr id="401620835" name="Рисунок 41"/>
          <p:cNvSpPr>
            <a:spLocks noGrp="1"/>
          </p:cNvSpPr>
          <p:nvPr>
            <p:ph type="pic" sz="quarter" idx="11" hasCustomPrompt="1"/>
          </p:nvPr>
        </p:nvSpPr>
        <p:spPr bwMode="auto">
          <a:xfrm>
            <a:off x="802640" y="2911980"/>
            <a:ext cx="3386773" cy="1082589"/>
          </a:xfrm>
        </p:spPr>
        <p:txBody>
          <a:bodyPr anchor="ctr" anchorCtr="0"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Логотип/логотипы постановщика задачи</a:t>
            </a:r>
            <a:endParaRPr/>
          </a:p>
        </p:txBody>
      </p:sp>
      <p:sp>
        <p:nvSpPr>
          <p:cNvPr id="602869623" name="Текст 4"/>
          <p:cNvSpPr>
            <a:spLocks noGrp="1"/>
          </p:cNvSpPr>
          <p:nvPr>
            <p:ph type="body" sz="quarter" idx="12" hasCustomPrompt="1"/>
          </p:nvPr>
        </p:nvSpPr>
        <p:spPr bwMode="auto">
          <a:xfrm>
            <a:off x="0" y="5149851"/>
            <a:ext cx="8930641" cy="757174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0" indent="712788">
              <a:buNone/>
              <a:defRPr sz="1800"/>
            </a:lvl1pPr>
          </a:lstStyle>
          <a:p>
            <a:pPr>
              <a:defRPr/>
            </a:pPr>
            <a:r>
              <a:rPr lang="ru-RU" sz="1600" b="0"/>
              <a:t>Номер и название задачи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1_Описание команды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7076004" name="Рисунок 10"/>
          <p:cNvSpPr>
            <a:spLocks noGrp="1"/>
          </p:cNvSpPr>
          <p:nvPr>
            <p:ph type="pic" sz="quarter" idx="10" hasCustomPrompt="1"/>
          </p:nvPr>
        </p:nvSpPr>
        <p:spPr bwMode="auto">
          <a:xfrm>
            <a:off x="6894095" y="1044081"/>
            <a:ext cx="4962943" cy="2221824"/>
          </a:xfrm>
        </p:spPr>
        <p:txBody>
          <a:bodyPr anchor="ctr" anchorCtr="0"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Фото команды</a:t>
            </a:r>
            <a:endParaRPr/>
          </a:p>
        </p:txBody>
      </p:sp>
      <p:sp>
        <p:nvSpPr>
          <p:cNvPr id="1666356196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КОМАНДА «НАЗВАНИЕ»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Команд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5223789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67EB9651-F031-4963-AFE9-33BCC0E88757}" type="datetime1">
              <a:rPr lang="ru-RU"/>
              <a:t>16.09.2026</a:t>
            </a:fld>
            <a:endParaRPr lang="ru-RU"/>
          </a:p>
        </p:txBody>
      </p:sp>
      <p:sp>
        <p:nvSpPr>
          <p:cNvPr id="1048786552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993809064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4</a:t>
            </a:fld>
            <a:endParaRPr lang="ru-RU"/>
          </a:p>
        </p:txBody>
      </p:sp>
      <p:sp>
        <p:nvSpPr>
          <p:cNvPr id="1927366780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КОМАНДА «НАЗВАНИЕ»</a:t>
            </a:r>
            <a:endParaRPr/>
          </a:p>
        </p:txBody>
      </p:sp>
      <p:sp>
        <p:nvSpPr>
          <p:cNvPr id="1795973529" name="Текст 35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806323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  <p:sp>
        <p:nvSpPr>
          <p:cNvPr id="1913937985" name="Текст 35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3014568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  <p:sp>
        <p:nvSpPr>
          <p:cNvPr id="11548332" name="Текст 35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5191192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  <p:sp>
        <p:nvSpPr>
          <p:cNvPr id="2000063644" name="Текст 35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7366644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  <p:sp>
        <p:nvSpPr>
          <p:cNvPr id="660029963" name="Текст 35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9542096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Пустой с заголовком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8560272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1021F813-DBA1-42EC-A748-A9CC16659E6B}" type="datetime1">
              <a:rPr lang="ru-RU"/>
              <a:t>16.09.2026</a:t>
            </a:fld>
            <a:endParaRPr lang="ru-RU"/>
          </a:p>
        </p:txBody>
      </p:sp>
      <p:sp>
        <p:nvSpPr>
          <p:cNvPr id="1123256481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07451837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5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Заголовок и объек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1669326" name="Текст 2"/>
          <p:cNvSpPr>
            <a:spLocks noGrp="1"/>
          </p:cNvSpPr>
          <p:nvPr>
            <p:ph idx="1"/>
          </p:nvPr>
        </p:nvSpPr>
        <p:spPr bwMode="auto"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  <a:lvl2pPr>
              <a:defRPr>
                <a:solidFill>
                  <a:schemeClr val="bg1">
                    <a:lumMod val="95000"/>
                  </a:schemeClr>
                </a:solidFill>
              </a:defRPr>
            </a:lvl2pPr>
            <a:lvl3pPr>
              <a:defRPr>
                <a:solidFill>
                  <a:schemeClr val="bg1">
                    <a:lumMod val="95000"/>
                  </a:schemeClr>
                </a:solidFill>
              </a:defRPr>
            </a:lvl3pPr>
            <a:lvl4pPr>
              <a:defRPr>
                <a:solidFill>
                  <a:schemeClr val="bg1">
                    <a:lumMod val="95000"/>
                  </a:schemeClr>
                </a:solidFill>
              </a:defRPr>
            </a:lvl4pPr>
            <a:lvl5pPr>
              <a:defRPr>
                <a:solidFill>
                  <a:schemeClr val="bg1">
                    <a:lumMod val="95000"/>
                  </a:schemeClr>
                </a:solidFill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712371166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7DE2642A-6018-4CC1-81AB-5FD8D2782D4F}" type="datetime1">
              <a:rPr lang="ru-RU"/>
              <a:t>16.09.2026</a:t>
            </a:fld>
            <a:endParaRPr lang="ru-RU"/>
          </a:p>
        </p:txBody>
      </p:sp>
      <p:sp>
        <p:nvSpPr>
          <p:cNvPr id="1858665391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410582817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454463469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Два объект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8536032" name="Объект 2"/>
          <p:cNvSpPr>
            <a:spLocks noGrp="1"/>
          </p:cNvSpPr>
          <p:nvPr>
            <p:ph sz="half" idx="1"/>
          </p:nvPr>
        </p:nvSpPr>
        <p:spPr bwMode="auto">
          <a:xfrm>
            <a:off x="315387" y="1016001"/>
            <a:ext cx="5704418" cy="5184774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042926064" name="Объект 3"/>
          <p:cNvSpPr>
            <a:spLocks noGrp="1"/>
          </p:cNvSpPr>
          <p:nvPr>
            <p:ph sz="half" idx="2"/>
          </p:nvPr>
        </p:nvSpPr>
        <p:spPr bwMode="auto">
          <a:xfrm>
            <a:off x="6172206" y="1016001"/>
            <a:ext cx="5670472" cy="5184774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889770961" name="Дата 3"/>
          <p:cNvSpPr>
            <a:spLocks noGrp="1"/>
          </p:cNvSpPr>
          <p:nvPr>
            <p:ph type="dt" sz="half" idx="10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43014BBE-C503-4380-A869-5EE8294FE947}" type="datetime1">
              <a:rPr lang="ru-RU"/>
              <a:t>16.09.2026</a:t>
            </a:fld>
            <a:endParaRPr lang="ru-RU"/>
          </a:p>
        </p:txBody>
      </p:sp>
      <p:sp>
        <p:nvSpPr>
          <p:cNvPr id="1213391983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837774908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919287558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Сравнени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8555898" name="Текст 2"/>
          <p:cNvSpPr>
            <a:spLocks noGrp="1"/>
          </p:cNvSpPr>
          <p:nvPr>
            <p:ph type="body" idx="1"/>
          </p:nvPr>
        </p:nvSpPr>
        <p:spPr bwMode="auto">
          <a:xfrm>
            <a:off x="315386" y="1015427"/>
            <a:ext cx="5682193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50" b="1"/>
            </a:lvl2pPr>
            <a:lvl3pPr marL="578755" indent="0">
              <a:buNone/>
              <a:defRPr sz="1150" b="1"/>
            </a:lvl3pPr>
            <a:lvl4pPr marL="868132" indent="0">
              <a:buNone/>
              <a:defRPr sz="1000" b="1"/>
            </a:lvl4pPr>
            <a:lvl5pPr marL="1157510" indent="0">
              <a:buNone/>
              <a:defRPr sz="1000" b="1"/>
            </a:lvl5pPr>
            <a:lvl6pPr marL="1446887" indent="0">
              <a:buNone/>
              <a:defRPr sz="1000" b="1"/>
            </a:lvl6pPr>
            <a:lvl7pPr marL="1736266" indent="0">
              <a:buNone/>
              <a:defRPr sz="1000" b="1"/>
            </a:lvl7pPr>
            <a:lvl8pPr marL="2025644" indent="0">
              <a:buNone/>
              <a:defRPr sz="1000" b="1"/>
            </a:lvl8pPr>
            <a:lvl9pPr marL="2315021" indent="0">
              <a:buNone/>
              <a:defRPr sz="10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017223496" name="Объект 3"/>
          <p:cNvSpPr>
            <a:spLocks noGrp="1"/>
          </p:cNvSpPr>
          <p:nvPr>
            <p:ph sz="half" idx="2"/>
          </p:nvPr>
        </p:nvSpPr>
        <p:spPr bwMode="auto">
          <a:xfrm>
            <a:off x="349334" y="1598615"/>
            <a:ext cx="5648250" cy="460216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731636676" name="Текст 4"/>
          <p:cNvSpPr>
            <a:spLocks noGrp="1"/>
          </p:cNvSpPr>
          <p:nvPr>
            <p:ph type="body" sz="quarter" idx="3"/>
          </p:nvPr>
        </p:nvSpPr>
        <p:spPr bwMode="auto">
          <a:xfrm>
            <a:off x="6172205" y="1015427"/>
            <a:ext cx="5684841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50" b="1"/>
            </a:lvl2pPr>
            <a:lvl3pPr marL="578755" indent="0">
              <a:buNone/>
              <a:defRPr sz="1150" b="1"/>
            </a:lvl3pPr>
            <a:lvl4pPr marL="868132" indent="0">
              <a:buNone/>
              <a:defRPr sz="1000" b="1"/>
            </a:lvl4pPr>
            <a:lvl5pPr marL="1157510" indent="0">
              <a:buNone/>
              <a:defRPr sz="1000" b="1"/>
            </a:lvl5pPr>
            <a:lvl6pPr marL="1446887" indent="0">
              <a:buNone/>
              <a:defRPr sz="1000" b="1"/>
            </a:lvl6pPr>
            <a:lvl7pPr marL="1736266" indent="0">
              <a:buNone/>
              <a:defRPr sz="1000" b="1"/>
            </a:lvl7pPr>
            <a:lvl8pPr marL="2025644" indent="0">
              <a:buNone/>
              <a:defRPr sz="1000" b="1"/>
            </a:lvl8pPr>
            <a:lvl9pPr marL="2315021" indent="0">
              <a:buNone/>
              <a:defRPr sz="10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791712141" name="Объект 5"/>
          <p:cNvSpPr>
            <a:spLocks noGrp="1"/>
          </p:cNvSpPr>
          <p:nvPr>
            <p:ph sz="quarter" idx="4"/>
          </p:nvPr>
        </p:nvSpPr>
        <p:spPr bwMode="auto">
          <a:xfrm>
            <a:off x="6172202" y="1598615"/>
            <a:ext cx="5670472" cy="460216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72805432" name="Дата 3"/>
          <p:cNvSpPr>
            <a:spLocks noGrp="1"/>
          </p:cNvSpPr>
          <p:nvPr>
            <p:ph type="dt" sz="half" idx="10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0D568497-304A-497F-ADAE-97D3CF462C1C}" type="datetime1">
              <a:rPr lang="ru-RU"/>
              <a:t>16.09.2026</a:t>
            </a:fld>
            <a:endParaRPr lang="ru-RU"/>
          </a:p>
        </p:txBody>
      </p:sp>
      <p:sp>
        <p:nvSpPr>
          <p:cNvPr id="657734324" name="Нижний колонтитул 4"/>
          <p:cNvSpPr>
            <a:spLocks noGrp="1"/>
          </p:cNvSpPr>
          <p:nvPr>
            <p:ph type="ftr" sz="quarter" idx="11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41445009" name="Номер слайда 5"/>
          <p:cNvSpPr>
            <a:spLocks noGrp="1"/>
          </p:cNvSpPr>
          <p:nvPr>
            <p:ph type="sldNum" sz="quarter" idx="12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1291046477" name="Заголовок 1"/>
          <p:cNvSpPr>
            <a:spLocks noGrp="1"/>
          </p:cNvSpPr>
          <p:nvPr>
            <p:ph type="title"/>
          </p:nvPr>
        </p:nvSpPr>
        <p:spPr bwMode="auto">
          <a:xfrm>
            <a:off x="349334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Пусто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8121395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92CB240C-04A3-49D4-83F9-87A9C6C414DC}" type="datetime1">
              <a:rPr lang="ru-RU"/>
              <a:t>16.09.2026</a:t>
            </a:fld>
            <a:endParaRPr lang="ru-RU"/>
          </a:p>
        </p:txBody>
      </p:sp>
      <p:sp>
        <p:nvSpPr>
          <p:cNvPr id="1484279738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486186759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Объект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1850110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334966" y="1015999"/>
            <a:ext cx="4437062" cy="1213417"/>
          </a:xfrm>
        </p:spPr>
        <p:txBody>
          <a:bodyPr anchor="b"/>
          <a:lstStyle>
            <a:lvl1pPr>
              <a:defRPr sz="24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975281028" name="Объект 2"/>
          <p:cNvSpPr>
            <a:spLocks noGrp="1"/>
          </p:cNvSpPr>
          <p:nvPr>
            <p:ph idx="1"/>
          </p:nvPr>
        </p:nvSpPr>
        <p:spPr bwMode="auto">
          <a:xfrm>
            <a:off x="5183194" y="1015999"/>
            <a:ext cx="6673847" cy="5049521"/>
          </a:xfrm>
        </p:spPr>
        <p:txBody>
          <a:bodyPr>
            <a:normAutofit/>
          </a:bodyPr>
          <a:lstStyle>
            <a:lvl1pPr>
              <a:defRPr sz="1750"/>
            </a:lvl1pPr>
            <a:lvl2pPr>
              <a:defRPr sz="1500"/>
            </a:lvl2pPr>
            <a:lvl3pPr>
              <a:defRPr sz="1250"/>
            </a:lvl3pPr>
            <a:lvl4pPr>
              <a:defRPr sz="1150"/>
            </a:lvl4pPr>
            <a:lvl5pPr>
              <a:defRPr sz="1150"/>
            </a:lvl5pPr>
            <a:lvl6pPr>
              <a:defRPr sz="1250"/>
            </a:lvl6pPr>
            <a:lvl7pPr>
              <a:defRPr sz="1250"/>
            </a:lvl7pPr>
            <a:lvl8pPr>
              <a:defRPr sz="1250"/>
            </a:lvl8pPr>
            <a:lvl9pPr>
              <a:defRPr sz="125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896366570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334966" y="2428239"/>
            <a:ext cx="4437062" cy="363728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89378" indent="0">
              <a:buNone/>
              <a:defRPr sz="900"/>
            </a:lvl2pPr>
            <a:lvl3pPr marL="578755" indent="0">
              <a:buNone/>
              <a:defRPr sz="750"/>
            </a:lvl3pPr>
            <a:lvl4pPr marL="868132" indent="0">
              <a:buNone/>
              <a:defRPr sz="650"/>
            </a:lvl4pPr>
            <a:lvl5pPr marL="1157510" indent="0">
              <a:buNone/>
              <a:defRPr sz="650"/>
            </a:lvl5pPr>
            <a:lvl6pPr marL="1446887" indent="0">
              <a:buNone/>
              <a:defRPr sz="650"/>
            </a:lvl6pPr>
            <a:lvl7pPr marL="1736266" indent="0">
              <a:buNone/>
              <a:defRPr sz="650"/>
            </a:lvl7pPr>
            <a:lvl8pPr marL="2025644" indent="0">
              <a:buNone/>
              <a:defRPr sz="650"/>
            </a:lvl8pPr>
            <a:lvl9pPr marL="2315021" indent="0">
              <a:buNone/>
              <a:defRPr sz="65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376611987" name="Дата 3"/>
          <p:cNvSpPr>
            <a:spLocks noGrp="1"/>
          </p:cNvSpPr>
          <p:nvPr>
            <p:ph type="dt" sz="half" idx="10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DE74468B-3512-454B-AB51-7AE95604D39E}" type="datetime1">
              <a:rPr lang="ru-RU"/>
              <a:t>16.09.2026</a:t>
            </a:fld>
            <a:endParaRPr lang="ru-RU"/>
          </a:p>
        </p:txBody>
      </p:sp>
      <p:sp>
        <p:nvSpPr>
          <p:cNvPr id="1556152487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914589556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Рисунок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801652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BAB2196-A440-4E25-B9FF-D0ADB01B1A15}" type="datetime1">
              <a:rPr lang="ru-RU"/>
              <a:t>16.09.2026</a:t>
            </a:fld>
            <a:endParaRPr lang="ru-RU"/>
          </a:p>
        </p:txBody>
      </p:sp>
      <p:sp>
        <p:nvSpPr>
          <p:cNvPr id="2075348248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519872225" name="Заголовок 1"/>
          <p:cNvSpPr>
            <a:spLocks noGrp="1"/>
          </p:cNvSpPr>
          <p:nvPr>
            <p:ph type="ctrTitle" hasCustomPrompt="1"/>
          </p:nvPr>
        </p:nvSpPr>
        <p:spPr bwMode="auto">
          <a:xfrm>
            <a:off x="802640" y="3922529"/>
            <a:ext cx="5293359" cy="1654542"/>
          </a:xfrm>
        </p:spPr>
        <p:txBody>
          <a:bodyPr anchor="ctr" anchorCtr="0"/>
          <a:lstStyle>
            <a:lvl1pPr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968345768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1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Содержание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1270877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C7BAE699-64F9-49EF-B784-2DEF2B221955}" type="datetime1">
              <a:rPr lang="ru-RU"/>
              <a:t>16.09.2026</a:t>
            </a:fld>
            <a:endParaRPr lang="ru-RU"/>
          </a:p>
        </p:txBody>
      </p:sp>
      <p:sp>
        <p:nvSpPr>
          <p:cNvPr id="1950419902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0005845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1792380901" name="Текст 6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1873541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1874422937" name="Текст 9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1873544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1694822356" name="Текст 6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1854185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269095115" name="Текст 9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1854185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1682530970" name="Текст 6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1854185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1926454970" name="Текст 9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1854185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1069797757" name="Текст 6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7546648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1635738940" name="Текст 9"/>
          <p:cNvSpPr>
            <a:spLocks noGrp="1"/>
          </p:cNvSpPr>
          <p:nvPr>
            <p:ph type="body" sz="quarter" idx="44" hasCustomPrompt="1"/>
          </p:nvPr>
        </p:nvSpPr>
        <p:spPr bwMode="auto">
          <a:xfrm>
            <a:off x="7546651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476364177" name="Текст 6"/>
          <p:cNvSpPr>
            <a:spLocks noGrp="1"/>
          </p:cNvSpPr>
          <p:nvPr>
            <p:ph type="body" sz="quarter" idx="45" hasCustomPrompt="1"/>
          </p:nvPr>
        </p:nvSpPr>
        <p:spPr bwMode="auto">
          <a:xfrm>
            <a:off x="7527292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458554842" name="Текст 9"/>
          <p:cNvSpPr>
            <a:spLocks noGrp="1"/>
          </p:cNvSpPr>
          <p:nvPr>
            <p:ph type="body" sz="quarter" idx="46" hasCustomPrompt="1"/>
          </p:nvPr>
        </p:nvSpPr>
        <p:spPr bwMode="auto">
          <a:xfrm>
            <a:off x="7527292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1682611309" name="Текст 6"/>
          <p:cNvSpPr>
            <a:spLocks noGrp="1"/>
          </p:cNvSpPr>
          <p:nvPr>
            <p:ph type="body" sz="quarter" idx="47" hasCustomPrompt="1"/>
          </p:nvPr>
        </p:nvSpPr>
        <p:spPr bwMode="auto">
          <a:xfrm>
            <a:off x="7527292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680188690" name="Текст 9"/>
          <p:cNvSpPr>
            <a:spLocks noGrp="1"/>
          </p:cNvSpPr>
          <p:nvPr>
            <p:ph type="body" sz="quarter" idx="48" hasCustomPrompt="1"/>
          </p:nvPr>
        </p:nvSpPr>
        <p:spPr bwMode="auto">
          <a:xfrm>
            <a:off x="7527292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1957727187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689925399" name="Текст 6"/>
          <p:cNvSpPr>
            <a:spLocks noGrp="1"/>
          </p:cNvSpPr>
          <p:nvPr>
            <p:ph type="body" sz="quarter" idx="49" hasCustomPrompt="1"/>
          </p:nvPr>
        </p:nvSpPr>
        <p:spPr bwMode="auto">
          <a:xfrm>
            <a:off x="778492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01</a:t>
            </a:r>
            <a:endParaRPr/>
          </a:p>
        </p:txBody>
      </p:sp>
      <p:sp>
        <p:nvSpPr>
          <p:cNvPr id="256972101" name="Текст 6"/>
          <p:cNvSpPr>
            <a:spLocks noGrp="1"/>
          </p:cNvSpPr>
          <p:nvPr>
            <p:ph type="body" sz="quarter" idx="50" hasCustomPrompt="1"/>
          </p:nvPr>
        </p:nvSpPr>
        <p:spPr bwMode="auto">
          <a:xfrm>
            <a:off x="759137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02</a:t>
            </a:r>
            <a:endParaRPr/>
          </a:p>
        </p:txBody>
      </p:sp>
      <p:sp>
        <p:nvSpPr>
          <p:cNvPr id="1208148889" name="Текст 6"/>
          <p:cNvSpPr>
            <a:spLocks noGrp="1"/>
          </p:cNvSpPr>
          <p:nvPr>
            <p:ph type="body" sz="quarter" idx="51" hasCustomPrompt="1"/>
          </p:nvPr>
        </p:nvSpPr>
        <p:spPr bwMode="auto">
          <a:xfrm>
            <a:off x="759137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03</a:t>
            </a:r>
            <a:endParaRPr/>
          </a:p>
        </p:txBody>
      </p:sp>
      <p:sp>
        <p:nvSpPr>
          <p:cNvPr id="684210003" name="Текст 6"/>
          <p:cNvSpPr>
            <a:spLocks noGrp="1"/>
          </p:cNvSpPr>
          <p:nvPr>
            <p:ph type="body" sz="quarter" idx="52" hasCustomPrompt="1"/>
          </p:nvPr>
        </p:nvSpPr>
        <p:spPr bwMode="auto">
          <a:xfrm>
            <a:off x="6451600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04</a:t>
            </a:r>
            <a:endParaRPr/>
          </a:p>
        </p:txBody>
      </p:sp>
      <p:sp>
        <p:nvSpPr>
          <p:cNvPr id="12519466" name="Текст 6"/>
          <p:cNvSpPr>
            <a:spLocks noGrp="1"/>
          </p:cNvSpPr>
          <p:nvPr>
            <p:ph type="body" sz="quarter" idx="53" hasCustomPrompt="1"/>
          </p:nvPr>
        </p:nvSpPr>
        <p:spPr bwMode="auto">
          <a:xfrm>
            <a:off x="6432244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05</a:t>
            </a:r>
            <a:endParaRPr/>
          </a:p>
        </p:txBody>
      </p:sp>
      <p:sp>
        <p:nvSpPr>
          <p:cNvPr id="1969617493" name="Текст 6"/>
          <p:cNvSpPr>
            <a:spLocks noGrp="1"/>
          </p:cNvSpPr>
          <p:nvPr>
            <p:ph type="body" sz="quarter" idx="54" hasCustomPrompt="1"/>
          </p:nvPr>
        </p:nvSpPr>
        <p:spPr bwMode="auto">
          <a:xfrm>
            <a:off x="6432244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06</a:t>
            </a: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Фотографии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408475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CAFA80CC-940E-479C-90C0-76DA923785E9}" type="datetime1">
              <a:rPr lang="ru-RU"/>
              <a:t>16.09.2026</a:t>
            </a:fld>
            <a:endParaRPr lang="ru-RU"/>
          </a:p>
        </p:txBody>
      </p:sp>
      <p:sp>
        <p:nvSpPr>
          <p:cNvPr id="2088193324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75758961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1177865552" name="Заголовок 1"/>
          <p:cNvSpPr>
            <a:spLocks noGrp="1"/>
          </p:cNvSpPr>
          <p:nvPr>
            <p:ph type="title"/>
          </p:nvPr>
        </p:nvSpPr>
        <p:spPr bwMode="auto">
          <a:xfrm>
            <a:off x="37268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839753479" name="Рисунок 7"/>
          <p:cNvSpPr>
            <a:spLocks noGrp="1"/>
          </p:cNvSpPr>
          <p:nvPr>
            <p:ph type="pic" sz="quarter" idx="10"/>
          </p:nvPr>
        </p:nvSpPr>
        <p:spPr bwMode="auto">
          <a:xfrm>
            <a:off x="7440147" y="1016001"/>
            <a:ext cx="4405777" cy="3078479"/>
          </a:xfr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967254588" name="Рисунок 9"/>
          <p:cNvSpPr>
            <a:spLocks noGrp="1"/>
          </p:cNvSpPr>
          <p:nvPr>
            <p:ph type="pic" sz="quarter" idx="11"/>
          </p:nvPr>
        </p:nvSpPr>
        <p:spPr bwMode="auto">
          <a:xfrm>
            <a:off x="7440149" y="4389108"/>
            <a:ext cx="4405775" cy="1811668"/>
          </a:xfr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401935067" name="Рисунок 11"/>
          <p:cNvSpPr>
            <a:spLocks noGrp="1"/>
          </p:cNvSpPr>
          <p:nvPr>
            <p:ph type="pic" sz="quarter" idx="12"/>
          </p:nvPr>
        </p:nvSpPr>
        <p:spPr bwMode="auto">
          <a:xfrm>
            <a:off x="346075" y="3223948"/>
            <a:ext cx="6806142" cy="2976827"/>
          </a:xfr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620516688" name="Текст 15"/>
          <p:cNvSpPr>
            <a:spLocks noGrp="1"/>
          </p:cNvSpPr>
          <p:nvPr>
            <p:ph type="body" sz="quarter" idx="14"/>
          </p:nvPr>
        </p:nvSpPr>
        <p:spPr bwMode="auto">
          <a:xfrm>
            <a:off x="346075" y="1016001"/>
            <a:ext cx="6806142" cy="2029882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Пункты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6253298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82A4DA7B-A7D8-4443-AD1C-4C7CDC678488}" type="datetime1">
              <a:rPr lang="ru-RU"/>
              <a:t>16.09.2026</a:t>
            </a:fld>
            <a:endParaRPr lang="ru-RU"/>
          </a:p>
        </p:txBody>
      </p:sp>
      <p:sp>
        <p:nvSpPr>
          <p:cNvPr id="1495724826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884074013" name="Заголовок 1"/>
          <p:cNvSpPr>
            <a:spLocks noGrp="1"/>
          </p:cNvSpPr>
          <p:nvPr>
            <p:ph type="title"/>
          </p:nvPr>
        </p:nvSpPr>
        <p:spPr bwMode="auto"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2103893195" name="Текст 101"/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1994303" y="2973742"/>
            <a:ext cx="2190810" cy="910516"/>
          </a:xfrm>
        </p:spPr>
        <p:txBody>
          <a:bodyPr/>
          <a:lstStyle>
            <a:lvl1pPr marL="0" indent="0" algn="ctr">
              <a:buNone/>
              <a:defRPr lang="ru-RU"/>
            </a:lvl1pPr>
          </a:lstStyle>
          <a:p>
            <a:pPr lvl="0">
              <a:defRPr/>
            </a:pPr>
            <a:r>
              <a:rPr lang="ru-RU"/>
              <a:t>Текст</a:t>
            </a:r>
            <a:endParaRPr/>
          </a:p>
        </p:txBody>
      </p:sp>
      <p:sp>
        <p:nvSpPr>
          <p:cNvPr id="808292524" name="Текст 74"/>
          <p:cNvSpPr>
            <a:spLocks noGrp="1"/>
          </p:cNvSpPr>
          <p:nvPr>
            <p:ph type="body" sz="quarter" idx="15"/>
          </p:nvPr>
        </p:nvSpPr>
        <p:spPr bwMode="auto">
          <a:xfrm>
            <a:off x="6662923" y="158812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031151279" name="Текст 74"/>
          <p:cNvSpPr>
            <a:spLocks noGrp="1"/>
          </p:cNvSpPr>
          <p:nvPr>
            <p:ph type="body" sz="quarter" idx="16"/>
          </p:nvPr>
        </p:nvSpPr>
        <p:spPr bwMode="auto">
          <a:xfrm>
            <a:off x="6662923" y="244513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998998086" name="Текст 74"/>
          <p:cNvSpPr>
            <a:spLocks noGrp="1"/>
          </p:cNvSpPr>
          <p:nvPr>
            <p:ph type="body" sz="quarter" idx="17"/>
          </p:nvPr>
        </p:nvSpPr>
        <p:spPr bwMode="auto">
          <a:xfrm>
            <a:off x="6662923" y="3302147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741709136" name="Текст 74"/>
          <p:cNvSpPr>
            <a:spLocks noGrp="1"/>
          </p:cNvSpPr>
          <p:nvPr>
            <p:ph type="body" sz="quarter" idx="18"/>
          </p:nvPr>
        </p:nvSpPr>
        <p:spPr bwMode="auto">
          <a:xfrm>
            <a:off x="6662923" y="415915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39403092" name="Текст 74"/>
          <p:cNvSpPr>
            <a:spLocks noGrp="1"/>
          </p:cNvSpPr>
          <p:nvPr>
            <p:ph type="body" sz="quarter" idx="19"/>
          </p:nvPr>
        </p:nvSpPr>
        <p:spPr bwMode="auto">
          <a:xfrm>
            <a:off x="6662923" y="501616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Статистик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254082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44E505DF-C567-47F2-9374-60838F800101}" type="datetime1">
              <a:rPr lang="ru-RU"/>
              <a:t>16.09.2026</a:t>
            </a:fld>
            <a:endParaRPr lang="ru-RU"/>
          </a:p>
        </p:txBody>
      </p:sp>
      <p:sp>
        <p:nvSpPr>
          <p:cNvPr id="1510793381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552299328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337256866" name="Заголовок 1"/>
          <p:cNvSpPr>
            <a:spLocks noGrp="1"/>
          </p:cNvSpPr>
          <p:nvPr>
            <p:ph type="title"/>
          </p:nvPr>
        </p:nvSpPr>
        <p:spPr bwMode="auto"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868929240" name="Текст 35"/>
          <p:cNvSpPr>
            <a:spLocks noGrp="1"/>
          </p:cNvSpPr>
          <p:nvPr>
            <p:ph type="body" sz="quarter" idx="21"/>
          </p:nvPr>
        </p:nvSpPr>
        <p:spPr bwMode="auto">
          <a:xfrm>
            <a:off x="6683077" y="1026867"/>
            <a:ext cx="4790314" cy="1615356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938882151" name="Текст 35"/>
          <p:cNvSpPr>
            <a:spLocks noGrp="1"/>
          </p:cNvSpPr>
          <p:nvPr>
            <p:ph type="body" sz="quarter" idx="18"/>
          </p:nvPr>
        </p:nvSpPr>
        <p:spPr bwMode="auto">
          <a:xfrm>
            <a:off x="6683077" y="1626932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018155805" name="Текст 35"/>
          <p:cNvSpPr>
            <a:spLocks noGrp="1"/>
          </p:cNvSpPr>
          <p:nvPr>
            <p:ph type="body" sz="quarter" idx="22"/>
          </p:nvPr>
        </p:nvSpPr>
        <p:spPr bwMode="auto">
          <a:xfrm>
            <a:off x="6683077" y="2807582"/>
            <a:ext cx="4790314" cy="1615356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263972428" name="Текст 35"/>
          <p:cNvSpPr>
            <a:spLocks noGrp="1"/>
          </p:cNvSpPr>
          <p:nvPr>
            <p:ph type="body" sz="quarter" idx="23"/>
          </p:nvPr>
        </p:nvSpPr>
        <p:spPr bwMode="auto">
          <a:xfrm>
            <a:off x="6683077" y="3407647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64720584" name="Текст 35"/>
          <p:cNvSpPr>
            <a:spLocks noGrp="1"/>
          </p:cNvSpPr>
          <p:nvPr>
            <p:ph type="body" sz="quarter" idx="24"/>
          </p:nvPr>
        </p:nvSpPr>
        <p:spPr bwMode="auto">
          <a:xfrm>
            <a:off x="6683077" y="4584029"/>
            <a:ext cx="4790314" cy="1615356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722754983" name="Текст 35"/>
          <p:cNvSpPr>
            <a:spLocks noGrp="1"/>
          </p:cNvSpPr>
          <p:nvPr>
            <p:ph type="body" sz="quarter" idx="25"/>
          </p:nvPr>
        </p:nvSpPr>
        <p:spPr bwMode="auto">
          <a:xfrm>
            <a:off x="6683077" y="5184094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1_Статистик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8581099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2938A0C3-5C2F-47B8-B008-79A49A1195BA}" type="datetime1">
              <a:rPr lang="ru-RU"/>
              <a:t>16.09.2026</a:t>
            </a:fld>
            <a:endParaRPr lang="ru-RU"/>
          </a:p>
        </p:txBody>
      </p:sp>
      <p:sp>
        <p:nvSpPr>
          <p:cNvPr id="450794199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900815293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597326524" name="Заголовок 1"/>
          <p:cNvSpPr>
            <a:spLocks noGrp="1"/>
          </p:cNvSpPr>
          <p:nvPr>
            <p:ph type="title"/>
          </p:nvPr>
        </p:nvSpPr>
        <p:spPr bwMode="auto">
          <a:xfrm>
            <a:off x="34953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691145851" name="Текст 35"/>
          <p:cNvSpPr>
            <a:spLocks noGrp="1"/>
          </p:cNvSpPr>
          <p:nvPr>
            <p:ph type="body" sz="quarter" idx="21"/>
          </p:nvPr>
        </p:nvSpPr>
        <p:spPr bwMode="auto">
          <a:xfrm>
            <a:off x="6683077" y="1016000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1476688" name="Текст 35"/>
          <p:cNvSpPr>
            <a:spLocks noGrp="1"/>
          </p:cNvSpPr>
          <p:nvPr>
            <p:ph type="body" sz="quarter" idx="18"/>
          </p:nvPr>
        </p:nvSpPr>
        <p:spPr bwMode="auto"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730660304" name="Текст 35"/>
          <p:cNvSpPr>
            <a:spLocks noGrp="1"/>
          </p:cNvSpPr>
          <p:nvPr>
            <p:ph type="body" sz="quarter" idx="22"/>
          </p:nvPr>
        </p:nvSpPr>
        <p:spPr bwMode="auto">
          <a:xfrm>
            <a:off x="6683077" y="2284561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399164481" name="Текст 35"/>
          <p:cNvSpPr>
            <a:spLocks noGrp="1"/>
          </p:cNvSpPr>
          <p:nvPr>
            <p:ph type="body" sz="quarter" idx="23"/>
          </p:nvPr>
        </p:nvSpPr>
        <p:spPr bwMode="auto"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160248213" name="Текст 35"/>
          <p:cNvSpPr>
            <a:spLocks noGrp="1"/>
          </p:cNvSpPr>
          <p:nvPr>
            <p:ph type="body" sz="quarter" idx="24"/>
          </p:nvPr>
        </p:nvSpPr>
        <p:spPr bwMode="auto">
          <a:xfrm>
            <a:off x="6683077" y="3553122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1652764" name="Текст 35"/>
          <p:cNvSpPr>
            <a:spLocks noGrp="1"/>
          </p:cNvSpPr>
          <p:nvPr>
            <p:ph type="body" sz="quarter" idx="25"/>
          </p:nvPr>
        </p:nvSpPr>
        <p:spPr bwMode="auto">
          <a:xfrm>
            <a:off x="6683077" y="393265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969505246" name="Текст 35"/>
          <p:cNvSpPr>
            <a:spLocks noGrp="1"/>
          </p:cNvSpPr>
          <p:nvPr>
            <p:ph type="body" sz="quarter" idx="26"/>
          </p:nvPr>
        </p:nvSpPr>
        <p:spPr bwMode="auto">
          <a:xfrm>
            <a:off x="6683077" y="4821684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69304354" name="Текст 35"/>
          <p:cNvSpPr>
            <a:spLocks noGrp="1"/>
          </p:cNvSpPr>
          <p:nvPr>
            <p:ph type="body" sz="quarter" idx="27"/>
          </p:nvPr>
        </p:nvSpPr>
        <p:spPr bwMode="auto"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2_Статистик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6669273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BF4F29EB-DFD0-428E-8E89-ED117A3553E3}" type="datetime1">
              <a:rPr lang="ru-RU"/>
              <a:t>16.09.2026</a:t>
            </a:fld>
            <a:endParaRPr lang="ru-RU"/>
          </a:p>
        </p:txBody>
      </p:sp>
      <p:sp>
        <p:nvSpPr>
          <p:cNvPr id="343755584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971522661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1245142924" name="Заголовок 1"/>
          <p:cNvSpPr>
            <a:spLocks noGrp="1"/>
          </p:cNvSpPr>
          <p:nvPr>
            <p:ph type="title"/>
          </p:nvPr>
        </p:nvSpPr>
        <p:spPr bwMode="auto">
          <a:xfrm>
            <a:off x="367721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632442884" name="Текст 35"/>
          <p:cNvSpPr>
            <a:spLocks noGrp="1"/>
          </p:cNvSpPr>
          <p:nvPr>
            <p:ph type="body" sz="quarter" idx="21"/>
          </p:nvPr>
        </p:nvSpPr>
        <p:spPr bwMode="auto">
          <a:xfrm>
            <a:off x="6683077" y="1016000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491519423" name="Текст 35"/>
          <p:cNvSpPr>
            <a:spLocks noGrp="1"/>
          </p:cNvSpPr>
          <p:nvPr>
            <p:ph type="body" sz="quarter" idx="18"/>
          </p:nvPr>
        </p:nvSpPr>
        <p:spPr bwMode="auto"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018792073" name="Текст 35"/>
          <p:cNvSpPr>
            <a:spLocks noGrp="1"/>
          </p:cNvSpPr>
          <p:nvPr>
            <p:ph type="body" sz="quarter" idx="22"/>
          </p:nvPr>
        </p:nvSpPr>
        <p:spPr bwMode="auto">
          <a:xfrm>
            <a:off x="6683077" y="2284561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982414852" name="Текст 35"/>
          <p:cNvSpPr>
            <a:spLocks noGrp="1"/>
          </p:cNvSpPr>
          <p:nvPr>
            <p:ph type="body" sz="quarter" idx="23"/>
          </p:nvPr>
        </p:nvSpPr>
        <p:spPr bwMode="auto"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654076117" name="Текст 35"/>
          <p:cNvSpPr>
            <a:spLocks noGrp="1"/>
          </p:cNvSpPr>
          <p:nvPr>
            <p:ph type="body" sz="quarter" idx="24"/>
          </p:nvPr>
        </p:nvSpPr>
        <p:spPr bwMode="auto">
          <a:xfrm>
            <a:off x="6683077" y="3553122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562832623" name="Текст 35"/>
          <p:cNvSpPr>
            <a:spLocks noGrp="1"/>
          </p:cNvSpPr>
          <p:nvPr>
            <p:ph type="body" sz="quarter" idx="25"/>
          </p:nvPr>
        </p:nvSpPr>
        <p:spPr bwMode="auto">
          <a:xfrm>
            <a:off x="6683077" y="393265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206192035" name="Текст 35"/>
          <p:cNvSpPr>
            <a:spLocks noGrp="1"/>
          </p:cNvSpPr>
          <p:nvPr>
            <p:ph type="body" sz="quarter" idx="26"/>
          </p:nvPr>
        </p:nvSpPr>
        <p:spPr bwMode="auto">
          <a:xfrm>
            <a:off x="6683077" y="4821684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154626048" name="Текст 35"/>
          <p:cNvSpPr>
            <a:spLocks noGrp="1"/>
          </p:cNvSpPr>
          <p:nvPr>
            <p:ph type="body" sz="quarter" idx="27"/>
          </p:nvPr>
        </p:nvSpPr>
        <p:spPr bwMode="auto"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Стадии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8498588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D52F0272-0FEA-44CE-966E-3D169B2F53D4}" type="datetime1">
              <a:rPr lang="ru-RU"/>
              <a:t>16.09.2026</a:t>
            </a:fld>
            <a:endParaRPr lang="ru-RU"/>
          </a:p>
        </p:txBody>
      </p:sp>
      <p:sp>
        <p:nvSpPr>
          <p:cNvPr id="1448452554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33109929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1124927468" name="Текст 35"/>
          <p:cNvSpPr>
            <a:spLocks noGrp="1"/>
          </p:cNvSpPr>
          <p:nvPr>
            <p:ph type="body" sz="quarter" idx="26"/>
          </p:nvPr>
        </p:nvSpPr>
        <p:spPr bwMode="auto">
          <a:xfrm>
            <a:off x="346075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413225624" name="Текст 35"/>
          <p:cNvSpPr>
            <a:spLocks noGrp="1"/>
          </p:cNvSpPr>
          <p:nvPr>
            <p:ph type="body" sz="quarter" idx="27"/>
          </p:nvPr>
        </p:nvSpPr>
        <p:spPr bwMode="auto">
          <a:xfrm>
            <a:off x="346075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376240833" name="Текст 35"/>
          <p:cNvSpPr>
            <a:spLocks noGrp="1"/>
          </p:cNvSpPr>
          <p:nvPr>
            <p:ph type="body" sz="quarter" idx="28"/>
          </p:nvPr>
        </p:nvSpPr>
        <p:spPr bwMode="auto">
          <a:xfrm>
            <a:off x="4832960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876004260" name="Текст 35"/>
          <p:cNvSpPr>
            <a:spLocks noGrp="1"/>
          </p:cNvSpPr>
          <p:nvPr>
            <p:ph type="body" sz="quarter" idx="29"/>
          </p:nvPr>
        </p:nvSpPr>
        <p:spPr bwMode="auto">
          <a:xfrm>
            <a:off x="4832960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977609924" name="Текст 35"/>
          <p:cNvSpPr>
            <a:spLocks noGrp="1"/>
          </p:cNvSpPr>
          <p:nvPr>
            <p:ph type="body" sz="quarter" idx="30"/>
          </p:nvPr>
        </p:nvSpPr>
        <p:spPr bwMode="auto">
          <a:xfrm>
            <a:off x="9330862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99710853" name="Текст 35"/>
          <p:cNvSpPr>
            <a:spLocks noGrp="1"/>
          </p:cNvSpPr>
          <p:nvPr>
            <p:ph type="body" sz="quarter" idx="31"/>
          </p:nvPr>
        </p:nvSpPr>
        <p:spPr bwMode="auto">
          <a:xfrm>
            <a:off x="9330862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949188184" name="Текст 35"/>
          <p:cNvSpPr>
            <a:spLocks noGrp="1"/>
          </p:cNvSpPr>
          <p:nvPr>
            <p:ph type="body" sz="quarter" idx="32"/>
          </p:nvPr>
        </p:nvSpPr>
        <p:spPr bwMode="auto">
          <a:xfrm>
            <a:off x="2593517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268968598" name="Текст 35"/>
          <p:cNvSpPr>
            <a:spLocks noGrp="1"/>
          </p:cNvSpPr>
          <p:nvPr>
            <p:ph type="body" sz="quarter" idx="33"/>
          </p:nvPr>
        </p:nvSpPr>
        <p:spPr bwMode="auto">
          <a:xfrm>
            <a:off x="2593517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95903953" name="Текст 35"/>
          <p:cNvSpPr>
            <a:spLocks noGrp="1"/>
          </p:cNvSpPr>
          <p:nvPr>
            <p:ph type="body" sz="quarter" idx="34"/>
          </p:nvPr>
        </p:nvSpPr>
        <p:spPr bwMode="auto">
          <a:xfrm>
            <a:off x="7080402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10288170" name="Текст 35"/>
          <p:cNvSpPr>
            <a:spLocks noGrp="1"/>
          </p:cNvSpPr>
          <p:nvPr>
            <p:ph type="body" sz="quarter" idx="35"/>
          </p:nvPr>
        </p:nvSpPr>
        <p:spPr bwMode="auto">
          <a:xfrm>
            <a:off x="7080402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74155163" name="Заголовок 1"/>
          <p:cNvSpPr>
            <a:spLocks noGrp="1"/>
          </p:cNvSpPr>
          <p:nvPr>
            <p:ph type="title"/>
          </p:nvPr>
        </p:nvSpPr>
        <p:spPr bwMode="auto">
          <a:xfrm>
            <a:off x="384256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Проблема и решени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9579838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062B0DBE-B5A9-470E-85A9-7CC062D5339A}" type="datetime1">
              <a:rPr lang="ru-RU"/>
              <a:t>16.09.2026</a:t>
            </a:fld>
            <a:endParaRPr lang="ru-RU"/>
          </a:p>
        </p:txBody>
      </p:sp>
      <p:sp>
        <p:nvSpPr>
          <p:cNvPr id="1675805337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14337200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560885061" name="Заголовок 1"/>
          <p:cNvSpPr>
            <a:spLocks noGrp="1"/>
          </p:cNvSpPr>
          <p:nvPr>
            <p:ph type="title"/>
          </p:nvPr>
        </p:nvSpPr>
        <p:spPr bwMode="auto">
          <a:xfrm>
            <a:off x="357650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122197277" name="Текст 35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517027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r>
              <a:rPr lang="ru-RU"/>
              <a:t>Описание проблемы </a:t>
            </a:r>
            <a:endParaRPr/>
          </a:p>
        </p:txBody>
      </p:sp>
      <p:sp>
        <p:nvSpPr>
          <p:cNvPr id="116118850" name="Текст 35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4464542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r>
              <a:rPr lang="ru-RU"/>
              <a:t>Примеры уже имеющихся способов решения данной проблемы</a:t>
            </a:r>
            <a:endParaRPr/>
          </a:p>
        </p:txBody>
      </p:sp>
      <p:sp>
        <p:nvSpPr>
          <p:cNvPr id="1428729295" name="Текст 35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8385481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r>
              <a:rPr lang="ru-RU"/>
              <a:t>Ваше предложение решения данной проблемы</a:t>
            </a:r>
            <a:endParaRPr/>
          </a:p>
        </p:txBody>
      </p:sp>
      <p:sp>
        <p:nvSpPr>
          <p:cNvPr id="856443119" name="Текст 35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517027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Проблема</a:t>
            </a:r>
            <a:endParaRPr/>
          </a:p>
        </p:txBody>
      </p:sp>
      <p:sp>
        <p:nvSpPr>
          <p:cNvPr id="1922520453" name="Текст 35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4464542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Альтернативные решения</a:t>
            </a:r>
            <a:endParaRPr/>
          </a:p>
        </p:txBody>
      </p:sp>
      <p:sp>
        <p:nvSpPr>
          <p:cNvPr id="1034779806" name="Текст 35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8385481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Решение</a:t>
            </a:r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Демо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5086165" name="Picture Placeholder 1"/>
          <p:cNvSpPr>
            <a:spLocks noGrp="1"/>
          </p:cNvSpPr>
          <p:nvPr>
            <p:ph type="pic" sz="quarter" idx="14"/>
          </p:nvPr>
        </p:nvSpPr>
        <p:spPr bwMode="auto">
          <a:xfrm>
            <a:off x="4162940" y="1264478"/>
            <a:ext cx="3866121" cy="2436377"/>
          </a:xfrm>
        </p:spPr>
      </p:sp>
      <p:sp>
        <p:nvSpPr>
          <p:cNvPr id="896489918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4D396B86-640F-4AD1-BBB2-E085B6CD8771}" type="datetime1">
              <a:rPr lang="ru-RU"/>
              <a:t>16.09.2026</a:t>
            </a:fld>
            <a:endParaRPr lang="ru-RU"/>
          </a:p>
        </p:txBody>
      </p:sp>
      <p:sp>
        <p:nvSpPr>
          <p:cNvPr id="378127741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938890696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347150518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2021024583" name="Текст 7"/>
          <p:cNvSpPr>
            <a:spLocks noGrp="1"/>
          </p:cNvSpPr>
          <p:nvPr>
            <p:ph type="body" sz="quarter" idx="15"/>
          </p:nvPr>
        </p:nvSpPr>
        <p:spPr bwMode="auto">
          <a:xfrm>
            <a:off x="346075" y="4656083"/>
            <a:ext cx="3626835" cy="1544692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320280167" name="Текст 7"/>
          <p:cNvSpPr>
            <a:spLocks noGrp="1"/>
          </p:cNvSpPr>
          <p:nvPr>
            <p:ph type="body" sz="quarter" idx="16"/>
          </p:nvPr>
        </p:nvSpPr>
        <p:spPr bwMode="auto">
          <a:xfrm>
            <a:off x="4240502" y="4656083"/>
            <a:ext cx="3626835" cy="1544692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604478788" name="Текст 7"/>
          <p:cNvSpPr>
            <a:spLocks noGrp="1"/>
          </p:cNvSpPr>
          <p:nvPr>
            <p:ph type="body" sz="quarter" idx="17"/>
          </p:nvPr>
        </p:nvSpPr>
        <p:spPr bwMode="auto">
          <a:xfrm>
            <a:off x="8230203" y="4656083"/>
            <a:ext cx="3626835" cy="1544692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1_Демо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123572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93AF0E63-1EB1-47F5-B09E-CA3E5DE528F3}" type="datetime1">
              <a:rPr lang="ru-RU"/>
              <a:t>16.09.2026</a:t>
            </a:fld>
            <a:endParaRPr lang="ru-RU"/>
          </a:p>
        </p:txBody>
      </p:sp>
      <p:sp>
        <p:nvSpPr>
          <p:cNvPr id="1147169938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30368713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1259102376" name="Заголовок 1"/>
          <p:cNvSpPr>
            <a:spLocks noGrp="1"/>
          </p:cNvSpPr>
          <p:nvPr>
            <p:ph type="title"/>
          </p:nvPr>
        </p:nvSpPr>
        <p:spPr bwMode="auto">
          <a:xfrm>
            <a:off x="353289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93639810" name="Текст 7"/>
          <p:cNvSpPr>
            <a:spLocks noGrp="1"/>
          </p:cNvSpPr>
          <p:nvPr>
            <p:ph type="body" sz="quarter" idx="15"/>
          </p:nvPr>
        </p:nvSpPr>
        <p:spPr bwMode="auto">
          <a:xfrm>
            <a:off x="1210643" y="4324451"/>
            <a:ext cx="4121687" cy="1612262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99722443" name="Текст 7"/>
          <p:cNvSpPr>
            <a:spLocks noGrp="1"/>
          </p:cNvSpPr>
          <p:nvPr>
            <p:ph type="body" sz="quarter" idx="16"/>
          </p:nvPr>
        </p:nvSpPr>
        <p:spPr bwMode="auto">
          <a:xfrm>
            <a:off x="6857950" y="4324451"/>
            <a:ext cx="4121687" cy="1612262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525584501" name="Picture Placeholder 1"/>
          <p:cNvSpPr>
            <a:spLocks noGrp="1"/>
          </p:cNvSpPr>
          <p:nvPr>
            <p:ph type="pic" sz="quarter" idx="14"/>
          </p:nvPr>
        </p:nvSpPr>
        <p:spPr bwMode="auto">
          <a:xfrm>
            <a:off x="1210642" y="1577998"/>
            <a:ext cx="4121688" cy="2283975"/>
          </a:xfrm>
        </p:spPr>
      </p:sp>
      <p:sp>
        <p:nvSpPr>
          <p:cNvPr id="823724485" name="Picture Placeholder 1"/>
          <p:cNvSpPr>
            <a:spLocks noGrp="1"/>
          </p:cNvSpPr>
          <p:nvPr>
            <p:ph type="pic" sz="quarter" idx="18"/>
          </p:nvPr>
        </p:nvSpPr>
        <p:spPr bwMode="auto">
          <a:xfrm>
            <a:off x="6855540" y="1577998"/>
            <a:ext cx="4121688" cy="2283975"/>
          </a:xfrm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2_Демо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5624748" name="Picture Placeholder 1"/>
          <p:cNvSpPr>
            <a:spLocks noGrp="1"/>
          </p:cNvSpPr>
          <p:nvPr>
            <p:ph type="pic" sz="quarter" idx="14"/>
          </p:nvPr>
        </p:nvSpPr>
        <p:spPr bwMode="auto">
          <a:xfrm>
            <a:off x="5009872" y="1235915"/>
            <a:ext cx="2172255" cy="4602697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906666371" name="Текст 35"/>
          <p:cNvSpPr>
            <a:spLocks noGrp="1"/>
          </p:cNvSpPr>
          <p:nvPr>
            <p:ph type="body" sz="quarter" idx="21"/>
          </p:nvPr>
        </p:nvSpPr>
        <p:spPr bwMode="auto">
          <a:xfrm>
            <a:off x="356349" y="1641283"/>
            <a:ext cx="3812931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661976731" name="Текст 35"/>
          <p:cNvSpPr>
            <a:spLocks noGrp="1"/>
          </p:cNvSpPr>
          <p:nvPr>
            <p:ph type="body" sz="quarter" idx="18"/>
          </p:nvPr>
        </p:nvSpPr>
        <p:spPr bwMode="auto">
          <a:xfrm>
            <a:off x="356349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690673764" name="Текст 35"/>
          <p:cNvSpPr>
            <a:spLocks noGrp="1"/>
          </p:cNvSpPr>
          <p:nvPr>
            <p:ph type="body" sz="quarter" idx="22"/>
          </p:nvPr>
        </p:nvSpPr>
        <p:spPr bwMode="auto">
          <a:xfrm>
            <a:off x="8040020" y="1641283"/>
            <a:ext cx="3812931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20000"/>
                    <a:lumOff val="80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078948986" name="Текст 35"/>
          <p:cNvSpPr>
            <a:spLocks noGrp="1"/>
          </p:cNvSpPr>
          <p:nvPr>
            <p:ph type="body" sz="quarter" idx="23"/>
          </p:nvPr>
        </p:nvSpPr>
        <p:spPr bwMode="auto">
          <a:xfrm>
            <a:off x="8040020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658611594" name="Текст 35"/>
          <p:cNvSpPr>
            <a:spLocks noGrp="1"/>
          </p:cNvSpPr>
          <p:nvPr>
            <p:ph type="body" sz="quarter" idx="24"/>
          </p:nvPr>
        </p:nvSpPr>
        <p:spPr bwMode="auto">
          <a:xfrm>
            <a:off x="356349" y="3864598"/>
            <a:ext cx="3812931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445328777" name="Текст 35"/>
          <p:cNvSpPr>
            <a:spLocks noGrp="1"/>
          </p:cNvSpPr>
          <p:nvPr>
            <p:ph type="body" sz="quarter" idx="25"/>
          </p:nvPr>
        </p:nvSpPr>
        <p:spPr bwMode="auto">
          <a:xfrm>
            <a:off x="356349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00255233" name="Текст 35"/>
          <p:cNvSpPr>
            <a:spLocks noGrp="1"/>
          </p:cNvSpPr>
          <p:nvPr>
            <p:ph type="body" sz="quarter" idx="26"/>
          </p:nvPr>
        </p:nvSpPr>
        <p:spPr bwMode="auto">
          <a:xfrm>
            <a:off x="8040020" y="3864598"/>
            <a:ext cx="3812931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200879656" name="Текст 35"/>
          <p:cNvSpPr>
            <a:spLocks noGrp="1"/>
          </p:cNvSpPr>
          <p:nvPr>
            <p:ph type="body" sz="quarter" idx="27"/>
          </p:nvPr>
        </p:nvSpPr>
        <p:spPr bwMode="auto">
          <a:xfrm>
            <a:off x="8040020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cxnSp>
        <p:nvCxnSpPr>
          <p:cNvPr id="589614520" name="Google Shape;2799;p94"/>
          <p:cNvCxnSpPr/>
          <p:nvPr userDrawn="1"/>
        </p:nvCxnSpPr>
        <p:spPr bwMode="auto">
          <a:xfrm>
            <a:off x="4244694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81545724" name="Google Shape;2799;p94"/>
          <p:cNvCxnSpPr/>
          <p:nvPr userDrawn="1"/>
        </p:nvCxnSpPr>
        <p:spPr bwMode="auto">
          <a:xfrm>
            <a:off x="4244694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0625227" name="Google Shape;2799;p94"/>
          <p:cNvCxnSpPr/>
          <p:nvPr userDrawn="1"/>
        </p:nvCxnSpPr>
        <p:spPr bwMode="auto">
          <a:xfrm>
            <a:off x="7250583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>
                <a:lumMod val="20000"/>
                <a:lumOff val="8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67509977" name="Google Shape;2799;p94"/>
          <p:cNvCxnSpPr/>
          <p:nvPr userDrawn="1"/>
        </p:nvCxnSpPr>
        <p:spPr bwMode="auto">
          <a:xfrm>
            <a:off x="7250583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11619468" name="Заголовок 3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18129555" name="Дата 8"/>
          <p:cNvSpPr>
            <a:spLocks noGrp="1"/>
          </p:cNvSpPr>
          <p:nvPr>
            <p:ph type="dt" sz="half" idx="28"/>
          </p:nvPr>
        </p:nvSpPr>
        <p:spPr bwMode="auto"/>
        <p:txBody>
          <a:bodyPr/>
          <a:lstStyle/>
          <a:p>
            <a:pPr>
              <a:defRPr/>
            </a:pPr>
            <a:fld id="{9D490EE5-ED7D-46E8-8345-A78A0CB0F4A4}" type="datetime1">
              <a:rPr lang="ru-RU"/>
              <a:t>16.09.2026</a:t>
            </a:fld>
            <a:endParaRPr lang="ru-RU"/>
          </a:p>
        </p:txBody>
      </p:sp>
      <p:sp>
        <p:nvSpPr>
          <p:cNvPr id="2139654067" name="Нижний колонтитул 9"/>
          <p:cNvSpPr>
            <a:spLocks noGrp="1"/>
          </p:cNvSpPr>
          <p:nvPr>
            <p:ph type="ftr" sz="quarter" idx="29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287854632" name="Номер слайда 10"/>
          <p:cNvSpPr>
            <a:spLocks noGrp="1"/>
          </p:cNvSpPr>
          <p:nvPr>
            <p:ph type="sldNum" sz="quarter" idx="30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3_Демо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4939360" name="Picture Placeholder 1"/>
          <p:cNvSpPr>
            <a:spLocks noGrp="1"/>
          </p:cNvSpPr>
          <p:nvPr>
            <p:ph type="pic" sz="quarter" idx="14"/>
          </p:nvPr>
        </p:nvSpPr>
        <p:spPr bwMode="auto">
          <a:xfrm>
            <a:off x="1001459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580386608" name="Picture Placeholder 1"/>
          <p:cNvSpPr>
            <a:spLocks noGrp="1"/>
          </p:cNvSpPr>
          <p:nvPr>
            <p:ph type="pic" sz="quarter" idx="15"/>
          </p:nvPr>
        </p:nvSpPr>
        <p:spPr bwMode="auto">
          <a:xfrm>
            <a:off x="3831097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399003789" name="Picture Placeholder 1"/>
          <p:cNvSpPr>
            <a:spLocks noGrp="1"/>
          </p:cNvSpPr>
          <p:nvPr>
            <p:ph type="pic" sz="quarter" idx="16"/>
          </p:nvPr>
        </p:nvSpPr>
        <p:spPr bwMode="auto">
          <a:xfrm>
            <a:off x="6660734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668171859" name="Picture Placeholder 1"/>
          <p:cNvSpPr>
            <a:spLocks noGrp="1"/>
          </p:cNvSpPr>
          <p:nvPr>
            <p:ph type="pic" sz="quarter" idx="17"/>
          </p:nvPr>
        </p:nvSpPr>
        <p:spPr bwMode="auto">
          <a:xfrm>
            <a:off x="9490368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932505230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DC8C16AD-D907-4463-BE30-FCBB33ACAE3F}" type="datetime1">
              <a:rPr lang="ru-RU"/>
              <a:t>16.09.2026</a:t>
            </a:fld>
            <a:endParaRPr lang="ru-RU"/>
          </a:p>
        </p:txBody>
      </p:sp>
      <p:sp>
        <p:nvSpPr>
          <p:cNvPr id="792600989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50504692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164420842" name="Текст 7"/>
          <p:cNvSpPr>
            <a:spLocks noGrp="1"/>
          </p:cNvSpPr>
          <p:nvPr>
            <p:ph type="body" sz="quarter" idx="18"/>
          </p:nvPr>
        </p:nvSpPr>
        <p:spPr bwMode="auto">
          <a:xfrm>
            <a:off x="346076" y="4929435"/>
            <a:ext cx="2739248" cy="127134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656314850" name="Текст 7"/>
          <p:cNvSpPr>
            <a:spLocks noGrp="1"/>
          </p:cNvSpPr>
          <p:nvPr>
            <p:ph type="body" sz="quarter" idx="19"/>
          </p:nvPr>
        </p:nvSpPr>
        <p:spPr bwMode="auto">
          <a:xfrm>
            <a:off x="3269562" y="4929435"/>
            <a:ext cx="2739248" cy="127134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554257058" name="Текст 7"/>
          <p:cNvSpPr>
            <a:spLocks noGrp="1"/>
          </p:cNvSpPr>
          <p:nvPr>
            <p:ph type="body" sz="quarter" idx="20"/>
          </p:nvPr>
        </p:nvSpPr>
        <p:spPr bwMode="auto">
          <a:xfrm>
            <a:off x="6193048" y="4929435"/>
            <a:ext cx="2739248" cy="127134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990252769" name="Текст 7"/>
          <p:cNvSpPr>
            <a:spLocks noGrp="1"/>
          </p:cNvSpPr>
          <p:nvPr>
            <p:ph type="body" sz="quarter" idx="21"/>
          </p:nvPr>
        </p:nvSpPr>
        <p:spPr bwMode="auto">
          <a:xfrm>
            <a:off x="9116535" y="4929435"/>
            <a:ext cx="2739248" cy="127134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2026721607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userDrawn="1">
  <p:cSld name="Пуст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Relationship Id="rId25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blipFill rotWithShape="1">
          <a:blip r:embed="rId25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7097445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903902632" name="Текст 2"/>
          <p:cNvSpPr>
            <a:spLocks noGrp="1"/>
          </p:cNvSpPr>
          <p:nvPr>
            <p:ph type="body" idx="1"/>
          </p:nvPr>
        </p:nvSpPr>
        <p:spPr bwMode="auto"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317792352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9D490EE5-ED7D-46E8-8345-A78A0CB0F4A4}" type="datetime1">
              <a:rPr lang="ru-RU"/>
              <a:t>16.09.2026</a:t>
            </a:fld>
            <a:endParaRPr lang="ru-RU"/>
          </a:p>
        </p:txBody>
      </p:sp>
      <p:sp>
        <p:nvSpPr>
          <p:cNvPr id="1926070673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282487685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</p:sldLayoutIdLst>
  <p:hf dt="0" ftr="0" hdr="0" sldNum="1"/>
  <p:txStyles>
    <p:titleStyle>
      <a:lvl1pPr algn="l" defTabSz="578755" rtl="0">
        <a:lnSpc>
          <a:spcPct val="90000"/>
        </a:lnSpc>
        <a:spcBef>
          <a:spcPts val="0"/>
        </a:spcBef>
        <a:buNone/>
        <a:defRPr sz="2000" b="1">
          <a:solidFill>
            <a:schemeClr val="bg1">
              <a:lumMod val="95000"/>
            </a:schemeClr>
          </a:solidFill>
          <a:latin typeface="+mj-lt"/>
          <a:ea typeface="+mj-ea"/>
          <a:cs typeface="Amatic SC"/>
        </a:defRPr>
      </a:lvl1pPr>
    </p:titleStyle>
    <p:bodyStyle>
      <a:lvl1pPr marL="144688" indent="-144688" algn="l" defTabSz="578755" rtl="0">
        <a:lnSpc>
          <a:spcPct val="90000"/>
        </a:lnSpc>
        <a:spcBef>
          <a:spcPts val="631"/>
        </a:spcBef>
        <a:buFont typeface="Arial"/>
        <a:buChar char="•"/>
        <a:defRPr sz="145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1pPr>
      <a:lvl2pPr marL="434067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25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2pPr>
      <a:lvl3pPr marL="723445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0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3pPr>
      <a:lvl4pPr marL="1012822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9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4pPr>
      <a:lvl5pPr marL="1302200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9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5pPr>
      <a:lvl6pPr marL="1591575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150">
          <a:solidFill>
            <a:schemeClr val="tx1"/>
          </a:solidFill>
          <a:latin typeface="+mn-lt"/>
          <a:ea typeface="+mn-ea"/>
          <a:cs typeface="+mn-cs"/>
        </a:defRPr>
      </a:lvl6pPr>
      <a:lvl7pPr marL="1880955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150">
          <a:solidFill>
            <a:schemeClr val="tx1"/>
          </a:solidFill>
          <a:latin typeface="+mn-lt"/>
          <a:ea typeface="+mn-ea"/>
          <a:cs typeface="+mn-cs"/>
        </a:defRPr>
      </a:lvl7pPr>
      <a:lvl8pPr marL="2170334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150">
          <a:solidFill>
            <a:schemeClr val="tx1"/>
          </a:solidFill>
          <a:latin typeface="+mn-lt"/>
          <a:ea typeface="+mn-ea"/>
          <a:cs typeface="+mn-cs"/>
        </a:defRPr>
      </a:lvl8pPr>
      <a:lvl9pPr marL="2459712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15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1pPr>
      <a:lvl2pPr marL="289378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2pPr>
      <a:lvl3pPr marL="578755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3pPr>
      <a:lvl4pPr marL="868132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4pPr>
      <a:lvl5pPr marL="1157510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5pPr>
      <a:lvl6pPr marL="1446887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6pPr>
      <a:lvl7pPr marL="1736266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7pPr>
      <a:lvl8pPr marL="2025644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8pPr>
      <a:lvl9pPr marL="2315021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1.png"/><Relationship Id="rId4" Type="http://schemas.openxmlformats.org/officeDocument/2006/relationships/chart" Target="../charts/char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0.png"/><Relationship Id="rId4" Type="http://schemas.openxmlformats.org/officeDocument/2006/relationships/chart" Target="../charts/char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9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png"/><Relationship Id="rId4" Type="http://schemas.openxmlformats.org/officeDocument/2006/relationships/chart" Target="../charts/char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0199916" name="Заголовок 2"/>
          <p:cNvSpPr>
            <a:spLocks noGrp="1"/>
          </p:cNvSpPr>
          <p:nvPr>
            <p:ph type="ctrTitle"/>
          </p:nvPr>
        </p:nvSpPr>
        <p:spPr bwMode="auto">
          <a:xfrm>
            <a:off x="1" y="3894513"/>
            <a:ext cx="6271845" cy="1706743"/>
          </a:xfrm>
        </p:spPr>
        <p:txBody>
          <a:bodyPr/>
          <a:lstStyle/>
          <a:p>
            <a:pPr marL="268288" indent="0">
              <a:defRPr/>
            </a:pPr>
            <a:r>
              <a:rPr>
                <a:solidFill>
                  <a:srgbClr val="FFFFFF"/>
                </a:solidFill>
              </a:rPr>
              <a:t>КОМАНДА «КОНТУР»</a:t>
            </a:r>
            <a:endParaRPr lang="ru-RU" sz="4800"/>
          </a:p>
        </p:txBody>
      </p:sp>
      <p:pic>
        <p:nvPicPr>
          <p:cNvPr id="1636791008" name="Рисунок 3" descr="image.png"/>
          <p:cNvPicPr>
            <a:picLocks noGrp="1" noChangeAspect="1"/>
          </p:cNvPicPr>
          <p:nvPr>
            <p:ph type="pic" sz="quarter" idx="11"/>
          </p:nvPr>
        </p:nvPicPr>
        <p:blipFill>
          <a:blip r:embed="rId3"/>
          <a:srcRect/>
          <a:stretch>
            <a:fillRect/>
          </a:stretch>
        </p:blipFill>
        <p:spPr>
          <a:xfrm>
            <a:off x="1512348" y="329184"/>
            <a:ext cx="2772599" cy="1078992"/>
          </a:xfrm>
        </p:spPr>
      </p:pic>
      <p:sp>
        <p:nvSpPr>
          <p:cNvPr id="757351073" name="Текст 4"/>
          <p:cNvSpPr>
            <a:spLocks noGrp="1"/>
          </p:cNvSpPr>
          <p:nvPr>
            <p:ph type="body" sz="quarter" idx="12"/>
          </p:nvPr>
        </p:nvSpPr>
        <p:spPr bwMode="auto">
          <a:xfrm>
            <a:off x="0" y="5659501"/>
            <a:ext cx="8930641" cy="757174"/>
          </a:xfrm>
        </p:spPr>
        <p:txBody>
          <a:bodyPr anchor="ctr"/>
          <a:lstStyle/>
          <a:p>
            <a:pPr indent="268288">
              <a:defRPr/>
            </a:pPr>
            <a:r>
              <a:rPr>
                <a:solidFill/>
              </a:rPr>
              <a:t>Задача №10 · Мосгосстройнадзор. «Инспектор ИИ»: доказательная сверка ПД · РД · ИД по 132 параметрам</a:t>
            </a:r>
            <a:endParaRPr lang="ru-RU"/>
          </a:p>
        </p:txBody>
      </p:sp>
      <p:sp>
        <p:nvSpPr>
          <p:cNvPr id="1091804844" name="Скругленный прямоугольник 1"/>
          <p:cNvSpPr/>
          <p:nvPr/>
        </p:nvSpPr>
        <p:spPr bwMode="auto">
          <a:xfrm>
            <a:off x="-296709" y="-313993"/>
            <a:ext cx="6125156" cy="2285622"/>
          </a:xfrm>
          <a:prstGeom prst="roundRect">
            <a:avLst>
              <a:gd name="adj" fmla="val 9821"/>
            </a:avLst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6098921" name="Прямоугольник 2"/>
          <p:cNvSpPr/>
          <p:nvPr/>
        </p:nvSpPr>
        <p:spPr bwMode="auto">
          <a:xfrm>
            <a:off x="0" y="2971800"/>
            <a:ext cx="6456363" cy="3886200"/>
          </a:xfrm>
          <a:prstGeom prst="rect">
            <a:avLst/>
          </a:prstGeom>
          <a:solidFill>
            <a:srgbClr val="DCCEE4">
              <a:alpha val="49804"/>
            </a:srgbClr>
          </a:solidFill>
          <a:ln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/>
          </a:p>
        </p:txBody>
      </p:sp>
      <p:sp>
        <p:nvSpPr>
          <p:cNvPr id="1609484257" name="Рисунок 1"/>
          <p:cNvSpPr>
            <a:spLocks noGrp="1"/>
          </p:cNvSpPr>
          <p:nvPr>
            <p:ph type="pic" sz="quarter" idx="10"/>
          </p:nvPr>
        </p:nvSpPr>
        <p:spPr bwMode="auto">
          <a:xfrm>
            <a:off x="0" y="335267"/>
            <a:ext cx="6456363" cy="2971784"/>
          </a:xfrm>
        </p:spPr>
        <p:txBody>
          <a:bodyPr/>
          <a:p/>
        </p:txBody>
      </p:sp>
      <p:sp>
        <p:nvSpPr>
          <p:cNvPr id="1143600250" name="Текст 8"/>
          <p:cNvSpPr txBox="1"/>
          <p:nvPr/>
        </p:nvSpPr>
        <p:spPr bwMode="auto">
          <a:xfrm>
            <a:off x="6819904" y="2303118"/>
            <a:ext cx="4945564" cy="6686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sz="1600" b="1">
                <a:solidFill>
                  <a:schemeClr val="accent5"/>
                </a:solidFill>
              </a:rPr>
              <a:t>Краткое описание решения:</a:t>
            </a:r>
            <a:endParaRPr/>
          </a:p>
        </p:txBody>
      </p:sp>
      <p:sp>
        <p:nvSpPr>
          <p:cNvPr id="441518184" name="Текст 8"/>
          <p:cNvSpPr txBox="1"/>
          <p:nvPr/>
        </p:nvSpPr>
        <p:spPr bwMode="auto">
          <a:xfrm>
            <a:off x="6836606" y="4876070"/>
            <a:ext cx="4945565" cy="89003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Wingdings"/>
              <a:buNone/>
              <a:defRPr/>
            </a:pPr>
            <a:r>
              <a:rPr lang="ru-RU">
                <a:solidFill>
                  <a:schemeClr val="tx1"/>
                </a:solidFill>
              </a:rPr>
              <a:t>Модель не пишет статус: ядро правил формирует кандидата, нарушение подтверждает только инспектор. Находка без листа, координат и SHA-256 источника не сохраняется (ADR-0001, ADR-0002).</a:t>
            </a:r>
            <a:endParaRPr/>
          </a:p>
        </p:txBody>
      </p:sp>
      <p:sp>
        <p:nvSpPr>
          <p:cNvPr id="661119785" name="Текст 8"/>
          <p:cNvSpPr txBox="1"/>
          <p:nvPr/>
        </p:nvSpPr>
        <p:spPr bwMode="auto">
          <a:xfrm>
            <a:off x="334962" y="3883009"/>
            <a:ext cx="5629858" cy="2399033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b="1">
                <a:solidFill>
                  <a:schemeClr val="tx1"/>
                </a:solidFill>
              </a:rPr>
              <a:t>Капитан: Коньков Дмитрий</a:t>
            </a:r>
            <a:endParaRPr/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b="1">
                <a:solidFill>
                  <a:schemeClr val="tx1"/>
                </a:solidFill>
              </a:rPr>
              <a:t>Кол-во участников: 2</a:t>
            </a:r>
            <a:endParaRPr/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b="1">
                <a:solidFill>
                  <a:schemeClr val="tx1"/>
                </a:solidFill>
              </a:rPr>
              <a:t>Краткое описание:</a:t>
            </a:r>
            <a:endParaRPr/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ru-RU" i="1">
                <a:solidFill>
                  <a:schemeClr val="tx1"/>
                </a:solidFill>
              </a:rPr>
              <a:t>Контур: с 16.09.2026 более 500 коммитов и 220 pull request’ов, main меняется только через PR и обязательный CI</a:t>
            </a:r>
            <a:endParaRPr/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ru-RU" i="1">
                <a:solidFill>
                  <a:schemeClr val="tx1"/>
                </a:solidFill>
              </a:rPr>
              <a:t>Опыт AeroBIM: 1106 коммитов с апреля 2026; участник программы «Техлаб Москва» (демо-день 21.09.2026)</a:t>
            </a:r>
            <a:endParaRPr/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b="1">
                <a:solidFill>
                  <a:schemeClr val="tx1"/>
                </a:solidFill>
              </a:rPr>
              <a:t>Город и регион: Москва</a:t>
            </a:r>
            <a:endParaRPr/>
          </a:p>
        </p:txBody>
      </p:sp>
      <p:sp>
        <p:nvSpPr>
          <p:cNvPr id="648121520" name="Текст 8"/>
          <p:cNvSpPr txBox="1"/>
          <p:nvPr/>
        </p:nvSpPr>
        <p:spPr bwMode="auto">
          <a:xfrm>
            <a:off x="334962" y="3484785"/>
            <a:ext cx="2990173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sz="1600" b="1">
                <a:solidFill>
                  <a:schemeClr val="accent5"/>
                </a:solidFill>
              </a:rPr>
              <a:t>О команде</a:t>
            </a:r>
            <a:endParaRPr/>
          </a:p>
        </p:txBody>
      </p:sp>
      <p:sp>
        <p:nvSpPr>
          <p:cNvPr id="328740113" name="Заголовок 6"/>
          <p:cNvSpPr>
            <a:spLocks noGrp="1"/>
          </p:cNvSpPr>
          <p:nvPr>
            <p:ph type="title"/>
          </p:nvPr>
        </p:nvSpPr>
        <p:spPr bwMode="auto">
          <a:xfrm>
            <a:off x="6819903" y="1039236"/>
            <a:ext cx="3636703" cy="1015128"/>
          </a:xfrm>
        </p:spPr>
        <p:txBody>
          <a:bodyPr/>
          <a:lstStyle/>
          <a:p>
            <a:pPr>
              <a:defRPr/>
            </a:pPr>
            <a:r>
              <a:rPr>
                <a:solidFill/>
              </a:rPr>
              <a:t>КОМАНДА «КОНТУР»</a:t>
            </a:r>
            <a:endParaRPr lang="ru-RU" sz="2400">
              <a:solidFill>
                <a:schemeClr val="accent5"/>
              </a:solidFill>
              <a:latin typeface="Montserrat"/>
            </a:endParaRPr>
          </a:p>
        </p:txBody>
      </p:sp>
      <p:cxnSp>
        <p:nvCxnSpPr>
          <p:cNvPr id="1478954076" name="Прямая соединительная линия 6"/>
          <p:cNvCxnSpPr/>
          <p:nvPr/>
        </p:nvCxnSpPr>
        <p:spPr bwMode="auto">
          <a:xfrm>
            <a:off x="6880774" y="2240031"/>
            <a:ext cx="4884824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16552124" name="Прямая соединительная линия 15"/>
          <p:cNvCxnSpPr/>
          <p:nvPr/>
        </p:nvCxnSpPr>
        <p:spPr bwMode="auto">
          <a:xfrm>
            <a:off x="6897347" y="4437879"/>
            <a:ext cx="4884824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31184900" name="Прямая соединительная линия 16"/>
          <p:cNvCxnSpPr/>
          <p:nvPr/>
        </p:nvCxnSpPr>
        <p:spPr bwMode="auto">
          <a:xfrm>
            <a:off x="395833" y="3448639"/>
            <a:ext cx="5700167" cy="0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503619342" name="Текст 8"/>
          <p:cNvSpPr txBox="1"/>
          <p:nvPr/>
        </p:nvSpPr>
        <p:spPr bwMode="auto">
          <a:xfrm>
            <a:off x="6819904" y="4541737"/>
            <a:ext cx="4945564" cy="6686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sz="1600" b="1">
                <a:solidFill>
                  <a:schemeClr val="accent5"/>
                </a:solidFill>
              </a:rPr>
              <a:t>Уникальность решения:</a:t>
            </a:r>
            <a:endParaRPr/>
          </a:p>
        </p:txBody>
      </p:sp>
      <p:sp>
        <p:nvSpPr>
          <p:cNvPr id="1075761414" name="Текст 8"/>
          <p:cNvSpPr txBox="1"/>
          <p:nvPr/>
        </p:nvSpPr>
        <p:spPr bwMode="auto">
          <a:xfrm>
            <a:off x="6808027" y="2619903"/>
            <a:ext cx="4945565" cy="89003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Wingdings"/>
              <a:buNone/>
              <a:defRPr/>
            </a:pPr>
            <a:r>
              <a:rPr lang="ru-RU">
                <a:solidFill>
                  <a:schemeClr val="tx1"/>
                </a:solidFill>
              </a:rPr>
              <a:t>Сверяет ПД, РД и ИД по 132 параметрам: извлекает значения с доказательствами, детерминированно сравнивает с эталонной редакцией ПД и честно отказывается там, где доказательства нет.</a:t>
            </a:r>
            <a:endParaRPr/>
          </a:p>
        </p:txBody>
      </p:sp>
      <p:sp>
        <p:nvSpPr>
          <p:cNvPr id="2108767591" name="Номер слайда 35"/>
          <p:cNvSpPr txBox="1"/>
          <p:nvPr/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/>
          <a:lstStyle>
            <a:defPPr>
              <a:defRPr lang="ru-RU"/>
            </a:defPPr>
            <a:lvl1pPr marL="0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10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20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329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439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549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658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65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877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>
                <a:solidFill/>
              </a:rPr>
              <a:t>2</a:t>
            </a:r>
            <a:endParaRPr lang="ru-RU" sz="1200">
              <a:solidFill>
                <a:schemeClr val="accent5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9445992" name="Скругленный прямоугольник 55"/>
          <p:cNvSpPr/>
          <p:nvPr/>
        </p:nvSpPr>
        <p:spPr bwMode="auto">
          <a:xfrm>
            <a:off x="2651394" y="1522006"/>
            <a:ext cx="2192713" cy="4834351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990223453" name="Текст 8"/>
          <p:cNvSpPr txBox="1"/>
          <p:nvPr/>
        </p:nvSpPr>
        <p:spPr bwMode="auto">
          <a:xfrm>
            <a:off x="2823678" y="425002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buFont typeface="Arial"/>
              <a:buChar char="•"/>
              <a:defRPr/>
            </a:pPr>
            <a:r>
              <a:rPr lang="ru-RU" sz="1400">
                <a:solidFill>
                  <a:schemeClr val="tx1"/>
                </a:solidFill>
              </a:rPr>
              <a:t>Системный инженер</a:t>
            </a:r>
            <a:endParaRPr/>
          </a:p>
          <a:p>
            <a:pPr>
              <a:spcBef>
                <a:spcPts val="0"/>
              </a:spcBef>
              <a:buFont typeface="Arial"/>
              <a:buChar char="•"/>
              <a:defRPr/>
            </a:pPr>
            <a:r>
              <a:rPr lang="ru-RU" sz="1400">
                <a:solidFill>
                  <a:schemeClr val="tx1"/>
                </a:solidFill>
              </a:rPr>
              <a:t>Метрики, сборка, приёмка</a:t>
            </a:r>
            <a:endParaRPr/>
          </a:p>
          <a:p>
            <a:pPr>
              <a:spcBef>
                <a:spcPts val="0"/>
              </a:spcBef>
              <a:buFont typeface="Arial"/>
              <a:buChar char="•"/>
              <a:defRPr/>
            </a:pPr>
            <a:r>
              <a:rPr lang="ru-RU" sz="1400">
                <a:solidFill>
                  <a:schemeClr val="tx1"/>
                </a:solidFill>
              </a:rPr>
              <a:t>konkovaelena@yandex.ru</a:t>
            </a:r>
            <a:endParaRPr/>
          </a:p>
          <a:p>
            <a:pPr>
              <a:spcBef>
                <a:spcPts val="0"/>
              </a:spcBef>
              <a:buFont typeface="Arial"/>
              <a:buChar char="•"/>
              <a:defRPr/>
            </a:pPr>
            <a:r>
              <a:rPr lang="ru-RU" sz="1400">
                <a:solidFill>
                  <a:schemeClr val="tx1"/>
                </a:solidFill>
              </a:rPr>
              <a:t>[телефон] · TG: [@ник]</a:t>
            </a:r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1259743807" name="Текст 8"/>
          <p:cNvSpPr txBox="1"/>
          <p:nvPr/>
        </p:nvSpPr>
        <p:spPr bwMode="auto">
          <a:xfrm>
            <a:off x="2823677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ru-RU" sz="1600" b="1">
                <a:solidFill>
                  <a:schemeClr val="accent5"/>
                </a:solidFill>
              </a:rPr>
              <a:t>Елена Конькова</a:t>
            </a:r>
            <a:endParaRPr/>
          </a:p>
        </p:txBody>
      </p:sp>
      <p:sp>
        <p:nvSpPr>
          <p:cNvPr id="481545546" name="Скругленный прямоугольник 16"/>
          <p:cNvSpPr/>
          <p:nvPr/>
        </p:nvSpPr>
        <p:spPr bwMode="auto">
          <a:xfrm>
            <a:off x="346076" y="1522006"/>
            <a:ext cx="2192713" cy="4834351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662366709" name="Скругленный прямоугольник 12"/>
          <p:cNvSpPr/>
          <p:nvPr/>
        </p:nvSpPr>
        <p:spPr bwMode="auto">
          <a:xfrm>
            <a:off x="346075" y="324562"/>
            <a:ext cx="3952656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493695819" name="Номер слайда 17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r>
              <a:rPr>
                <a:solidFill/>
              </a:rPr>
              <a:t>3</a:t>
            </a:r>
            <a:endParaRPr lang="ru-RU">
              <a:solidFill>
                <a:schemeClr val="bg1"/>
              </a:solidFill>
            </a:endParaRPr>
          </a:p>
        </p:txBody>
      </p:sp>
      <p:sp>
        <p:nvSpPr>
          <p:cNvPr id="1172799835" name="Рисунок 1"/>
          <p:cNvSpPr>
            <a:spLocks noGrp="1"/>
          </p:cNvSpPr>
          <p:nvPr>
            <p:ph type="pic" sz="quarter" idx="4294967295"/>
          </p:nvPr>
        </p:nvSpPr>
        <p:spPr bwMode="auto">
          <a:xfrm>
            <a:off x="581397" y="1816054"/>
            <a:ext cx="1722566" cy="1552901"/>
          </a:xfrm>
        </p:spPr>
        <p:txBody>
          <a:bodyPr/>
          <a:p/>
        </p:txBody>
      </p:sp>
      <p:sp>
        <p:nvSpPr>
          <p:cNvPr id="288949743" name="Рисунок 2"/>
          <p:cNvSpPr>
            <a:spLocks noGrp="1"/>
          </p:cNvSpPr>
          <p:nvPr>
            <p:ph type="pic" sz="quarter" idx="4294967295"/>
          </p:nvPr>
        </p:nvSpPr>
        <p:spPr bwMode="auto">
          <a:xfrm>
            <a:off x="2886467" y="1826554"/>
            <a:ext cx="1722566" cy="1542401"/>
          </a:xfrm>
        </p:spPr>
        <p:txBody>
          <a:bodyPr/>
          <a:p/>
        </p:txBody>
      </p:sp>
      <p:sp>
        <p:nvSpPr>
          <p:cNvPr id="415042907" name="Заголовок 6"/>
          <p:cNvSpPr>
            <a:spLocks noGrp="1"/>
          </p:cNvSpPr>
          <p:nvPr>
            <p:ph type="title"/>
          </p:nvPr>
        </p:nvSpPr>
        <p:spPr bwMode="auto">
          <a:xfrm>
            <a:off x="518359" y="449787"/>
            <a:ext cx="9862734" cy="376138"/>
          </a:xfrm>
        </p:spPr>
        <p:txBody>
          <a:bodyPr/>
          <a:lstStyle/>
          <a:p>
            <a:pPr>
              <a:defRPr/>
            </a:pPr>
            <a:r>
              <a:rPr>
                <a:solidFill/>
              </a:rPr>
              <a:t>КОМАНДА «КОНТУР»</a:t>
            </a:r>
            <a:endParaRPr lang="ru-RU">
              <a:latin typeface="Montserrat"/>
            </a:endParaRPr>
          </a:p>
        </p:txBody>
      </p:sp>
      <p:sp>
        <p:nvSpPr>
          <p:cNvPr id="1058462674" name="Текст 8"/>
          <p:cNvSpPr>
            <a:spLocks noGrp="1"/>
          </p:cNvSpPr>
          <p:nvPr>
            <p:ph type="body" sz="quarter" idx="27"/>
          </p:nvPr>
        </p:nvSpPr>
        <p:spPr bwMode="auto">
          <a:xfrm>
            <a:off x="518360" y="4250028"/>
            <a:ext cx="1894354" cy="1624612"/>
          </a:xfrm>
        </p:spPr>
        <p:txBody>
          <a:bodyPr>
            <a:normAutofit/>
          </a:bodyPr>
          <a:lstStyle/>
          <a:p>
            <a:pPr rtl="0">
              <a:spcBef>
                <a:spcPts val="60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ru-RU" sz="1400">
                <a:solidFill>
                  <a:schemeClr val="tx1"/>
                </a:solidFill>
              </a:rPr>
              <a:t>Капитан команды</a:t>
            </a:r>
            <a:endParaRPr/>
          </a:p>
          <a:p>
            <a:pPr rtl="0">
              <a:spcBef>
                <a:spcPts val="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ru-RU" sz="1400">
                <a:solidFill>
                  <a:schemeClr val="tx1"/>
                </a:solidFill>
              </a:rPr>
              <a:t>Архитектура, движок правил, OCR</a:t>
            </a:r>
            <a:endParaRPr/>
          </a:p>
          <a:p>
            <a:pPr rtl="0">
              <a:spcBef>
                <a:spcPts val="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ru-RU" sz="1400">
                <a:solidFill>
                  <a:schemeClr val="tx1"/>
                </a:solidFill>
              </a:rPr>
              <a:t>konkov-dmitrij@yandex.ru</a:t>
            </a:r>
            <a:endParaRPr/>
          </a:p>
          <a:p>
            <a:pPr rtl="0">
              <a:spcBef>
                <a:spcPts val="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ru-RU" sz="1400">
                <a:solidFill>
                  <a:schemeClr val="tx1"/>
                </a:solidFill>
              </a:rPr>
              <a:t>+7 915 452-88-64 · TG: [@ник]</a:t>
            </a:r>
            <a:endParaRPr/>
          </a:p>
        </p:txBody>
      </p:sp>
      <p:sp>
        <p:nvSpPr>
          <p:cNvPr id="1278750663" name="Текст 8"/>
          <p:cNvSpPr txBox="1"/>
          <p:nvPr/>
        </p:nvSpPr>
        <p:spPr bwMode="auto">
          <a:xfrm>
            <a:off x="518359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ru-RU" sz="1600" b="1">
                <a:solidFill>
                  <a:schemeClr val="accent5"/>
                </a:solidFill>
              </a:rPr>
              <a:t>Дмитрий Коньков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1463204" name="Скругленный прямоугольник 1"/>
          <p:cNvSpPr/>
          <p:nvPr/>
        </p:nvSpPr>
        <p:spPr bwMode="auto">
          <a:xfrm>
            <a:off x="346075" y="324562"/>
            <a:ext cx="3952656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7240408" name="Номер слайда 17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r>
              <a:rPr>
                <a:solidFill/>
              </a:rPr>
              <a:t>4</a:t>
            </a:r>
            <a:endParaRPr lang="ru-RU">
              <a:solidFill>
                <a:schemeClr val="accent5"/>
              </a:solidFill>
            </a:endParaRPr>
          </a:p>
        </p:txBody>
      </p:sp>
      <p:sp>
        <p:nvSpPr>
          <p:cNvPr id="865297653" name="Заголовок 6"/>
          <p:cNvSpPr>
            <a:spLocks noGrp="1"/>
          </p:cNvSpPr>
          <p:nvPr>
            <p:ph type="title"/>
          </p:nvPr>
        </p:nvSpPr>
        <p:spPr bwMode="auto">
          <a:xfrm>
            <a:off x="507849" y="449787"/>
            <a:ext cx="9862734" cy="376138"/>
          </a:xfrm>
        </p:spPr>
        <p:txBody>
          <a:bodyPr/>
          <a:lstStyle/>
          <a:p>
            <a:pPr>
              <a:defRPr/>
            </a:pPr>
            <a:r>
              <a:rPr>
                <a:solidFill/>
              </a:rPr>
              <a:t>ИСТОРИЯ КОМАНДЫ</a:t>
            </a:r>
            <a:endParaRPr lang="ru-RU">
              <a:latin typeface="Montserrat"/>
            </a:endParaRPr>
          </a:p>
        </p:txBody>
      </p:sp>
      <p:sp>
        <p:nvSpPr>
          <p:cNvPr id="1588890124" name="Текст 8"/>
          <p:cNvSpPr>
            <a:spLocks noGrp="1"/>
          </p:cNvSpPr>
          <p:nvPr>
            <p:ph type="body" sz="quarter" idx="27"/>
          </p:nvPr>
        </p:nvSpPr>
        <p:spPr bwMode="auto">
          <a:xfrm>
            <a:off x="533607" y="1602273"/>
            <a:ext cx="4425822" cy="934263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  <a:defRPr/>
            </a:pPr>
            <a:r>
              <a:rPr lang="ru-RU">
                <a:solidFill>
                  <a:schemeClr val="tx1"/>
                </a:solidFill>
              </a:rPr>
              <a:t>С апреля 2026 строим AeroBIM (1106 коммитов, программа «Техлаб Москва»). С 16.09 Контур: более 500 коммитов и 220 PR за 13 дней, реестр пробелов и Red Team в открытом репозитории.</a:t>
            </a:r>
            <a:endParaRPr/>
          </a:p>
        </p:txBody>
      </p:sp>
      <p:sp>
        <p:nvSpPr>
          <p:cNvPr id="493921390" name="Текст 8"/>
          <p:cNvSpPr txBox="1"/>
          <p:nvPr/>
        </p:nvSpPr>
        <p:spPr bwMode="auto">
          <a:xfrm>
            <a:off x="533607" y="1279645"/>
            <a:ext cx="2990173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b="1">
                <a:solidFill>
                  <a:schemeClr val="accent5"/>
                </a:solidFill>
              </a:rPr>
              <a:t>Краткая история команды:</a:t>
            </a:r>
            <a:endParaRPr/>
          </a:p>
        </p:txBody>
      </p:sp>
      <p:sp>
        <p:nvSpPr>
          <p:cNvPr id="243118211" name="Текст 8"/>
          <p:cNvSpPr txBox="1"/>
          <p:nvPr/>
        </p:nvSpPr>
        <p:spPr bwMode="auto">
          <a:xfrm>
            <a:off x="533607" y="5139255"/>
            <a:ext cx="7318749" cy="105536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>
                <a:solidFill>
                  <a:schemeClr val="tx1"/>
                </a:solidFill>
              </a:rPr>
              <a:t>Сканы и штампы поверх текста, пустые шифры в штампах, несколько голов редакции, разные названия одного параметра. Ответ: вектор pdfium + двойное чтение OCR, резолвер редакций по шифру, статусы отказа вместо догадки.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765507967" name="Текст 8"/>
          <p:cNvSpPr txBox="1"/>
          <p:nvPr/>
        </p:nvSpPr>
        <p:spPr bwMode="auto">
          <a:xfrm>
            <a:off x="533608" y="4571473"/>
            <a:ext cx="6438692" cy="629056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  <a:defRPr/>
            </a:pPr>
            <a:r>
              <a:rPr lang="ru-RU" b="1">
                <a:solidFill>
                  <a:schemeClr val="accent5"/>
                </a:solidFill>
              </a:rPr>
              <a:t>С какими основными сложностями или вызовами </a:t>
            </a:r>
            <a:br>
              <a:rPr lang="ru-RU" b="1">
                <a:solidFill>
                  <a:schemeClr val="accent5"/>
                </a:solidFill>
              </a:rPr>
            </a:br>
            <a:r>
              <a:rPr lang="ru-RU" b="1">
                <a:solidFill>
                  <a:schemeClr val="accent5"/>
                </a:solidFill>
              </a:rPr>
              <a:t>вы столкнулись и как их преодолели?</a:t>
            </a:r>
            <a:endParaRPr/>
          </a:p>
        </p:txBody>
      </p:sp>
      <p:sp>
        <p:nvSpPr>
          <p:cNvPr id="1574440249" name="Текст 8"/>
          <p:cNvSpPr txBox="1"/>
          <p:nvPr/>
        </p:nvSpPr>
        <p:spPr bwMode="auto">
          <a:xfrm>
            <a:off x="533607" y="3429000"/>
            <a:ext cx="4945565" cy="107852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>
                <a:solidFill>
                  <a:schemeClr val="tx1"/>
                </a:solidFill>
              </a:rPr>
              <a:t>Сотни листов трёх стадий по 132 параметрам сверяются вручную. «ПД для нас истина и эталон», сказал заказчик. Рутину отдаём машине, решение — человеку.</a:t>
            </a:r>
            <a:endParaRPr/>
          </a:p>
        </p:txBody>
      </p:sp>
      <p:sp>
        <p:nvSpPr>
          <p:cNvPr id="1790469585" name="Текст 8"/>
          <p:cNvSpPr txBox="1"/>
          <p:nvPr/>
        </p:nvSpPr>
        <p:spPr bwMode="auto">
          <a:xfrm>
            <a:off x="533607" y="2900091"/>
            <a:ext cx="5629858" cy="52890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b="1">
                <a:solidFill>
                  <a:schemeClr val="accent5"/>
                </a:solidFill>
              </a:rPr>
              <a:t>Почему вы выбрали именно эту задачу </a:t>
            </a:r>
            <a:br>
              <a:rPr lang="ru-RU" b="1">
                <a:solidFill>
                  <a:schemeClr val="accent5"/>
                </a:solidFill>
              </a:rPr>
            </a:br>
            <a:r>
              <a:rPr lang="ru-RU" b="1">
                <a:solidFill>
                  <a:schemeClr val="accent5"/>
                </a:solidFill>
              </a:rPr>
              <a:t>из предложенных на хакатоне?</a:t>
            </a:r>
            <a:endParaRPr/>
          </a:p>
        </p:txBody>
      </p:sp>
      <p:cxnSp>
        <p:nvCxnSpPr>
          <p:cNvPr id="1125078722" name="Прямая соединительная линия 4"/>
          <p:cNvCxnSpPr/>
          <p:nvPr/>
        </p:nvCxnSpPr>
        <p:spPr bwMode="auto">
          <a:xfrm>
            <a:off x="623888" y="2745690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01438399" name="Прямая соединительная линия 5"/>
          <p:cNvCxnSpPr/>
          <p:nvPr/>
        </p:nvCxnSpPr>
        <p:spPr bwMode="auto">
          <a:xfrm>
            <a:off x="623888" y="4407066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854362844" name="Прямая соединительная линия 7"/>
          <p:cNvCxnSpPr/>
          <p:nvPr/>
        </p:nvCxnSpPr>
        <p:spPr bwMode="auto">
          <a:xfrm>
            <a:off x="623888" y="1110074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672459714" name="Текст 8"/>
          <p:cNvSpPr txBox="1"/>
          <p:nvPr/>
        </p:nvSpPr>
        <p:spPr bwMode="auto">
          <a:xfrm>
            <a:off x="11015788" y="1279645"/>
            <a:ext cx="956838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  <a:defRPr/>
            </a:pPr>
            <a:r>
              <a:rPr lang="ru-RU" b="1">
                <a:solidFill>
                  <a:schemeClr val="accent5"/>
                </a:solidFill>
              </a:rPr>
              <a:t>01</a:t>
            </a:r>
            <a:endParaRPr/>
          </a:p>
        </p:txBody>
      </p:sp>
      <p:sp>
        <p:nvSpPr>
          <p:cNvPr id="1977750831" name="Текст 8"/>
          <p:cNvSpPr txBox="1"/>
          <p:nvPr/>
        </p:nvSpPr>
        <p:spPr bwMode="auto">
          <a:xfrm>
            <a:off x="11015788" y="2900091"/>
            <a:ext cx="930595" cy="52890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buNone/>
              <a:defRPr/>
            </a:pPr>
            <a:r>
              <a:rPr lang="ru-RU" b="1">
                <a:solidFill>
                  <a:schemeClr val="accent5"/>
                </a:solidFill>
              </a:rPr>
              <a:t>02</a:t>
            </a:r>
            <a:endParaRPr/>
          </a:p>
        </p:txBody>
      </p:sp>
      <p:sp>
        <p:nvSpPr>
          <p:cNvPr id="1433482465" name="Текст 8"/>
          <p:cNvSpPr txBox="1"/>
          <p:nvPr/>
        </p:nvSpPr>
        <p:spPr bwMode="auto">
          <a:xfrm>
            <a:off x="11015788" y="4571473"/>
            <a:ext cx="930596" cy="56778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buNone/>
              <a:defRPr/>
            </a:pPr>
            <a:r>
              <a:rPr lang="ru-RU" b="1">
                <a:solidFill>
                  <a:schemeClr val="accent5"/>
                </a:solidFill>
              </a:rPr>
              <a:t>03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4634285" name="Скругленный прямоугольник 9"/>
          <p:cNvSpPr/>
          <p:nvPr/>
        </p:nvSpPr>
        <p:spPr bwMode="auto">
          <a:xfrm>
            <a:off x="346075" y="324562"/>
            <a:ext cx="3750911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42449051" name="Скругленный прямоугольник 23"/>
          <p:cNvSpPr/>
          <p:nvPr/>
        </p:nvSpPr>
        <p:spPr bwMode="auto">
          <a:xfrm>
            <a:off x="6230774" y="1211284"/>
            <a:ext cx="5440313" cy="4989492"/>
          </a:xfrm>
          <a:prstGeom prst="roundRect">
            <a:avLst>
              <a:gd name="adj" fmla="val 386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393046190" name="Скругленный прямоугольник 26"/>
          <p:cNvSpPr/>
          <p:nvPr/>
        </p:nvSpPr>
        <p:spPr bwMode="auto">
          <a:xfrm>
            <a:off x="346076" y="1211284"/>
            <a:ext cx="5440313" cy="4989492"/>
          </a:xfrm>
          <a:prstGeom prst="roundRect">
            <a:avLst>
              <a:gd name="adj" fmla="val 3407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727018758" name="Номер слайда 20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r>
              <a:rPr>
                <a:solidFill/>
              </a:rPr>
              <a:t>5</a:t>
            </a:r>
            <a:endParaRPr lang="ru-RU">
              <a:solidFill>
                <a:schemeClr val="bg1"/>
              </a:solidFill>
            </a:endParaRPr>
          </a:p>
        </p:txBody>
      </p:sp>
      <p:sp>
        <p:nvSpPr>
          <p:cNvPr id="1782181813" name="Текст 2"/>
          <p:cNvSpPr>
            <a:spLocks noGrp="1"/>
          </p:cNvSpPr>
          <p:nvPr>
            <p:ph type="body" sz="quarter" idx="38"/>
          </p:nvPr>
        </p:nvSpPr>
        <p:spPr bwMode="auto">
          <a:xfrm>
            <a:off x="589492" y="1920927"/>
            <a:ext cx="4929861" cy="3868581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ru-RU" sz="1600">
                <a:solidFill>
                  <a:schemeClr val="tx1"/>
                </a:solidFill>
              </a:rPr>
              <a:t>Сверка ПД ↔ РД ↔ ИД по 132 параметрам из 12 разделов, не проект против СНиП (ADR-0006)</a:t>
            </a:r>
            <a:endParaRPr/>
          </a:p>
          <a:p>
            <a:pPr>
              <a:defRPr/>
            </a:pPr>
            <a:r>
              <a:rPr lang="ru-RU" sz="1600">
                <a:solidFill>
                  <a:schemeClr val="tx1"/>
                </a:solidFill>
              </a:rPr>
              <a:t>Эталон: голова редакции ПД по шифру; две головы → CLARIFICATION_REQUIRED</a:t>
            </a:r>
            <a:endParaRPr/>
          </a:p>
          <a:p>
            <a:pPr>
              <a:defRPr/>
            </a:pPr>
            <a:r>
              <a:rPr lang="ru-RU" sz="1600">
                <a:solidFill>
                  <a:schemeClr val="tx1"/>
                </a:solidFill>
              </a:rPr>
              <a:t>Вектор pypdfium2 первичен; кроп значения: PP-OCRv5 eslav + Tesseract 5.5, несогласие → ABSTAIN</a:t>
            </a:r>
            <a:endParaRPr/>
          </a:p>
          <a:p>
            <a:pPr>
              <a:defRPr/>
            </a:pPr>
            <a:r>
              <a:rPr lang="ru-RU" sz="1600">
                <a:solidFill>
                  <a:schemeClr val="tx1"/>
                </a:solidFill>
              </a:rPr>
              <a:t>Атомарные правила, 12 операторов: вердикт сравнения пишет код, не модель (ADR-0001)</a:t>
            </a:r>
            <a:endParaRPr/>
          </a:p>
          <a:p>
            <a:pPr>
              <a:defRPr/>
            </a:pPr>
            <a:r>
              <a:rPr lang="ru-RU" sz="1600">
                <a:solidFill>
                  <a:schemeClr val="tx1"/>
                </a:solidFill>
              </a:rPr>
              <a:t>Python · FastAPI · React+TS · PostgreSQL · Redis · RabbitMQ · Node.js BFF, OpenAPI 3.1 и 3.0</a:t>
            </a:r>
            <a:endParaRPr/>
          </a:p>
        </p:txBody>
      </p:sp>
      <p:sp>
        <p:nvSpPr>
          <p:cNvPr id="321655550" name="Текст 6"/>
          <p:cNvSpPr>
            <a:spLocks noGrp="1"/>
          </p:cNvSpPr>
          <p:nvPr>
            <p:ph type="body" sz="quarter" idx="42"/>
          </p:nvPr>
        </p:nvSpPr>
        <p:spPr bwMode="auto">
          <a:xfrm>
            <a:off x="6513513" y="1920927"/>
            <a:ext cx="4957144" cy="3876445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ru-RU" sz="1600">
                <a:solidFill>
                  <a:schemeClr val="tx1"/>
                </a:solidFill>
              </a:rPr>
              <a:t>Одно окно: панели ПД/РД/ИД и полигон расхождения на листе исходника</a:t>
            </a:r>
            <a:endParaRPr/>
          </a:p>
          <a:p>
            <a:pPr>
              <a:defRPr/>
            </a:pPr>
            <a:r>
              <a:rPr>
                <a:solidFill/>
              </a:rPr>
              <a:t>Не более 3 действий на решение: открыть → решить с причиной → сохранить</a:t>
            </a:r>
            <a:endParaRPr lang="ru-RU" sz="1400">
              <a:solidFill>
                <a:schemeClr val="tx1"/>
              </a:solidFill>
            </a:endParaRPr>
          </a:p>
          <a:p>
            <a:pPr>
              <a:defRPr/>
            </a:pPr>
            <a:r>
              <a:rPr>
                <a:solidFill/>
              </a:rPr>
              <a:t>Протокол JSON, DOCX, XML и PDF собирается из одного решения</a:t>
            </a:r>
            <a:endParaRPr lang="ru-RU" sz="1400">
              <a:solidFill>
                <a:schemeClr val="tx1"/>
              </a:solidFill>
            </a:endParaRPr>
          </a:p>
          <a:p>
            <a:pPr>
              <a:defRPr/>
            </a:pPr>
            <a:r>
              <a:rPr>
                <a:solidFill/>
              </a:rPr>
              <a:t>CONFIRMED_VIOLATION ставит только инспектор, автор каждого действия в аудите</a:t>
            </a:r>
            <a:endParaRPr lang="ru-RU" sz="1400">
              <a:solidFill>
                <a:schemeClr val="tx1"/>
              </a:solidFill>
            </a:endParaRPr>
          </a:p>
          <a:p>
            <a:pPr>
              <a:defRPr/>
            </a:pPr>
            <a:r>
              <a:rPr>
                <a:solidFill/>
              </a:rPr>
              <a:t>Локально и офлайн: Docker, веса в образе, только CPU</a:t>
            </a:r>
            <a:endParaRPr lang="ru-RU" sz="1400">
              <a:solidFill>
                <a:schemeClr val="tx1"/>
              </a:solidFill>
            </a:endParaRPr>
          </a:p>
        </p:txBody>
      </p:sp>
      <p:sp>
        <p:nvSpPr>
          <p:cNvPr id="607500153" name="Заголовок 13"/>
          <p:cNvSpPr>
            <a:spLocks noGrp="1"/>
          </p:cNvSpPr>
          <p:nvPr>
            <p:ph type="title"/>
          </p:nvPr>
        </p:nvSpPr>
        <p:spPr bwMode="auto">
          <a:xfrm>
            <a:off x="525817" y="456851"/>
            <a:ext cx="9862734" cy="376138"/>
          </a:xfrm>
        </p:spPr>
        <p:txBody>
          <a:bodyPr/>
          <a:lstStyle/>
          <a:p>
            <a:pPr>
              <a:defRPr/>
            </a:pPr>
            <a:r>
              <a:rPr lang="ru-RU">
                <a:solidFill/>
              </a:rPr>
              <a:t>КОРОТКО О РЕШЕНИИ</a:t>
            </a:r>
            <a:endParaRPr/>
          </a:p>
        </p:txBody>
      </p:sp>
      <p:sp>
        <p:nvSpPr>
          <p:cNvPr id="2139836321" name="Текст 14"/>
          <p:cNvSpPr>
            <a:spLocks noGrp="1"/>
          </p:cNvSpPr>
          <p:nvPr>
            <p:ph type="body" sz="quarter" idx="49"/>
          </p:nvPr>
        </p:nvSpPr>
        <p:spPr bwMode="auto">
          <a:xfrm>
            <a:off x="578063" y="1476583"/>
            <a:ext cx="4929861" cy="555147"/>
          </a:xfrm>
        </p:spPr>
        <p:txBody>
          <a:bodyPr/>
          <a:lstStyle/>
          <a:p>
            <a:pPr>
              <a:lnSpc>
                <a:spcPct val="100000"/>
              </a:lnSpc>
              <a:defRPr/>
            </a:pPr>
            <a:r>
              <a:rPr lang="ru-RU" sz="2000" b="1">
                <a:solidFill>
                  <a:schemeClr val="accent5"/>
                </a:solidFill>
              </a:rPr>
              <a:t>Техническая суть решения</a:t>
            </a:r>
            <a:endParaRPr/>
          </a:p>
        </p:txBody>
      </p:sp>
      <p:sp>
        <p:nvSpPr>
          <p:cNvPr id="878253783" name="Текст 16"/>
          <p:cNvSpPr>
            <a:spLocks noGrp="1"/>
          </p:cNvSpPr>
          <p:nvPr>
            <p:ph type="body" sz="quarter" idx="51"/>
          </p:nvPr>
        </p:nvSpPr>
        <p:spPr bwMode="auto">
          <a:xfrm>
            <a:off x="6513513" y="1476583"/>
            <a:ext cx="5214724" cy="561519"/>
          </a:xfrm>
        </p:spPr>
        <p:txBody>
          <a:bodyPr/>
          <a:lstStyle/>
          <a:p>
            <a:pPr>
              <a:lnSpc>
                <a:spcPct val="100000"/>
              </a:lnSpc>
              <a:defRPr/>
            </a:pPr>
            <a:r>
              <a:rPr lang="ru-RU" sz="2000" b="1">
                <a:solidFill>
                  <a:schemeClr val="accent5"/>
                </a:solidFill>
              </a:rPr>
              <a:t>Маркетинговая суть решения</a:t>
            </a:r>
            <a:endParaRPr/>
          </a:p>
          <a:p>
            <a:pPr>
              <a:lnSpc>
                <a:spcPct val="100000"/>
              </a:lnSpc>
              <a:defRPr/>
            </a:pPr>
            <a:endParaRPr lang="ru-RU" b="1">
              <a:solidFill>
                <a:schemeClr val="accent5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3183568" name="Скругленный прямоугольник 7"/>
          <p:cNvSpPr/>
          <p:nvPr/>
        </p:nvSpPr>
        <p:spPr bwMode="auto">
          <a:xfrm>
            <a:off x="429141" y="3008209"/>
            <a:ext cx="3728347" cy="3656826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295246643" name="Скругленный прямоугольник 9"/>
          <p:cNvSpPr/>
          <p:nvPr/>
        </p:nvSpPr>
        <p:spPr bwMode="auto">
          <a:xfrm>
            <a:off x="4327137" y="3008209"/>
            <a:ext cx="3728347" cy="3656826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1566709802" name="Скругленный прямоугольник 10"/>
          <p:cNvSpPr/>
          <p:nvPr/>
        </p:nvSpPr>
        <p:spPr bwMode="auto">
          <a:xfrm>
            <a:off x="8225133" y="3008209"/>
            <a:ext cx="3728347" cy="3656826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3486554" name="Скругленный прямоугольник 1"/>
          <p:cNvSpPr/>
          <p:nvPr/>
        </p:nvSpPr>
        <p:spPr bwMode="auto">
          <a:xfrm>
            <a:off x="346075" y="324562"/>
            <a:ext cx="4507992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99171090" name="Скругленный прямоугольник 16"/>
          <p:cNvSpPr/>
          <p:nvPr/>
        </p:nvSpPr>
        <p:spPr bwMode="auto">
          <a:xfrm>
            <a:off x="5340262" y="1366572"/>
            <a:ext cx="1504594" cy="1401168"/>
          </a:xfrm>
          <a:prstGeom prst="roundRect">
            <a:avLst>
              <a:gd name="adj" fmla="val 16667"/>
            </a:avLst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64567495" name="Скругленный прямоугольник 6"/>
          <p:cNvSpPr/>
          <p:nvPr/>
        </p:nvSpPr>
        <p:spPr bwMode="auto">
          <a:xfrm>
            <a:off x="1541018" y="1366572"/>
            <a:ext cx="1504594" cy="1401168"/>
          </a:xfrm>
          <a:prstGeom prst="roundRect">
            <a:avLst>
              <a:gd name="adj" fmla="val 16667"/>
            </a:avLst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828869434" name="Номер слайда 5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r>
              <a:rPr>
                <a:solidFill/>
              </a:rPr>
              <a:t>6</a:t>
            </a:r>
            <a:endParaRPr lang="ru-RU">
              <a:solidFill>
                <a:schemeClr val="accent5"/>
              </a:solidFill>
            </a:endParaRPr>
          </a:p>
        </p:txBody>
      </p:sp>
      <p:sp>
        <p:nvSpPr>
          <p:cNvPr id="1830935763" name="Текст 2"/>
          <p:cNvSpPr>
            <a:spLocks noGrp="1"/>
          </p:cNvSpPr>
          <p:nvPr>
            <p:ph type="body" sz="quarter" idx="26"/>
          </p:nvPr>
        </p:nvSpPr>
        <p:spPr bwMode="auto">
          <a:xfrm>
            <a:off x="616304" y="3286814"/>
            <a:ext cx="3264113" cy="2375115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>
              <a:defRPr/>
            </a:pPr>
            <a:r>
              <a:rPr b="1">
                <a:solidFill>
                  <a:srgbClr val="2D1451"/>
                </a:solidFill>
              </a:rPr>
              <a:t>ПРОБЛЕМА</a:t>
            </a:r>
            <a:endParaRPr lang="ru-RU">
              <a:solidFill>
                <a:schemeClr val="tx1"/>
              </a:solidFill>
            </a:endParaRPr>
          </a:p>
          <a:p>
            <a:pPr>
              <a:defRPr/>
            </a:pPr>
            <a:r>
              <a:rPr>
                <a:solidFill>
                  <a:srgbClr val="1C1D22"/>
                </a:solidFill>
              </a:rPr>
              <a:t>Инспектор вручную сверяет десятки томов ПД, РД и ИД разных редакций, часть листов — сканы. Две ошибки: пропустить расхождение или принять неполный комплект за нарушение.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1021543870" name="Текст 3"/>
          <p:cNvSpPr>
            <a:spLocks noGrp="1"/>
          </p:cNvSpPr>
          <p:nvPr>
            <p:ph type="body" sz="quarter" idx="31"/>
          </p:nvPr>
        </p:nvSpPr>
        <p:spPr bwMode="auto">
          <a:xfrm>
            <a:off x="4569890" y="3264544"/>
            <a:ext cx="3264113" cy="2375115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>
              <a:defRPr/>
            </a:pPr>
            <a:r>
              <a:rPr b="1">
                <a:solidFill>
                  <a:srgbClr val="2D1451"/>
                </a:solidFill>
              </a:rPr>
              <a:t>АЛЬТЕРНАТИВЫ</a:t>
            </a:r>
            <a:endParaRPr lang="ru-RU">
              <a:solidFill>
                <a:schemeClr val="tx1"/>
              </a:solidFill>
            </a:endParaRPr>
          </a:p>
          <a:p>
            <a:pPr>
              <a:defRPr/>
            </a:pPr>
            <a:r>
              <a:rPr>
                <a:solidFill>
                  <a:srgbClr val="1C1D22"/>
                </a:solidFill>
              </a:rPr>
              <a:t>Ручная сверка медленная и невоспроизводимая. LLM-чат уверенно отвечает, но плохо указывает фрагмент-основание (DocTrace, 2026): для надзора это непригодно.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1109396534" name="Текст 4"/>
          <p:cNvSpPr>
            <a:spLocks noGrp="1"/>
          </p:cNvSpPr>
          <p:nvPr>
            <p:ph type="body" sz="quarter" idx="32"/>
          </p:nvPr>
        </p:nvSpPr>
        <p:spPr bwMode="auto">
          <a:xfrm>
            <a:off x="8405081" y="3277471"/>
            <a:ext cx="3264113" cy="2375115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>
              <a:defRPr/>
            </a:pPr>
            <a:r>
              <a:rPr b="1">
                <a:solidFill>
                  <a:srgbClr val="2D1451"/>
                </a:solidFill>
              </a:rPr>
              <a:t>НАШЕ РЕШЕНИЕ</a:t>
            </a:r>
            <a:endParaRPr lang="ru-RU">
              <a:solidFill>
                <a:schemeClr val="tx1"/>
              </a:solidFill>
            </a:endParaRPr>
          </a:p>
          <a:p>
            <a:pPr>
              <a:defRPr/>
            </a:pPr>
            <a:r>
              <a:rPr>
                <a:solidFill>
                  <a:srgbClr val="1C1D22"/>
                </a:solidFill>
              </a:rPr>
              <a:t>Извлечение с доказательством, детерминированное сравнение с эталоном ПД, решение инспектора. Нет доказательства: отказ, а не догадка.</a:t>
            </a:r>
            <a:endParaRPr lang="ru-RU">
              <a:solidFill>
                <a:schemeClr val="tx1"/>
              </a:solidFill>
            </a:endParaRPr>
          </a:p>
        </p:txBody>
      </p:sp>
      <p:cxnSp>
        <p:nvCxnSpPr>
          <p:cNvPr id="400551615" name="Google Shape;2799;p94"/>
          <p:cNvCxnSpPr/>
          <p:nvPr/>
        </p:nvCxnSpPr>
        <p:spPr bwMode="auto">
          <a:xfrm flipV="1">
            <a:off x="3041995" y="2120995"/>
            <a:ext cx="2288595" cy="11479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3133576" name="Google Shape;2829;p94"/>
          <p:cNvGrpSpPr/>
          <p:nvPr/>
        </p:nvGrpSpPr>
        <p:grpSpPr bwMode="auto">
          <a:xfrm>
            <a:off x="1899087" y="1753233"/>
            <a:ext cx="738531" cy="687909"/>
            <a:chOff x="3385733" y="2233242"/>
            <a:chExt cx="340504" cy="319542"/>
          </a:xfrm>
        </p:grpSpPr>
        <p:sp>
          <p:nvSpPr>
            <p:cNvPr id="63" name="Google Shape;2830;p94"/>
            <p:cNvSpPr/>
            <p:nvPr/>
          </p:nvSpPr>
          <p:spPr bwMode="auto">
            <a:xfrm>
              <a:off x="3385733" y="2233242"/>
              <a:ext cx="340504" cy="319542"/>
            </a:xfrm>
            <a:custGeom>
              <a:avLst/>
              <a:gdLst/>
              <a:ahLst/>
              <a:cxnLst/>
              <a:rect l="l" t="t" r="r" b="b"/>
              <a:pathLst>
                <a:path w="10122" h="9289" fill="norm" stroke="1" extrusionOk="0">
                  <a:moveTo>
                    <a:pt x="9574" y="310"/>
                  </a:moveTo>
                  <a:cubicBezTo>
                    <a:pt x="9717" y="310"/>
                    <a:pt x="9812" y="406"/>
                    <a:pt x="9812" y="549"/>
                  </a:cubicBezTo>
                  <a:lnTo>
                    <a:pt x="9812" y="5669"/>
                  </a:lnTo>
                  <a:lnTo>
                    <a:pt x="8622" y="5669"/>
                  </a:lnTo>
                  <a:cubicBezTo>
                    <a:pt x="8550" y="5669"/>
                    <a:pt x="8479" y="5740"/>
                    <a:pt x="8479" y="5812"/>
                  </a:cubicBezTo>
                  <a:cubicBezTo>
                    <a:pt x="8479" y="5907"/>
                    <a:pt x="8550" y="5978"/>
                    <a:pt x="8622" y="5978"/>
                  </a:cubicBezTo>
                  <a:lnTo>
                    <a:pt x="9812" y="5978"/>
                  </a:lnTo>
                  <a:lnTo>
                    <a:pt x="9812" y="6455"/>
                  </a:lnTo>
                  <a:cubicBezTo>
                    <a:pt x="9812" y="6597"/>
                    <a:pt x="9717" y="6717"/>
                    <a:pt x="9574" y="6717"/>
                  </a:cubicBezTo>
                  <a:lnTo>
                    <a:pt x="549" y="6717"/>
                  </a:lnTo>
                  <a:cubicBezTo>
                    <a:pt x="406" y="6717"/>
                    <a:pt x="287" y="6597"/>
                    <a:pt x="287" y="6455"/>
                  </a:cubicBezTo>
                  <a:lnTo>
                    <a:pt x="287" y="5978"/>
                  </a:lnTo>
                  <a:lnTo>
                    <a:pt x="7979" y="5978"/>
                  </a:lnTo>
                  <a:cubicBezTo>
                    <a:pt x="8050" y="5978"/>
                    <a:pt x="8122" y="5907"/>
                    <a:pt x="8122" y="5812"/>
                  </a:cubicBezTo>
                  <a:cubicBezTo>
                    <a:pt x="8122" y="5740"/>
                    <a:pt x="8050" y="5669"/>
                    <a:pt x="7979" y="5669"/>
                  </a:cubicBezTo>
                  <a:lnTo>
                    <a:pt x="6216" y="5669"/>
                  </a:lnTo>
                  <a:lnTo>
                    <a:pt x="6216" y="310"/>
                  </a:lnTo>
                  <a:close/>
                  <a:moveTo>
                    <a:pt x="5335" y="7002"/>
                  </a:moveTo>
                  <a:lnTo>
                    <a:pt x="5335" y="7193"/>
                  </a:lnTo>
                  <a:cubicBezTo>
                    <a:pt x="5335" y="7360"/>
                    <a:pt x="5216" y="7479"/>
                    <a:pt x="5049" y="7479"/>
                  </a:cubicBezTo>
                  <a:cubicBezTo>
                    <a:pt x="4907" y="7479"/>
                    <a:pt x="4764" y="7360"/>
                    <a:pt x="4764" y="7193"/>
                  </a:cubicBezTo>
                  <a:lnTo>
                    <a:pt x="4764" y="7002"/>
                  </a:lnTo>
                  <a:close/>
                  <a:moveTo>
                    <a:pt x="6073" y="7002"/>
                  </a:moveTo>
                  <a:lnTo>
                    <a:pt x="6169" y="8241"/>
                  </a:lnTo>
                  <a:lnTo>
                    <a:pt x="3954" y="8241"/>
                  </a:lnTo>
                  <a:lnTo>
                    <a:pt x="4049" y="7002"/>
                  </a:lnTo>
                  <a:lnTo>
                    <a:pt x="4478" y="7002"/>
                  </a:lnTo>
                  <a:lnTo>
                    <a:pt x="4478" y="7193"/>
                  </a:lnTo>
                  <a:cubicBezTo>
                    <a:pt x="4478" y="7526"/>
                    <a:pt x="4740" y="7788"/>
                    <a:pt x="5049" y="7788"/>
                  </a:cubicBezTo>
                  <a:cubicBezTo>
                    <a:pt x="5383" y="7788"/>
                    <a:pt x="5645" y="7526"/>
                    <a:pt x="5645" y="7193"/>
                  </a:cubicBezTo>
                  <a:lnTo>
                    <a:pt x="5645" y="7002"/>
                  </a:lnTo>
                  <a:close/>
                  <a:moveTo>
                    <a:pt x="6859" y="8526"/>
                  </a:moveTo>
                  <a:cubicBezTo>
                    <a:pt x="6883" y="8526"/>
                    <a:pt x="6907" y="8550"/>
                    <a:pt x="6907" y="8574"/>
                  </a:cubicBezTo>
                  <a:lnTo>
                    <a:pt x="6907" y="8955"/>
                  </a:lnTo>
                  <a:cubicBezTo>
                    <a:pt x="6907" y="8979"/>
                    <a:pt x="6883" y="9003"/>
                    <a:pt x="6859" y="9003"/>
                  </a:cubicBezTo>
                  <a:lnTo>
                    <a:pt x="3263" y="9003"/>
                  </a:lnTo>
                  <a:cubicBezTo>
                    <a:pt x="3240" y="9003"/>
                    <a:pt x="3216" y="8979"/>
                    <a:pt x="3216" y="8955"/>
                  </a:cubicBezTo>
                  <a:lnTo>
                    <a:pt x="3216" y="8574"/>
                  </a:lnTo>
                  <a:cubicBezTo>
                    <a:pt x="3216" y="8550"/>
                    <a:pt x="3240" y="8526"/>
                    <a:pt x="3263" y="8526"/>
                  </a:cubicBezTo>
                  <a:close/>
                  <a:moveTo>
                    <a:pt x="549" y="1"/>
                  </a:moveTo>
                  <a:cubicBezTo>
                    <a:pt x="239" y="1"/>
                    <a:pt x="1" y="239"/>
                    <a:pt x="1" y="549"/>
                  </a:cubicBezTo>
                  <a:lnTo>
                    <a:pt x="1" y="1477"/>
                  </a:lnTo>
                  <a:cubicBezTo>
                    <a:pt x="1" y="1573"/>
                    <a:pt x="72" y="1644"/>
                    <a:pt x="144" y="1644"/>
                  </a:cubicBezTo>
                  <a:cubicBezTo>
                    <a:pt x="215" y="1644"/>
                    <a:pt x="287" y="1573"/>
                    <a:pt x="287" y="1477"/>
                  </a:cubicBezTo>
                  <a:lnTo>
                    <a:pt x="287" y="549"/>
                  </a:lnTo>
                  <a:cubicBezTo>
                    <a:pt x="287" y="406"/>
                    <a:pt x="406" y="310"/>
                    <a:pt x="549" y="310"/>
                  </a:cubicBezTo>
                  <a:lnTo>
                    <a:pt x="5907" y="310"/>
                  </a:lnTo>
                  <a:lnTo>
                    <a:pt x="5907" y="5669"/>
                  </a:lnTo>
                  <a:lnTo>
                    <a:pt x="287" y="5669"/>
                  </a:lnTo>
                  <a:lnTo>
                    <a:pt x="287" y="2144"/>
                  </a:lnTo>
                  <a:cubicBezTo>
                    <a:pt x="287" y="2049"/>
                    <a:pt x="239" y="2001"/>
                    <a:pt x="144" y="2001"/>
                  </a:cubicBezTo>
                  <a:cubicBezTo>
                    <a:pt x="72" y="2001"/>
                    <a:pt x="1" y="2049"/>
                    <a:pt x="1" y="2144"/>
                  </a:cubicBezTo>
                  <a:lnTo>
                    <a:pt x="1" y="6455"/>
                  </a:lnTo>
                  <a:cubicBezTo>
                    <a:pt x="1" y="6764"/>
                    <a:pt x="239" y="7002"/>
                    <a:pt x="549" y="7002"/>
                  </a:cubicBezTo>
                  <a:lnTo>
                    <a:pt x="3763" y="7002"/>
                  </a:lnTo>
                  <a:lnTo>
                    <a:pt x="3644" y="8241"/>
                  </a:lnTo>
                  <a:lnTo>
                    <a:pt x="3263" y="8241"/>
                  </a:lnTo>
                  <a:cubicBezTo>
                    <a:pt x="3073" y="8241"/>
                    <a:pt x="2930" y="8384"/>
                    <a:pt x="2930" y="8574"/>
                  </a:cubicBezTo>
                  <a:lnTo>
                    <a:pt x="2930" y="8955"/>
                  </a:lnTo>
                  <a:cubicBezTo>
                    <a:pt x="2930" y="9146"/>
                    <a:pt x="3073" y="9288"/>
                    <a:pt x="3263" y="9288"/>
                  </a:cubicBezTo>
                  <a:lnTo>
                    <a:pt x="6859" y="9288"/>
                  </a:lnTo>
                  <a:cubicBezTo>
                    <a:pt x="7050" y="9288"/>
                    <a:pt x="7193" y="9146"/>
                    <a:pt x="7193" y="8955"/>
                  </a:cubicBezTo>
                  <a:lnTo>
                    <a:pt x="7193" y="8574"/>
                  </a:lnTo>
                  <a:cubicBezTo>
                    <a:pt x="7193" y="8384"/>
                    <a:pt x="7050" y="8241"/>
                    <a:pt x="6859" y="8241"/>
                  </a:cubicBezTo>
                  <a:lnTo>
                    <a:pt x="6478" y="8241"/>
                  </a:lnTo>
                  <a:lnTo>
                    <a:pt x="6359" y="7002"/>
                  </a:lnTo>
                  <a:lnTo>
                    <a:pt x="9574" y="7002"/>
                  </a:lnTo>
                  <a:cubicBezTo>
                    <a:pt x="9860" y="7002"/>
                    <a:pt x="10122" y="6764"/>
                    <a:pt x="10122" y="6455"/>
                  </a:cubicBezTo>
                  <a:lnTo>
                    <a:pt x="10122" y="549"/>
                  </a:lnTo>
                  <a:cubicBezTo>
                    <a:pt x="10122" y="239"/>
                    <a:pt x="9884" y="1"/>
                    <a:pt x="9574" y="1"/>
                  </a:cubicBezTo>
                  <a:close/>
                </a:path>
              </a:pathLst>
            </a:custGeom>
            <a:solidFill>
              <a:srgbClr val="FD0C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64" name="Google Shape;2831;p94"/>
            <p:cNvSpPr/>
            <p:nvPr/>
          </p:nvSpPr>
          <p:spPr bwMode="auto">
            <a:xfrm>
              <a:off x="3420988" y="2296022"/>
              <a:ext cx="143441" cy="113382"/>
            </a:xfrm>
            <a:custGeom>
              <a:avLst/>
              <a:gdLst/>
              <a:ahLst/>
              <a:cxnLst/>
              <a:rect l="l" t="t" r="r" b="b"/>
              <a:pathLst>
                <a:path w="4264" h="3296" fill="norm" stroke="1" extrusionOk="0">
                  <a:moveTo>
                    <a:pt x="3897" y="0"/>
                  </a:moveTo>
                  <a:cubicBezTo>
                    <a:pt x="3848" y="0"/>
                    <a:pt x="3805" y="22"/>
                    <a:pt x="3787" y="57"/>
                  </a:cubicBezTo>
                  <a:lnTo>
                    <a:pt x="2835" y="1176"/>
                  </a:lnTo>
                  <a:lnTo>
                    <a:pt x="2596" y="986"/>
                  </a:lnTo>
                  <a:cubicBezTo>
                    <a:pt x="2573" y="962"/>
                    <a:pt x="2537" y="950"/>
                    <a:pt x="2501" y="950"/>
                  </a:cubicBezTo>
                  <a:cubicBezTo>
                    <a:pt x="2465" y="950"/>
                    <a:pt x="2430" y="962"/>
                    <a:pt x="2406" y="986"/>
                  </a:cubicBezTo>
                  <a:lnTo>
                    <a:pt x="1811" y="1629"/>
                  </a:lnTo>
                  <a:lnTo>
                    <a:pt x="1096" y="1367"/>
                  </a:lnTo>
                  <a:cubicBezTo>
                    <a:pt x="1084" y="1355"/>
                    <a:pt x="1066" y="1349"/>
                    <a:pt x="1045" y="1349"/>
                  </a:cubicBezTo>
                  <a:cubicBezTo>
                    <a:pt x="1025" y="1349"/>
                    <a:pt x="1001" y="1355"/>
                    <a:pt x="977" y="1367"/>
                  </a:cubicBezTo>
                  <a:lnTo>
                    <a:pt x="286" y="1772"/>
                  </a:lnTo>
                  <a:lnTo>
                    <a:pt x="286" y="462"/>
                  </a:lnTo>
                  <a:cubicBezTo>
                    <a:pt x="286" y="391"/>
                    <a:pt x="239" y="319"/>
                    <a:pt x="144" y="319"/>
                  </a:cubicBezTo>
                  <a:cubicBezTo>
                    <a:pt x="72" y="319"/>
                    <a:pt x="1" y="391"/>
                    <a:pt x="1" y="462"/>
                  </a:cubicBezTo>
                  <a:lnTo>
                    <a:pt x="1" y="3153"/>
                  </a:lnTo>
                  <a:cubicBezTo>
                    <a:pt x="1" y="3225"/>
                    <a:pt x="72" y="3296"/>
                    <a:pt x="144" y="3296"/>
                  </a:cubicBezTo>
                  <a:lnTo>
                    <a:pt x="4121" y="3296"/>
                  </a:lnTo>
                  <a:cubicBezTo>
                    <a:pt x="4192" y="3296"/>
                    <a:pt x="4263" y="3225"/>
                    <a:pt x="4263" y="3153"/>
                  </a:cubicBezTo>
                  <a:cubicBezTo>
                    <a:pt x="4263" y="3082"/>
                    <a:pt x="4216" y="3010"/>
                    <a:pt x="4121" y="3010"/>
                  </a:cubicBezTo>
                  <a:lnTo>
                    <a:pt x="4049" y="3010"/>
                  </a:lnTo>
                  <a:lnTo>
                    <a:pt x="4049" y="2200"/>
                  </a:lnTo>
                  <a:cubicBezTo>
                    <a:pt x="4049" y="2105"/>
                    <a:pt x="3978" y="2034"/>
                    <a:pt x="3906" y="2034"/>
                  </a:cubicBezTo>
                  <a:cubicBezTo>
                    <a:pt x="3811" y="2034"/>
                    <a:pt x="3739" y="2105"/>
                    <a:pt x="3739" y="2200"/>
                  </a:cubicBezTo>
                  <a:lnTo>
                    <a:pt x="3739" y="3010"/>
                  </a:lnTo>
                  <a:lnTo>
                    <a:pt x="3382" y="3010"/>
                  </a:lnTo>
                  <a:lnTo>
                    <a:pt x="3382" y="2891"/>
                  </a:lnTo>
                  <a:cubicBezTo>
                    <a:pt x="3382" y="2820"/>
                    <a:pt x="3311" y="2748"/>
                    <a:pt x="3239" y="2748"/>
                  </a:cubicBezTo>
                  <a:cubicBezTo>
                    <a:pt x="3144" y="2748"/>
                    <a:pt x="3073" y="2796"/>
                    <a:pt x="3073" y="2891"/>
                  </a:cubicBezTo>
                  <a:lnTo>
                    <a:pt x="3073" y="3010"/>
                  </a:lnTo>
                  <a:lnTo>
                    <a:pt x="2573" y="3010"/>
                  </a:lnTo>
                  <a:lnTo>
                    <a:pt x="2573" y="2891"/>
                  </a:lnTo>
                  <a:cubicBezTo>
                    <a:pt x="2573" y="2820"/>
                    <a:pt x="2525" y="2748"/>
                    <a:pt x="2430" y="2748"/>
                  </a:cubicBezTo>
                  <a:cubicBezTo>
                    <a:pt x="2358" y="2748"/>
                    <a:pt x="2287" y="2796"/>
                    <a:pt x="2287" y="2891"/>
                  </a:cubicBezTo>
                  <a:lnTo>
                    <a:pt x="2287" y="3010"/>
                  </a:lnTo>
                  <a:lnTo>
                    <a:pt x="1787" y="3010"/>
                  </a:lnTo>
                  <a:lnTo>
                    <a:pt x="1787" y="2891"/>
                  </a:lnTo>
                  <a:cubicBezTo>
                    <a:pt x="1787" y="2820"/>
                    <a:pt x="1715" y="2748"/>
                    <a:pt x="1644" y="2748"/>
                  </a:cubicBezTo>
                  <a:cubicBezTo>
                    <a:pt x="1549" y="2748"/>
                    <a:pt x="1501" y="2796"/>
                    <a:pt x="1501" y="2891"/>
                  </a:cubicBezTo>
                  <a:lnTo>
                    <a:pt x="1501" y="3010"/>
                  </a:lnTo>
                  <a:lnTo>
                    <a:pt x="1001" y="3010"/>
                  </a:lnTo>
                  <a:lnTo>
                    <a:pt x="1001" y="2891"/>
                  </a:lnTo>
                  <a:cubicBezTo>
                    <a:pt x="1001" y="2820"/>
                    <a:pt x="929" y="2748"/>
                    <a:pt x="834" y="2748"/>
                  </a:cubicBezTo>
                  <a:cubicBezTo>
                    <a:pt x="763" y="2748"/>
                    <a:pt x="691" y="2796"/>
                    <a:pt x="691" y="2891"/>
                  </a:cubicBezTo>
                  <a:lnTo>
                    <a:pt x="691" y="3010"/>
                  </a:lnTo>
                  <a:lnTo>
                    <a:pt x="286" y="3010"/>
                  </a:lnTo>
                  <a:lnTo>
                    <a:pt x="286" y="2105"/>
                  </a:lnTo>
                  <a:lnTo>
                    <a:pt x="1048" y="1653"/>
                  </a:lnTo>
                  <a:lnTo>
                    <a:pt x="1811" y="1962"/>
                  </a:lnTo>
                  <a:cubicBezTo>
                    <a:pt x="1823" y="1969"/>
                    <a:pt x="1838" y="1972"/>
                    <a:pt x="1853" y="1972"/>
                  </a:cubicBezTo>
                  <a:cubicBezTo>
                    <a:pt x="1893" y="1972"/>
                    <a:pt x="1936" y="1950"/>
                    <a:pt x="1953" y="1915"/>
                  </a:cubicBezTo>
                  <a:lnTo>
                    <a:pt x="2525" y="1296"/>
                  </a:lnTo>
                  <a:lnTo>
                    <a:pt x="2763" y="1486"/>
                  </a:lnTo>
                  <a:cubicBezTo>
                    <a:pt x="2795" y="1518"/>
                    <a:pt x="2828" y="1531"/>
                    <a:pt x="2860" y="1531"/>
                  </a:cubicBezTo>
                  <a:cubicBezTo>
                    <a:pt x="2899" y="1531"/>
                    <a:pt x="2938" y="1512"/>
                    <a:pt x="2977" y="1486"/>
                  </a:cubicBezTo>
                  <a:lnTo>
                    <a:pt x="3739" y="557"/>
                  </a:lnTo>
                  <a:lnTo>
                    <a:pt x="3739" y="1534"/>
                  </a:lnTo>
                  <a:cubicBezTo>
                    <a:pt x="3739" y="1629"/>
                    <a:pt x="3811" y="1677"/>
                    <a:pt x="3882" y="1677"/>
                  </a:cubicBezTo>
                  <a:cubicBezTo>
                    <a:pt x="3978" y="1677"/>
                    <a:pt x="4049" y="1629"/>
                    <a:pt x="4049" y="1534"/>
                  </a:cubicBezTo>
                  <a:lnTo>
                    <a:pt x="4049" y="152"/>
                  </a:lnTo>
                  <a:cubicBezTo>
                    <a:pt x="4049" y="81"/>
                    <a:pt x="4001" y="33"/>
                    <a:pt x="3954" y="10"/>
                  </a:cubicBezTo>
                  <a:cubicBezTo>
                    <a:pt x="3935" y="3"/>
                    <a:pt x="3916" y="0"/>
                    <a:pt x="3897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65" name="Google Shape;2832;p94"/>
            <p:cNvSpPr/>
            <p:nvPr/>
          </p:nvSpPr>
          <p:spPr bwMode="auto">
            <a:xfrm>
              <a:off x="3451433" y="2319276"/>
              <a:ext cx="9655" cy="13966"/>
            </a:xfrm>
            <a:custGeom>
              <a:avLst/>
              <a:gdLst/>
              <a:ahLst/>
              <a:cxnLst/>
              <a:rect l="l" t="t" r="r" b="b"/>
              <a:pathLst>
                <a:path w="287" h="406" fill="norm" stroke="1" extrusionOk="0">
                  <a:moveTo>
                    <a:pt x="143" y="0"/>
                  </a:moveTo>
                  <a:cubicBezTo>
                    <a:pt x="72" y="0"/>
                    <a:pt x="1" y="72"/>
                    <a:pt x="1" y="167"/>
                  </a:cubicBezTo>
                  <a:lnTo>
                    <a:pt x="1" y="262"/>
                  </a:lnTo>
                  <a:cubicBezTo>
                    <a:pt x="1" y="358"/>
                    <a:pt x="72" y="405"/>
                    <a:pt x="143" y="405"/>
                  </a:cubicBezTo>
                  <a:cubicBezTo>
                    <a:pt x="239" y="405"/>
                    <a:pt x="286" y="358"/>
                    <a:pt x="286" y="262"/>
                  </a:cubicBezTo>
                  <a:lnTo>
                    <a:pt x="286" y="167"/>
                  </a:lnTo>
                  <a:cubicBezTo>
                    <a:pt x="286" y="72"/>
                    <a:pt x="239" y="0"/>
                    <a:pt x="143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66" name="Google Shape;2833;p94"/>
            <p:cNvSpPr/>
            <p:nvPr/>
          </p:nvSpPr>
          <p:spPr bwMode="auto">
            <a:xfrm>
              <a:off x="3500312" y="2305344"/>
              <a:ext cx="10428" cy="13966"/>
            </a:xfrm>
            <a:custGeom>
              <a:avLst/>
              <a:gdLst/>
              <a:ahLst/>
              <a:cxnLst/>
              <a:rect l="l" t="t" r="r" b="b"/>
              <a:pathLst>
                <a:path w="310" h="406" fill="norm" stroke="1" extrusionOk="0">
                  <a:moveTo>
                    <a:pt x="143" y="1"/>
                  </a:moveTo>
                  <a:cubicBezTo>
                    <a:pt x="72" y="1"/>
                    <a:pt x="0" y="72"/>
                    <a:pt x="0" y="143"/>
                  </a:cubicBezTo>
                  <a:lnTo>
                    <a:pt x="0" y="262"/>
                  </a:lnTo>
                  <a:cubicBezTo>
                    <a:pt x="0" y="334"/>
                    <a:pt x="72" y="405"/>
                    <a:pt x="143" y="405"/>
                  </a:cubicBezTo>
                  <a:cubicBezTo>
                    <a:pt x="238" y="405"/>
                    <a:pt x="310" y="334"/>
                    <a:pt x="310" y="262"/>
                  </a:cubicBezTo>
                  <a:lnTo>
                    <a:pt x="310" y="143"/>
                  </a:lnTo>
                  <a:cubicBezTo>
                    <a:pt x="310" y="72"/>
                    <a:pt x="238" y="1"/>
                    <a:pt x="143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67" name="Google Shape;2834;p94"/>
            <p:cNvSpPr/>
            <p:nvPr/>
          </p:nvSpPr>
          <p:spPr bwMode="auto">
            <a:xfrm>
              <a:off x="3546769" y="2275038"/>
              <a:ext cx="10462" cy="13966"/>
            </a:xfrm>
            <a:custGeom>
              <a:avLst/>
              <a:gdLst/>
              <a:ahLst/>
              <a:cxnLst/>
              <a:rect l="l" t="t" r="r" b="b"/>
              <a:pathLst>
                <a:path w="311" h="406" fill="norm" stroke="1" extrusionOk="0">
                  <a:moveTo>
                    <a:pt x="167" y="0"/>
                  </a:moveTo>
                  <a:cubicBezTo>
                    <a:pt x="72" y="0"/>
                    <a:pt x="0" y="48"/>
                    <a:pt x="0" y="143"/>
                  </a:cubicBezTo>
                  <a:lnTo>
                    <a:pt x="0" y="239"/>
                  </a:lnTo>
                  <a:cubicBezTo>
                    <a:pt x="0" y="334"/>
                    <a:pt x="72" y="405"/>
                    <a:pt x="167" y="405"/>
                  </a:cubicBezTo>
                  <a:cubicBezTo>
                    <a:pt x="239" y="405"/>
                    <a:pt x="310" y="334"/>
                    <a:pt x="310" y="239"/>
                  </a:cubicBezTo>
                  <a:lnTo>
                    <a:pt x="310" y="143"/>
                  </a:lnTo>
                  <a:cubicBezTo>
                    <a:pt x="310" y="48"/>
                    <a:pt x="239" y="0"/>
                    <a:pt x="167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68" name="Google Shape;2835;p94"/>
            <p:cNvSpPr/>
            <p:nvPr/>
          </p:nvSpPr>
          <p:spPr bwMode="auto">
            <a:xfrm>
              <a:off x="3420988" y="2260280"/>
              <a:ext cx="27282" cy="9873"/>
            </a:xfrm>
            <a:custGeom>
              <a:avLst/>
              <a:gdLst/>
              <a:ahLst/>
              <a:cxnLst/>
              <a:rect l="l" t="t" r="r" b="b"/>
              <a:pathLst>
                <a:path w="811" h="287" fill="norm" stroke="1" extrusionOk="0">
                  <a:moveTo>
                    <a:pt x="144" y="1"/>
                  </a:moveTo>
                  <a:cubicBezTo>
                    <a:pt x="72" y="1"/>
                    <a:pt x="1" y="72"/>
                    <a:pt x="1" y="144"/>
                  </a:cubicBezTo>
                  <a:cubicBezTo>
                    <a:pt x="1" y="239"/>
                    <a:pt x="72" y="287"/>
                    <a:pt x="144" y="287"/>
                  </a:cubicBezTo>
                  <a:lnTo>
                    <a:pt x="667" y="287"/>
                  </a:lnTo>
                  <a:cubicBezTo>
                    <a:pt x="739" y="287"/>
                    <a:pt x="810" y="239"/>
                    <a:pt x="810" y="144"/>
                  </a:cubicBezTo>
                  <a:cubicBezTo>
                    <a:pt x="810" y="72"/>
                    <a:pt x="739" y="1"/>
                    <a:pt x="667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69" name="Google Shape;2836;p94"/>
            <p:cNvSpPr/>
            <p:nvPr/>
          </p:nvSpPr>
          <p:spPr bwMode="auto">
            <a:xfrm>
              <a:off x="3420988" y="2279131"/>
              <a:ext cx="47298" cy="10698"/>
            </a:xfrm>
            <a:custGeom>
              <a:avLst/>
              <a:gdLst/>
              <a:ahLst/>
              <a:cxnLst/>
              <a:rect l="l" t="t" r="r" b="b"/>
              <a:pathLst>
                <a:path w="1406" h="311" fill="norm" stroke="1" extrusionOk="0">
                  <a:moveTo>
                    <a:pt x="144" y="0"/>
                  </a:moveTo>
                  <a:cubicBezTo>
                    <a:pt x="72" y="0"/>
                    <a:pt x="1" y="72"/>
                    <a:pt x="1" y="143"/>
                  </a:cubicBezTo>
                  <a:cubicBezTo>
                    <a:pt x="1" y="239"/>
                    <a:pt x="72" y="310"/>
                    <a:pt x="144" y="310"/>
                  </a:cubicBezTo>
                  <a:lnTo>
                    <a:pt x="1239" y="310"/>
                  </a:lnTo>
                  <a:cubicBezTo>
                    <a:pt x="1334" y="310"/>
                    <a:pt x="1406" y="239"/>
                    <a:pt x="1406" y="143"/>
                  </a:cubicBezTo>
                  <a:cubicBezTo>
                    <a:pt x="1406" y="72"/>
                    <a:pt x="1334" y="0"/>
                    <a:pt x="1239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70" name="Google Shape;2837;p94"/>
            <p:cNvSpPr/>
            <p:nvPr/>
          </p:nvSpPr>
          <p:spPr bwMode="auto">
            <a:xfrm>
              <a:off x="3640490" y="2276689"/>
              <a:ext cx="31285" cy="54077"/>
            </a:xfrm>
            <a:custGeom>
              <a:avLst/>
              <a:gdLst/>
              <a:ahLst/>
              <a:cxnLst/>
              <a:rect l="l" t="t" r="r" b="b"/>
              <a:pathLst>
                <a:path w="930" h="1572" fill="norm" stroke="1" extrusionOk="0">
                  <a:moveTo>
                    <a:pt x="453" y="0"/>
                  </a:moveTo>
                  <a:cubicBezTo>
                    <a:pt x="382" y="0"/>
                    <a:pt x="310" y="48"/>
                    <a:pt x="310" y="143"/>
                  </a:cubicBezTo>
                  <a:lnTo>
                    <a:pt x="310" y="167"/>
                  </a:lnTo>
                  <a:cubicBezTo>
                    <a:pt x="144" y="214"/>
                    <a:pt x="1" y="357"/>
                    <a:pt x="1" y="548"/>
                  </a:cubicBezTo>
                  <a:cubicBezTo>
                    <a:pt x="1" y="762"/>
                    <a:pt x="167" y="929"/>
                    <a:pt x="382" y="929"/>
                  </a:cubicBezTo>
                  <a:lnTo>
                    <a:pt x="525" y="929"/>
                  </a:lnTo>
                  <a:cubicBezTo>
                    <a:pt x="572" y="929"/>
                    <a:pt x="620" y="976"/>
                    <a:pt x="620" y="1024"/>
                  </a:cubicBezTo>
                  <a:cubicBezTo>
                    <a:pt x="620" y="1072"/>
                    <a:pt x="572" y="1119"/>
                    <a:pt x="525" y="1119"/>
                  </a:cubicBezTo>
                  <a:lnTo>
                    <a:pt x="382" y="1119"/>
                  </a:lnTo>
                  <a:cubicBezTo>
                    <a:pt x="358" y="1119"/>
                    <a:pt x="310" y="1095"/>
                    <a:pt x="310" y="1048"/>
                  </a:cubicBezTo>
                  <a:cubicBezTo>
                    <a:pt x="293" y="994"/>
                    <a:pt x="234" y="967"/>
                    <a:pt x="176" y="967"/>
                  </a:cubicBezTo>
                  <a:cubicBezTo>
                    <a:pt x="157" y="967"/>
                    <a:pt x="138" y="970"/>
                    <a:pt x="120" y="976"/>
                  </a:cubicBezTo>
                  <a:cubicBezTo>
                    <a:pt x="48" y="1024"/>
                    <a:pt x="1" y="1095"/>
                    <a:pt x="48" y="1167"/>
                  </a:cubicBezTo>
                  <a:cubicBezTo>
                    <a:pt x="96" y="1286"/>
                    <a:pt x="191" y="1381"/>
                    <a:pt x="310" y="1405"/>
                  </a:cubicBezTo>
                  <a:cubicBezTo>
                    <a:pt x="310" y="1500"/>
                    <a:pt x="382" y="1572"/>
                    <a:pt x="453" y="1572"/>
                  </a:cubicBezTo>
                  <a:cubicBezTo>
                    <a:pt x="549" y="1572"/>
                    <a:pt x="620" y="1500"/>
                    <a:pt x="620" y="1405"/>
                  </a:cubicBezTo>
                  <a:cubicBezTo>
                    <a:pt x="787" y="1357"/>
                    <a:pt x="930" y="1215"/>
                    <a:pt x="930" y="1024"/>
                  </a:cubicBezTo>
                  <a:cubicBezTo>
                    <a:pt x="930" y="810"/>
                    <a:pt x="739" y="643"/>
                    <a:pt x="525" y="643"/>
                  </a:cubicBezTo>
                  <a:lnTo>
                    <a:pt x="382" y="643"/>
                  </a:lnTo>
                  <a:cubicBezTo>
                    <a:pt x="334" y="643"/>
                    <a:pt x="310" y="595"/>
                    <a:pt x="310" y="548"/>
                  </a:cubicBezTo>
                  <a:cubicBezTo>
                    <a:pt x="310" y="500"/>
                    <a:pt x="334" y="453"/>
                    <a:pt x="382" y="453"/>
                  </a:cubicBezTo>
                  <a:lnTo>
                    <a:pt x="525" y="453"/>
                  </a:lnTo>
                  <a:cubicBezTo>
                    <a:pt x="572" y="453"/>
                    <a:pt x="596" y="476"/>
                    <a:pt x="620" y="500"/>
                  </a:cubicBezTo>
                  <a:cubicBezTo>
                    <a:pt x="635" y="546"/>
                    <a:pt x="681" y="573"/>
                    <a:pt x="730" y="573"/>
                  </a:cubicBezTo>
                  <a:cubicBezTo>
                    <a:pt x="757" y="573"/>
                    <a:pt x="785" y="565"/>
                    <a:pt x="810" y="548"/>
                  </a:cubicBezTo>
                  <a:cubicBezTo>
                    <a:pt x="882" y="500"/>
                    <a:pt x="906" y="405"/>
                    <a:pt x="858" y="333"/>
                  </a:cubicBezTo>
                  <a:cubicBezTo>
                    <a:pt x="787" y="238"/>
                    <a:pt x="715" y="191"/>
                    <a:pt x="620" y="167"/>
                  </a:cubicBezTo>
                  <a:lnTo>
                    <a:pt x="620" y="143"/>
                  </a:lnTo>
                  <a:cubicBezTo>
                    <a:pt x="620" y="48"/>
                    <a:pt x="549" y="0"/>
                    <a:pt x="453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71" name="Google Shape;2838;p94"/>
            <p:cNvSpPr/>
            <p:nvPr/>
          </p:nvSpPr>
          <p:spPr bwMode="auto">
            <a:xfrm>
              <a:off x="3614049" y="2260280"/>
              <a:ext cx="84167" cy="86069"/>
            </a:xfrm>
            <a:custGeom>
              <a:avLst/>
              <a:gdLst/>
              <a:ahLst/>
              <a:cxnLst/>
              <a:rect l="l" t="t" r="r" b="b"/>
              <a:pathLst>
                <a:path w="2502" h="2502" fill="norm" stroke="1" extrusionOk="0">
                  <a:moveTo>
                    <a:pt x="1239" y="287"/>
                  </a:moveTo>
                  <a:cubicBezTo>
                    <a:pt x="1763" y="287"/>
                    <a:pt x="2216" y="715"/>
                    <a:pt x="2216" y="1263"/>
                  </a:cubicBezTo>
                  <a:cubicBezTo>
                    <a:pt x="2216" y="1787"/>
                    <a:pt x="1787" y="2215"/>
                    <a:pt x="1239" y="2215"/>
                  </a:cubicBezTo>
                  <a:cubicBezTo>
                    <a:pt x="715" y="2215"/>
                    <a:pt x="287" y="1787"/>
                    <a:pt x="287" y="1263"/>
                  </a:cubicBezTo>
                  <a:cubicBezTo>
                    <a:pt x="287" y="715"/>
                    <a:pt x="715" y="287"/>
                    <a:pt x="1239" y="287"/>
                  </a:cubicBezTo>
                  <a:close/>
                  <a:moveTo>
                    <a:pt x="1239" y="1"/>
                  </a:moveTo>
                  <a:cubicBezTo>
                    <a:pt x="549" y="1"/>
                    <a:pt x="1" y="548"/>
                    <a:pt x="1" y="1239"/>
                  </a:cubicBezTo>
                  <a:cubicBezTo>
                    <a:pt x="1" y="1954"/>
                    <a:pt x="549" y="2501"/>
                    <a:pt x="1239" y="2501"/>
                  </a:cubicBezTo>
                  <a:cubicBezTo>
                    <a:pt x="1930" y="2501"/>
                    <a:pt x="2501" y="1954"/>
                    <a:pt x="2501" y="1239"/>
                  </a:cubicBezTo>
                  <a:cubicBezTo>
                    <a:pt x="2501" y="572"/>
                    <a:pt x="1930" y="1"/>
                    <a:pt x="1239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72" name="Google Shape;2839;p94"/>
            <p:cNvSpPr/>
            <p:nvPr/>
          </p:nvSpPr>
          <p:spPr bwMode="auto">
            <a:xfrm>
              <a:off x="3610046" y="2358595"/>
              <a:ext cx="45717" cy="10698"/>
            </a:xfrm>
            <a:custGeom>
              <a:avLst/>
              <a:gdLst/>
              <a:ahLst/>
              <a:cxnLst/>
              <a:rect l="l" t="t" r="r" b="b"/>
              <a:pathLst>
                <a:path w="1359" h="311" fill="norm" stroke="1" extrusionOk="0">
                  <a:moveTo>
                    <a:pt x="144" y="0"/>
                  </a:moveTo>
                  <a:cubicBezTo>
                    <a:pt x="48" y="0"/>
                    <a:pt x="1" y="72"/>
                    <a:pt x="1" y="143"/>
                  </a:cubicBezTo>
                  <a:cubicBezTo>
                    <a:pt x="1" y="239"/>
                    <a:pt x="48" y="310"/>
                    <a:pt x="144" y="310"/>
                  </a:cubicBezTo>
                  <a:lnTo>
                    <a:pt x="1215" y="310"/>
                  </a:lnTo>
                  <a:cubicBezTo>
                    <a:pt x="1287" y="310"/>
                    <a:pt x="1358" y="239"/>
                    <a:pt x="1358" y="143"/>
                  </a:cubicBezTo>
                  <a:cubicBezTo>
                    <a:pt x="1358" y="72"/>
                    <a:pt x="1311" y="0"/>
                    <a:pt x="1215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73" name="Google Shape;2840;p94"/>
            <p:cNvSpPr/>
            <p:nvPr/>
          </p:nvSpPr>
          <p:spPr bwMode="auto">
            <a:xfrm>
              <a:off x="3671742" y="2379063"/>
              <a:ext cx="25667" cy="9873"/>
            </a:xfrm>
            <a:custGeom>
              <a:avLst/>
              <a:gdLst/>
              <a:ahLst/>
              <a:cxnLst/>
              <a:rect l="l" t="t" r="r" b="b"/>
              <a:pathLst>
                <a:path w="763" h="287" fill="norm" stroke="1" extrusionOk="0">
                  <a:moveTo>
                    <a:pt x="143" y="1"/>
                  </a:moveTo>
                  <a:cubicBezTo>
                    <a:pt x="48" y="1"/>
                    <a:pt x="1" y="48"/>
                    <a:pt x="1" y="144"/>
                  </a:cubicBezTo>
                  <a:cubicBezTo>
                    <a:pt x="1" y="215"/>
                    <a:pt x="48" y="287"/>
                    <a:pt x="143" y="287"/>
                  </a:cubicBezTo>
                  <a:lnTo>
                    <a:pt x="596" y="287"/>
                  </a:lnTo>
                  <a:cubicBezTo>
                    <a:pt x="691" y="287"/>
                    <a:pt x="763" y="215"/>
                    <a:pt x="763" y="144"/>
                  </a:cubicBezTo>
                  <a:cubicBezTo>
                    <a:pt x="763" y="72"/>
                    <a:pt x="691" y="1"/>
                    <a:pt x="596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74" name="Google Shape;2841;p94"/>
            <p:cNvSpPr/>
            <p:nvPr/>
          </p:nvSpPr>
          <p:spPr bwMode="auto">
            <a:xfrm>
              <a:off x="3610046" y="2379063"/>
              <a:ext cx="28897" cy="9873"/>
            </a:xfrm>
            <a:custGeom>
              <a:avLst/>
              <a:gdLst/>
              <a:ahLst/>
              <a:cxnLst/>
              <a:rect l="l" t="t" r="r" b="b"/>
              <a:pathLst>
                <a:path w="859" h="287" fill="norm" stroke="1" extrusionOk="0">
                  <a:moveTo>
                    <a:pt x="144" y="1"/>
                  </a:moveTo>
                  <a:cubicBezTo>
                    <a:pt x="48" y="1"/>
                    <a:pt x="1" y="48"/>
                    <a:pt x="1" y="144"/>
                  </a:cubicBezTo>
                  <a:cubicBezTo>
                    <a:pt x="1" y="215"/>
                    <a:pt x="48" y="287"/>
                    <a:pt x="144" y="287"/>
                  </a:cubicBezTo>
                  <a:lnTo>
                    <a:pt x="715" y="287"/>
                  </a:lnTo>
                  <a:cubicBezTo>
                    <a:pt x="787" y="287"/>
                    <a:pt x="858" y="215"/>
                    <a:pt x="858" y="144"/>
                  </a:cubicBezTo>
                  <a:cubicBezTo>
                    <a:pt x="858" y="72"/>
                    <a:pt x="811" y="1"/>
                    <a:pt x="715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75" name="Google Shape;2842;p94"/>
            <p:cNvSpPr/>
            <p:nvPr/>
          </p:nvSpPr>
          <p:spPr bwMode="auto">
            <a:xfrm>
              <a:off x="3646108" y="2379063"/>
              <a:ext cx="19275" cy="9873"/>
            </a:xfrm>
            <a:custGeom>
              <a:avLst/>
              <a:gdLst/>
              <a:ahLst/>
              <a:cxnLst/>
              <a:rect l="l" t="t" r="r" b="b"/>
              <a:pathLst>
                <a:path w="573" h="287" fill="norm" stroke="1" extrusionOk="0">
                  <a:moveTo>
                    <a:pt x="143" y="1"/>
                  </a:moveTo>
                  <a:cubicBezTo>
                    <a:pt x="72" y="1"/>
                    <a:pt x="0" y="48"/>
                    <a:pt x="0" y="144"/>
                  </a:cubicBezTo>
                  <a:cubicBezTo>
                    <a:pt x="0" y="215"/>
                    <a:pt x="72" y="287"/>
                    <a:pt x="143" y="287"/>
                  </a:cubicBezTo>
                  <a:lnTo>
                    <a:pt x="429" y="287"/>
                  </a:lnTo>
                  <a:cubicBezTo>
                    <a:pt x="501" y="287"/>
                    <a:pt x="572" y="215"/>
                    <a:pt x="572" y="144"/>
                  </a:cubicBezTo>
                  <a:cubicBezTo>
                    <a:pt x="572" y="72"/>
                    <a:pt x="501" y="1"/>
                    <a:pt x="429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76" name="Google Shape;2843;p94"/>
            <p:cNvSpPr/>
            <p:nvPr/>
          </p:nvSpPr>
          <p:spPr bwMode="auto">
            <a:xfrm>
              <a:off x="3610046" y="2398740"/>
              <a:ext cx="86556" cy="10664"/>
            </a:xfrm>
            <a:custGeom>
              <a:avLst/>
              <a:gdLst/>
              <a:ahLst/>
              <a:cxnLst/>
              <a:rect l="l" t="t" r="r" b="b"/>
              <a:pathLst>
                <a:path w="2573" h="310" fill="norm" stroke="1" extrusionOk="0">
                  <a:moveTo>
                    <a:pt x="144" y="0"/>
                  </a:moveTo>
                  <a:cubicBezTo>
                    <a:pt x="48" y="0"/>
                    <a:pt x="1" y="72"/>
                    <a:pt x="1" y="143"/>
                  </a:cubicBezTo>
                  <a:cubicBezTo>
                    <a:pt x="1" y="239"/>
                    <a:pt x="48" y="310"/>
                    <a:pt x="144" y="310"/>
                  </a:cubicBezTo>
                  <a:lnTo>
                    <a:pt x="2430" y="310"/>
                  </a:lnTo>
                  <a:cubicBezTo>
                    <a:pt x="2525" y="310"/>
                    <a:pt x="2573" y="239"/>
                    <a:pt x="2573" y="143"/>
                  </a:cubicBezTo>
                  <a:cubicBezTo>
                    <a:pt x="2573" y="72"/>
                    <a:pt x="2525" y="0"/>
                    <a:pt x="2430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</p:grpSp>
      <p:grpSp>
        <p:nvGrpSpPr>
          <p:cNvPr id="1749588672" name="Google Shape;2818;p94"/>
          <p:cNvGrpSpPr/>
          <p:nvPr/>
        </p:nvGrpSpPr>
        <p:grpSpPr bwMode="auto">
          <a:xfrm>
            <a:off x="5710488" y="1722647"/>
            <a:ext cx="738531" cy="731528"/>
            <a:chOff x="4078718" y="2222819"/>
            <a:chExt cx="340504" cy="339803"/>
          </a:xfrm>
        </p:grpSpPr>
        <p:sp>
          <p:nvSpPr>
            <p:cNvPr id="84" name="Google Shape;2819;p94"/>
            <p:cNvSpPr/>
            <p:nvPr/>
          </p:nvSpPr>
          <p:spPr bwMode="auto">
            <a:xfrm>
              <a:off x="4267775" y="2311674"/>
              <a:ext cx="17661" cy="13382"/>
            </a:xfrm>
            <a:custGeom>
              <a:avLst/>
              <a:gdLst/>
              <a:ahLst/>
              <a:cxnLst/>
              <a:rect l="l" t="t" r="r" b="b"/>
              <a:pathLst>
                <a:path w="525" h="389" fill="norm" stroke="1" extrusionOk="0">
                  <a:moveTo>
                    <a:pt x="348" y="1"/>
                  </a:moveTo>
                  <a:cubicBezTo>
                    <a:pt x="335" y="1"/>
                    <a:pt x="323" y="3"/>
                    <a:pt x="310" y="7"/>
                  </a:cubicBezTo>
                  <a:lnTo>
                    <a:pt x="96" y="102"/>
                  </a:lnTo>
                  <a:cubicBezTo>
                    <a:pt x="24" y="126"/>
                    <a:pt x="1" y="221"/>
                    <a:pt x="24" y="293"/>
                  </a:cubicBezTo>
                  <a:cubicBezTo>
                    <a:pt x="48" y="340"/>
                    <a:pt x="96" y="388"/>
                    <a:pt x="143" y="388"/>
                  </a:cubicBezTo>
                  <a:cubicBezTo>
                    <a:pt x="167" y="388"/>
                    <a:pt x="191" y="388"/>
                    <a:pt x="215" y="364"/>
                  </a:cubicBezTo>
                  <a:lnTo>
                    <a:pt x="405" y="293"/>
                  </a:lnTo>
                  <a:cubicBezTo>
                    <a:pt x="477" y="269"/>
                    <a:pt x="524" y="174"/>
                    <a:pt x="501" y="102"/>
                  </a:cubicBezTo>
                  <a:cubicBezTo>
                    <a:pt x="461" y="44"/>
                    <a:pt x="406" y="1"/>
                    <a:pt x="348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85" name="Google Shape;2820;p94"/>
            <p:cNvSpPr/>
            <p:nvPr/>
          </p:nvSpPr>
          <p:spPr bwMode="auto">
            <a:xfrm>
              <a:off x="4257347" y="2292719"/>
              <a:ext cx="16080" cy="15927"/>
            </a:xfrm>
            <a:custGeom>
              <a:avLst/>
              <a:gdLst/>
              <a:ahLst/>
              <a:cxnLst/>
              <a:rect l="l" t="t" r="r" b="b"/>
              <a:pathLst>
                <a:path w="478" h="463" fill="norm" stroke="1" extrusionOk="0">
                  <a:moveTo>
                    <a:pt x="298" y="1"/>
                  </a:moveTo>
                  <a:cubicBezTo>
                    <a:pt x="258" y="1"/>
                    <a:pt x="218" y="19"/>
                    <a:pt x="191" y="58"/>
                  </a:cubicBezTo>
                  <a:lnTo>
                    <a:pt x="49" y="225"/>
                  </a:lnTo>
                  <a:cubicBezTo>
                    <a:pt x="1" y="296"/>
                    <a:pt x="25" y="391"/>
                    <a:pt x="96" y="439"/>
                  </a:cubicBezTo>
                  <a:cubicBezTo>
                    <a:pt x="120" y="463"/>
                    <a:pt x="144" y="463"/>
                    <a:pt x="168" y="463"/>
                  </a:cubicBezTo>
                  <a:cubicBezTo>
                    <a:pt x="215" y="463"/>
                    <a:pt x="263" y="439"/>
                    <a:pt x="287" y="415"/>
                  </a:cubicBezTo>
                  <a:lnTo>
                    <a:pt x="430" y="225"/>
                  </a:lnTo>
                  <a:cubicBezTo>
                    <a:pt x="477" y="177"/>
                    <a:pt x="453" y="82"/>
                    <a:pt x="382" y="34"/>
                  </a:cubicBezTo>
                  <a:cubicBezTo>
                    <a:pt x="361" y="13"/>
                    <a:pt x="330" y="1"/>
                    <a:pt x="298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86" name="Google Shape;2821;p94"/>
            <p:cNvSpPr/>
            <p:nvPr/>
          </p:nvSpPr>
          <p:spPr bwMode="auto">
            <a:xfrm>
              <a:off x="4271778" y="2333208"/>
              <a:ext cx="17661" cy="11490"/>
            </a:xfrm>
            <a:custGeom>
              <a:avLst/>
              <a:gdLst/>
              <a:ahLst/>
              <a:cxnLst/>
              <a:rect l="l" t="t" r="r" b="b"/>
              <a:pathLst>
                <a:path w="525" h="334" fill="norm" stroke="1" extrusionOk="0">
                  <a:moveTo>
                    <a:pt x="191" y="0"/>
                  </a:moveTo>
                  <a:cubicBezTo>
                    <a:pt x="96" y="0"/>
                    <a:pt x="24" y="48"/>
                    <a:pt x="24" y="119"/>
                  </a:cubicBezTo>
                  <a:cubicBezTo>
                    <a:pt x="1" y="215"/>
                    <a:pt x="48" y="286"/>
                    <a:pt x="143" y="286"/>
                  </a:cubicBezTo>
                  <a:lnTo>
                    <a:pt x="358" y="334"/>
                  </a:lnTo>
                  <a:lnTo>
                    <a:pt x="382" y="334"/>
                  </a:lnTo>
                  <a:cubicBezTo>
                    <a:pt x="453" y="334"/>
                    <a:pt x="501" y="286"/>
                    <a:pt x="525" y="215"/>
                  </a:cubicBezTo>
                  <a:cubicBezTo>
                    <a:pt x="525" y="119"/>
                    <a:pt x="477" y="48"/>
                    <a:pt x="405" y="48"/>
                  </a:cubicBezTo>
                  <a:lnTo>
                    <a:pt x="191" y="0"/>
                  </a:ln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87" name="Google Shape;2822;p94"/>
            <p:cNvSpPr/>
            <p:nvPr/>
          </p:nvSpPr>
          <p:spPr bwMode="auto">
            <a:xfrm>
              <a:off x="4078718" y="2222819"/>
              <a:ext cx="340504" cy="339803"/>
            </a:xfrm>
            <a:custGeom>
              <a:avLst/>
              <a:gdLst/>
              <a:ahLst/>
              <a:cxnLst/>
              <a:rect l="l" t="t" r="r" b="b"/>
              <a:pathLst>
                <a:path w="10122" h="9878" fill="norm" stroke="1" extrusionOk="0">
                  <a:moveTo>
                    <a:pt x="4787" y="423"/>
                  </a:moveTo>
                  <a:lnTo>
                    <a:pt x="6168" y="994"/>
                  </a:lnTo>
                  <a:lnTo>
                    <a:pt x="5240" y="1376"/>
                  </a:lnTo>
                  <a:cubicBezTo>
                    <a:pt x="5233" y="1382"/>
                    <a:pt x="5226" y="1385"/>
                    <a:pt x="5219" y="1385"/>
                  </a:cubicBezTo>
                  <a:cubicBezTo>
                    <a:pt x="5202" y="1385"/>
                    <a:pt x="5185" y="1369"/>
                    <a:pt x="5168" y="1352"/>
                  </a:cubicBezTo>
                  <a:lnTo>
                    <a:pt x="4787" y="423"/>
                  </a:lnTo>
                  <a:close/>
                  <a:moveTo>
                    <a:pt x="8216" y="2066"/>
                  </a:moveTo>
                  <a:cubicBezTo>
                    <a:pt x="8264" y="2066"/>
                    <a:pt x="8312" y="2090"/>
                    <a:pt x="8312" y="2138"/>
                  </a:cubicBezTo>
                  <a:lnTo>
                    <a:pt x="8312" y="2566"/>
                  </a:lnTo>
                  <a:cubicBezTo>
                    <a:pt x="8312" y="2614"/>
                    <a:pt x="8264" y="2661"/>
                    <a:pt x="8216" y="2661"/>
                  </a:cubicBezTo>
                  <a:lnTo>
                    <a:pt x="7407" y="2661"/>
                  </a:lnTo>
                  <a:lnTo>
                    <a:pt x="7168" y="2066"/>
                  </a:lnTo>
                  <a:close/>
                  <a:moveTo>
                    <a:pt x="8788" y="1280"/>
                  </a:moveTo>
                  <a:cubicBezTo>
                    <a:pt x="8931" y="1280"/>
                    <a:pt x="9050" y="1399"/>
                    <a:pt x="9050" y="1542"/>
                  </a:cubicBezTo>
                  <a:lnTo>
                    <a:pt x="9050" y="3924"/>
                  </a:lnTo>
                  <a:lnTo>
                    <a:pt x="7954" y="3924"/>
                  </a:lnTo>
                  <a:lnTo>
                    <a:pt x="7550" y="2947"/>
                  </a:lnTo>
                  <a:lnTo>
                    <a:pt x="8216" y="2947"/>
                  </a:lnTo>
                  <a:cubicBezTo>
                    <a:pt x="8431" y="2947"/>
                    <a:pt x="8597" y="2781"/>
                    <a:pt x="8597" y="2566"/>
                  </a:cubicBezTo>
                  <a:lnTo>
                    <a:pt x="8597" y="2138"/>
                  </a:lnTo>
                  <a:cubicBezTo>
                    <a:pt x="8597" y="1923"/>
                    <a:pt x="8431" y="1757"/>
                    <a:pt x="8216" y="1757"/>
                  </a:cubicBezTo>
                  <a:lnTo>
                    <a:pt x="7049" y="1757"/>
                  </a:lnTo>
                  <a:lnTo>
                    <a:pt x="6835" y="1280"/>
                  </a:lnTo>
                  <a:close/>
                  <a:moveTo>
                    <a:pt x="4430" y="352"/>
                  </a:moveTo>
                  <a:lnTo>
                    <a:pt x="4906" y="1471"/>
                  </a:lnTo>
                  <a:cubicBezTo>
                    <a:pt x="4954" y="1614"/>
                    <a:pt x="5073" y="1685"/>
                    <a:pt x="5216" y="1685"/>
                  </a:cubicBezTo>
                  <a:cubicBezTo>
                    <a:pt x="5263" y="1685"/>
                    <a:pt x="5311" y="1685"/>
                    <a:pt x="5359" y="1661"/>
                  </a:cubicBezTo>
                  <a:lnTo>
                    <a:pt x="6478" y="1185"/>
                  </a:lnTo>
                  <a:lnTo>
                    <a:pt x="7621" y="3947"/>
                  </a:lnTo>
                  <a:lnTo>
                    <a:pt x="6907" y="3947"/>
                  </a:lnTo>
                  <a:cubicBezTo>
                    <a:pt x="6835" y="3947"/>
                    <a:pt x="6764" y="3995"/>
                    <a:pt x="6764" y="4090"/>
                  </a:cubicBezTo>
                  <a:cubicBezTo>
                    <a:pt x="6764" y="4162"/>
                    <a:pt x="6835" y="4233"/>
                    <a:pt x="6907" y="4233"/>
                  </a:cubicBezTo>
                  <a:lnTo>
                    <a:pt x="9574" y="4233"/>
                  </a:lnTo>
                  <a:cubicBezTo>
                    <a:pt x="9717" y="4233"/>
                    <a:pt x="9812" y="4352"/>
                    <a:pt x="9812" y="4471"/>
                  </a:cubicBezTo>
                  <a:lnTo>
                    <a:pt x="9812" y="8972"/>
                  </a:lnTo>
                  <a:cubicBezTo>
                    <a:pt x="9812" y="9330"/>
                    <a:pt x="9550" y="9591"/>
                    <a:pt x="9193" y="9591"/>
                  </a:cubicBezTo>
                  <a:lnTo>
                    <a:pt x="1596" y="9591"/>
                  </a:lnTo>
                  <a:cubicBezTo>
                    <a:pt x="1739" y="9425"/>
                    <a:pt x="1834" y="9210"/>
                    <a:pt x="1834" y="8972"/>
                  </a:cubicBezTo>
                  <a:lnTo>
                    <a:pt x="1834" y="7353"/>
                  </a:lnTo>
                  <a:cubicBezTo>
                    <a:pt x="1834" y="7281"/>
                    <a:pt x="1763" y="7210"/>
                    <a:pt x="1667" y="7210"/>
                  </a:cubicBezTo>
                  <a:cubicBezTo>
                    <a:pt x="1596" y="7210"/>
                    <a:pt x="1524" y="7281"/>
                    <a:pt x="1524" y="7353"/>
                  </a:cubicBezTo>
                  <a:lnTo>
                    <a:pt x="1524" y="8972"/>
                  </a:lnTo>
                  <a:cubicBezTo>
                    <a:pt x="1524" y="9330"/>
                    <a:pt x="1262" y="9591"/>
                    <a:pt x="905" y="9591"/>
                  </a:cubicBezTo>
                  <a:cubicBezTo>
                    <a:pt x="572" y="9591"/>
                    <a:pt x="286" y="9330"/>
                    <a:pt x="286" y="8972"/>
                  </a:cubicBezTo>
                  <a:lnTo>
                    <a:pt x="286" y="2590"/>
                  </a:lnTo>
                  <a:cubicBezTo>
                    <a:pt x="286" y="2447"/>
                    <a:pt x="405" y="2328"/>
                    <a:pt x="548" y="2328"/>
                  </a:cubicBezTo>
                  <a:lnTo>
                    <a:pt x="834" y="2328"/>
                  </a:lnTo>
                  <a:lnTo>
                    <a:pt x="1120" y="3066"/>
                  </a:lnTo>
                  <a:cubicBezTo>
                    <a:pt x="1155" y="3120"/>
                    <a:pt x="1204" y="3147"/>
                    <a:pt x="1257" y="3147"/>
                  </a:cubicBezTo>
                  <a:cubicBezTo>
                    <a:pt x="1274" y="3147"/>
                    <a:pt x="1292" y="3144"/>
                    <a:pt x="1310" y="3138"/>
                  </a:cubicBezTo>
                  <a:cubicBezTo>
                    <a:pt x="1382" y="3114"/>
                    <a:pt x="1429" y="3019"/>
                    <a:pt x="1405" y="2947"/>
                  </a:cubicBezTo>
                  <a:lnTo>
                    <a:pt x="953" y="1876"/>
                  </a:lnTo>
                  <a:cubicBezTo>
                    <a:pt x="929" y="1852"/>
                    <a:pt x="953" y="1804"/>
                    <a:pt x="977" y="1804"/>
                  </a:cubicBezTo>
                  <a:lnTo>
                    <a:pt x="4430" y="352"/>
                  </a:lnTo>
                  <a:close/>
                  <a:moveTo>
                    <a:pt x="4513" y="0"/>
                  </a:moveTo>
                  <a:cubicBezTo>
                    <a:pt x="4495" y="0"/>
                    <a:pt x="4477" y="6"/>
                    <a:pt x="4454" y="18"/>
                  </a:cubicBezTo>
                  <a:lnTo>
                    <a:pt x="858" y="1518"/>
                  </a:lnTo>
                  <a:cubicBezTo>
                    <a:pt x="691" y="1590"/>
                    <a:pt x="596" y="1804"/>
                    <a:pt x="667" y="1971"/>
                  </a:cubicBezTo>
                  <a:lnTo>
                    <a:pt x="691" y="2042"/>
                  </a:lnTo>
                  <a:lnTo>
                    <a:pt x="548" y="2042"/>
                  </a:lnTo>
                  <a:cubicBezTo>
                    <a:pt x="238" y="2042"/>
                    <a:pt x="0" y="2280"/>
                    <a:pt x="0" y="2590"/>
                  </a:cubicBezTo>
                  <a:lnTo>
                    <a:pt x="0" y="8972"/>
                  </a:lnTo>
                  <a:cubicBezTo>
                    <a:pt x="0" y="9472"/>
                    <a:pt x="405" y="9877"/>
                    <a:pt x="905" y="9877"/>
                  </a:cubicBezTo>
                  <a:lnTo>
                    <a:pt x="9193" y="9877"/>
                  </a:lnTo>
                  <a:cubicBezTo>
                    <a:pt x="9717" y="9877"/>
                    <a:pt x="10121" y="9472"/>
                    <a:pt x="10121" y="8972"/>
                  </a:cubicBezTo>
                  <a:lnTo>
                    <a:pt x="10121" y="4471"/>
                  </a:lnTo>
                  <a:cubicBezTo>
                    <a:pt x="10121" y="4162"/>
                    <a:pt x="9860" y="3924"/>
                    <a:pt x="9574" y="3924"/>
                  </a:cubicBezTo>
                  <a:lnTo>
                    <a:pt x="9336" y="3924"/>
                  </a:lnTo>
                  <a:lnTo>
                    <a:pt x="9336" y="1542"/>
                  </a:lnTo>
                  <a:cubicBezTo>
                    <a:pt x="9336" y="1233"/>
                    <a:pt x="9097" y="994"/>
                    <a:pt x="8788" y="994"/>
                  </a:cubicBezTo>
                  <a:lnTo>
                    <a:pt x="6716" y="994"/>
                  </a:lnTo>
                  <a:lnTo>
                    <a:pt x="6692" y="923"/>
                  </a:lnTo>
                  <a:cubicBezTo>
                    <a:pt x="6668" y="899"/>
                    <a:pt x="6645" y="852"/>
                    <a:pt x="6621" y="852"/>
                  </a:cubicBezTo>
                  <a:lnTo>
                    <a:pt x="4573" y="18"/>
                  </a:lnTo>
                  <a:cubicBezTo>
                    <a:pt x="4549" y="6"/>
                    <a:pt x="4531" y="0"/>
                    <a:pt x="45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88" name="Google Shape;2823;p94"/>
            <p:cNvSpPr/>
            <p:nvPr/>
          </p:nvSpPr>
          <p:spPr bwMode="auto">
            <a:xfrm>
              <a:off x="4123561" y="2296744"/>
              <a:ext cx="170689" cy="161818"/>
            </a:xfrm>
            <a:custGeom>
              <a:avLst/>
              <a:gdLst/>
              <a:ahLst/>
              <a:cxnLst/>
              <a:rect l="l" t="t" r="r" b="b"/>
              <a:pathLst>
                <a:path w="5074" h="4704" fill="norm" stroke="1" extrusionOk="0">
                  <a:moveTo>
                    <a:pt x="2760" y="301"/>
                  </a:moveTo>
                  <a:cubicBezTo>
                    <a:pt x="2892" y="301"/>
                    <a:pt x="3021" y="325"/>
                    <a:pt x="3144" y="370"/>
                  </a:cubicBezTo>
                  <a:cubicBezTo>
                    <a:pt x="3430" y="489"/>
                    <a:pt x="3645" y="703"/>
                    <a:pt x="3740" y="965"/>
                  </a:cubicBezTo>
                  <a:cubicBezTo>
                    <a:pt x="3859" y="1227"/>
                    <a:pt x="3859" y="1513"/>
                    <a:pt x="3764" y="1775"/>
                  </a:cubicBezTo>
                  <a:lnTo>
                    <a:pt x="3287" y="1775"/>
                  </a:lnTo>
                  <a:cubicBezTo>
                    <a:pt x="3335" y="1679"/>
                    <a:pt x="3359" y="1560"/>
                    <a:pt x="3311" y="1441"/>
                  </a:cubicBezTo>
                  <a:cubicBezTo>
                    <a:pt x="3264" y="1346"/>
                    <a:pt x="3168" y="1275"/>
                    <a:pt x="3073" y="1227"/>
                  </a:cubicBezTo>
                  <a:cubicBezTo>
                    <a:pt x="3025" y="1203"/>
                    <a:pt x="2972" y="1191"/>
                    <a:pt x="2918" y="1191"/>
                  </a:cubicBezTo>
                  <a:cubicBezTo>
                    <a:pt x="2865" y="1191"/>
                    <a:pt x="2811" y="1203"/>
                    <a:pt x="2763" y="1227"/>
                  </a:cubicBezTo>
                  <a:lnTo>
                    <a:pt x="2621" y="1298"/>
                  </a:lnTo>
                  <a:cubicBezTo>
                    <a:pt x="2607" y="1303"/>
                    <a:pt x="2594" y="1305"/>
                    <a:pt x="2581" y="1305"/>
                  </a:cubicBezTo>
                  <a:cubicBezTo>
                    <a:pt x="2524" y="1305"/>
                    <a:pt x="2473" y="1266"/>
                    <a:pt x="2454" y="1227"/>
                  </a:cubicBezTo>
                  <a:cubicBezTo>
                    <a:pt x="2430" y="1155"/>
                    <a:pt x="2478" y="1108"/>
                    <a:pt x="2525" y="1084"/>
                  </a:cubicBezTo>
                  <a:lnTo>
                    <a:pt x="2668" y="1013"/>
                  </a:lnTo>
                  <a:cubicBezTo>
                    <a:pt x="2692" y="1001"/>
                    <a:pt x="2710" y="995"/>
                    <a:pt x="2728" y="995"/>
                  </a:cubicBezTo>
                  <a:cubicBezTo>
                    <a:pt x="2746" y="995"/>
                    <a:pt x="2763" y="1001"/>
                    <a:pt x="2787" y="1013"/>
                  </a:cubicBezTo>
                  <a:cubicBezTo>
                    <a:pt x="2815" y="1031"/>
                    <a:pt x="2842" y="1039"/>
                    <a:pt x="2868" y="1039"/>
                  </a:cubicBezTo>
                  <a:cubicBezTo>
                    <a:pt x="2910" y="1039"/>
                    <a:pt x="2948" y="1018"/>
                    <a:pt x="2978" y="989"/>
                  </a:cubicBezTo>
                  <a:cubicBezTo>
                    <a:pt x="3025" y="917"/>
                    <a:pt x="3002" y="822"/>
                    <a:pt x="2954" y="774"/>
                  </a:cubicBezTo>
                  <a:cubicBezTo>
                    <a:pt x="2892" y="728"/>
                    <a:pt x="2821" y="702"/>
                    <a:pt x="2746" y="702"/>
                  </a:cubicBezTo>
                  <a:cubicBezTo>
                    <a:pt x="2705" y="702"/>
                    <a:pt x="2663" y="710"/>
                    <a:pt x="2621" y="727"/>
                  </a:cubicBezTo>
                  <a:lnTo>
                    <a:pt x="2597" y="679"/>
                  </a:lnTo>
                  <a:cubicBezTo>
                    <a:pt x="2577" y="620"/>
                    <a:pt x="2509" y="578"/>
                    <a:pt x="2446" y="578"/>
                  </a:cubicBezTo>
                  <a:cubicBezTo>
                    <a:pt x="2432" y="578"/>
                    <a:pt x="2419" y="580"/>
                    <a:pt x="2406" y="584"/>
                  </a:cubicBezTo>
                  <a:cubicBezTo>
                    <a:pt x="2335" y="632"/>
                    <a:pt x="2311" y="703"/>
                    <a:pt x="2335" y="774"/>
                  </a:cubicBezTo>
                  <a:lnTo>
                    <a:pt x="2359" y="822"/>
                  </a:lnTo>
                  <a:cubicBezTo>
                    <a:pt x="2192" y="941"/>
                    <a:pt x="2120" y="1155"/>
                    <a:pt x="2192" y="1346"/>
                  </a:cubicBezTo>
                  <a:cubicBezTo>
                    <a:pt x="2264" y="1490"/>
                    <a:pt x="2418" y="1594"/>
                    <a:pt x="2582" y="1594"/>
                  </a:cubicBezTo>
                  <a:cubicBezTo>
                    <a:pt x="2635" y="1594"/>
                    <a:pt x="2688" y="1583"/>
                    <a:pt x="2740" y="1560"/>
                  </a:cubicBezTo>
                  <a:lnTo>
                    <a:pt x="2882" y="1489"/>
                  </a:lnTo>
                  <a:lnTo>
                    <a:pt x="2978" y="1489"/>
                  </a:lnTo>
                  <a:cubicBezTo>
                    <a:pt x="3002" y="1513"/>
                    <a:pt x="3025" y="1537"/>
                    <a:pt x="3025" y="1560"/>
                  </a:cubicBezTo>
                  <a:cubicBezTo>
                    <a:pt x="3049" y="1608"/>
                    <a:pt x="3025" y="1679"/>
                    <a:pt x="2978" y="1703"/>
                  </a:cubicBezTo>
                  <a:lnTo>
                    <a:pt x="2811" y="1775"/>
                  </a:lnTo>
                  <a:lnTo>
                    <a:pt x="2763" y="1775"/>
                  </a:lnTo>
                  <a:cubicBezTo>
                    <a:pt x="2740" y="1775"/>
                    <a:pt x="2716" y="1775"/>
                    <a:pt x="2692" y="1751"/>
                  </a:cubicBezTo>
                  <a:cubicBezTo>
                    <a:pt x="2668" y="1715"/>
                    <a:pt x="2632" y="1697"/>
                    <a:pt x="2594" y="1697"/>
                  </a:cubicBezTo>
                  <a:cubicBezTo>
                    <a:pt x="2555" y="1697"/>
                    <a:pt x="2513" y="1715"/>
                    <a:pt x="2478" y="1751"/>
                  </a:cubicBezTo>
                  <a:cubicBezTo>
                    <a:pt x="2478" y="1751"/>
                    <a:pt x="2478" y="1775"/>
                    <a:pt x="2454" y="1775"/>
                  </a:cubicBezTo>
                  <a:lnTo>
                    <a:pt x="1739" y="1775"/>
                  </a:lnTo>
                  <a:cubicBezTo>
                    <a:pt x="1620" y="1513"/>
                    <a:pt x="1620" y="1227"/>
                    <a:pt x="1739" y="965"/>
                  </a:cubicBezTo>
                  <a:cubicBezTo>
                    <a:pt x="1835" y="703"/>
                    <a:pt x="2049" y="489"/>
                    <a:pt x="2311" y="393"/>
                  </a:cubicBezTo>
                  <a:cubicBezTo>
                    <a:pt x="2462" y="331"/>
                    <a:pt x="2613" y="301"/>
                    <a:pt x="2760" y="301"/>
                  </a:cubicBezTo>
                  <a:close/>
                  <a:moveTo>
                    <a:pt x="2740" y="0"/>
                  </a:moveTo>
                  <a:cubicBezTo>
                    <a:pt x="2561" y="0"/>
                    <a:pt x="2382" y="36"/>
                    <a:pt x="2216" y="108"/>
                  </a:cubicBezTo>
                  <a:cubicBezTo>
                    <a:pt x="1858" y="251"/>
                    <a:pt x="1596" y="512"/>
                    <a:pt x="1454" y="846"/>
                  </a:cubicBezTo>
                  <a:cubicBezTo>
                    <a:pt x="1335" y="1155"/>
                    <a:pt x="1311" y="1489"/>
                    <a:pt x="1406" y="1775"/>
                  </a:cubicBezTo>
                  <a:lnTo>
                    <a:pt x="739" y="1775"/>
                  </a:lnTo>
                  <a:cubicBezTo>
                    <a:pt x="644" y="1775"/>
                    <a:pt x="572" y="1798"/>
                    <a:pt x="501" y="1822"/>
                  </a:cubicBezTo>
                  <a:lnTo>
                    <a:pt x="311" y="1394"/>
                  </a:lnTo>
                  <a:cubicBezTo>
                    <a:pt x="293" y="1342"/>
                    <a:pt x="239" y="1303"/>
                    <a:pt x="183" y="1303"/>
                  </a:cubicBezTo>
                  <a:cubicBezTo>
                    <a:pt x="162" y="1303"/>
                    <a:pt x="140" y="1309"/>
                    <a:pt x="120" y="1322"/>
                  </a:cubicBezTo>
                  <a:cubicBezTo>
                    <a:pt x="49" y="1346"/>
                    <a:pt x="1" y="1441"/>
                    <a:pt x="49" y="1513"/>
                  </a:cubicBezTo>
                  <a:lnTo>
                    <a:pt x="263" y="2037"/>
                  </a:lnTo>
                  <a:cubicBezTo>
                    <a:pt x="215" y="2132"/>
                    <a:pt x="191" y="2227"/>
                    <a:pt x="191" y="2322"/>
                  </a:cubicBezTo>
                  <a:lnTo>
                    <a:pt x="191" y="4537"/>
                  </a:lnTo>
                  <a:cubicBezTo>
                    <a:pt x="191" y="4632"/>
                    <a:pt x="263" y="4704"/>
                    <a:pt x="334" y="4704"/>
                  </a:cubicBezTo>
                  <a:cubicBezTo>
                    <a:pt x="430" y="4704"/>
                    <a:pt x="501" y="4632"/>
                    <a:pt x="501" y="4537"/>
                  </a:cubicBezTo>
                  <a:lnTo>
                    <a:pt x="501" y="2322"/>
                  </a:lnTo>
                  <a:cubicBezTo>
                    <a:pt x="501" y="2179"/>
                    <a:pt x="596" y="2084"/>
                    <a:pt x="739" y="2084"/>
                  </a:cubicBezTo>
                  <a:lnTo>
                    <a:pt x="4907" y="2084"/>
                  </a:lnTo>
                  <a:cubicBezTo>
                    <a:pt x="5002" y="2084"/>
                    <a:pt x="5073" y="2013"/>
                    <a:pt x="5073" y="1918"/>
                  </a:cubicBezTo>
                  <a:cubicBezTo>
                    <a:pt x="5073" y="1846"/>
                    <a:pt x="5002" y="1775"/>
                    <a:pt x="4907" y="1775"/>
                  </a:cubicBezTo>
                  <a:lnTo>
                    <a:pt x="4073" y="1775"/>
                  </a:lnTo>
                  <a:cubicBezTo>
                    <a:pt x="4168" y="1465"/>
                    <a:pt x="4145" y="1155"/>
                    <a:pt x="4026" y="846"/>
                  </a:cubicBezTo>
                  <a:cubicBezTo>
                    <a:pt x="3883" y="512"/>
                    <a:pt x="3597" y="251"/>
                    <a:pt x="3264" y="108"/>
                  </a:cubicBezTo>
                  <a:cubicBezTo>
                    <a:pt x="3097" y="36"/>
                    <a:pt x="2918" y="0"/>
                    <a:pt x="2740" y="0"/>
                  </a:cubicBezTo>
                  <a:close/>
                </a:path>
              </a:pathLst>
            </a:custGeom>
            <a:solidFill>
              <a:srgbClr val="FD0C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89" name="Google Shape;2824;p94"/>
            <p:cNvSpPr/>
            <p:nvPr/>
          </p:nvSpPr>
          <p:spPr bwMode="auto">
            <a:xfrm>
              <a:off x="4130793" y="2276448"/>
              <a:ext cx="47298" cy="25662"/>
            </a:xfrm>
            <a:custGeom>
              <a:avLst/>
              <a:gdLst/>
              <a:ahLst/>
              <a:cxnLst/>
              <a:rect l="l" t="t" r="r" b="b"/>
              <a:pathLst>
                <a:path w="1406" h="746" fill="norm" stroke="1" extrusionOk="0">
                  <a:moveTo>
                    <a:pt x="1207" y="1"/>
                  </a:moveTo>
                  <a:cubicBezTo>
                    <a:pt x="1193" y="1"/>
                    <a:pt x="1180" y="3"/>
                    <a:pt x="1167" y="7"/>
                  </a:cubicBezTo>
                  <a:lnTo>
                    <a:pt x="119" y="460"/>
                  </a:lnTo>
                  <a:cubicBezTo>
                    <a:pt x="48" y="483"/>
                    <a:pt x="0" y="579"/>
                    <a:pt x="24" y="650"/>
                  </a:cubicBezTo>
                  <a:cubicBezTo>
                    <a:pt x="48" y="721"/>
                    <a:pt x="119" y="745"/>
                    <a:pt x="167" y="745"/>
                  </a:cubicBezTo>
                  <a:lnTo>
                    <a:pt x="215" y="745"/>
                  </a:lnTo>
                  <a:lnTo>
                    <a:pt x="1286" y="293"/>
                  </a:lnTo>
                  <a:cubicBezTo>
                    <a:pt x="1358" y="269"/>
                    <a:pt x="1405" y="174"/>
                    <a:pt x="1358" y="102"/>
                  </a:cubicBezTo>
                  <a:cubicBezTo>
                    <a:pt x="1338" y="44"/>
                    <a:pt x="1270" y="1"/>
                    <a:pt x="1207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90" name="Google Shape;2825;p94"/>
            <p:cNvSpPr/>
            <p:nvPr/>
          </p:nvSpPr>
          <p:spPr bwMode="auto">
            <a:xfrm>
              <a:off x="4137992" y="2301423"/>
              <a:ext cx="25667" cy="16237"/>
            </a:xfrm>
            <a:custGeom>
              <a:avLst/>
              <a:gdLst/>
              <a:ahLst/>
              <a:cxnLst/>
              <a:rect l="l" t="t" r="r" b="b"/>
              <a:pathLst>
                <a:path w="763" h="472" fill="norm" stroke="1" extrusionOk="0">
                  <a:moveTo>
                    <a:pt x="599" y="0"/>
                  </a:moveTo>
                  <a:cubicBezTo>
                    <a:pt x="576" y="0"/>
                    <a:pt x="551" y="6"/>
                    <a:pt x="525" y="19"/>
                  </a:cubicBezTo>
                  <a:lnTo>
                    <a:pt x="96" y="186"/>
                  </a:lnTo>
                  <a:cubicBezTo>
                    <a:pt x="24" y="234"/>
                    <a:pt x="1" y="305"/>
                    <a:pt x="24" y="376"/>
                  </a:cubicBezTo>
                  <a:cubicBezTo>
                    <a:pt x="48" y="448"/>
                    <a:pt x="96" y="472"/>
                    <a:pt x="167" y="472"/>
                  </a:cubicBezTo>
                  <a:lnTo>
                    <a:pt x="215" y="472"/>
                  </a:lnTo>
                  <a:lnTo>
                    <a:pt x="644" y="281"/>
                  </a:lnTo>
                  <a:cubicBezTo>
                    <a:pt x="715" y="257"/>
                    <a:pt x="763" y="162"/>
                    <a:pt x="739" y="91"/>
                  </a:cubicBezTo>
                  <a:cubicBezTo>
                    <a:pt x="705" y="39"/>
                    <a:pt x="658" y="0"/>
                    <a:pt x="599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91" name="Google Shape;2826;p94"/>
            <p:cNvSpPr/>
            <p:nvPr/>
          </p:nvSpPr>
          <p:spPr bwMode="auto">
            <a:xfrm>
              <a:off x="4161237" y="2507685"/>
              <a:ext cx="35288" cy="9873"/>
            </a:xfrm>
            <a:custGeom>
              <a:avLst/>
              <a:gdLst/>
              <a:ahLst/>
              <a:cxnLst/>
              <a:rect l="l" t="t" r="r" b="b"/>
              <a:pathLst>
                <a:path w="1049" h="287" fill="norm" stroke="1" extrusionOk="0">
                  <a:moveTo>
                    <a:pt x="143" y="1"/>
                  </a:moveTo>
                  <a:cubicBezTo>
                    <a:pt x="72" y="1"/>
                    <a:pt x="0" y="48"/>
                    <a:pt x="0" y="144"/>
                  </a:cubicBezTo>
                  <a:cubicBezTo>
                    <a:pt x="0" y="215"/>
                    <a:pt x="72" y="286"/>
                    <a:pt x="143" y="286"/>
                  </a:cubicBezTo>
                  <a:lnTo>
                    <a:pt x="905" y="286"/>
                  </a:lnTo>
                  <a:cubicBezTo>
                    <a:pt x="977" y="286"/>
                    <a:pt x="1048" y="215"/>
                    <a:pt x="1048" y="144"/>
                  </a:cubicBezTo>
                  <a:cubicBezTo>
                    <a:pt x="1048" y="48"/>
                    <a:pt x="977" y="1"/>
                    <a:pt x="905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92" name="Google Shape;2827;p94"/>
            <p:cNvSpPr/>
            <p:nvPr/>
          </p:nvSpPr>
          <p:spPr bwMode="auto">
            <a:xfrm>
              <a:off x="4161237" y="2525711"/>
              <a:ext cx="81745" cy="10698"/>
            </a:xfrm>
            <a:custGeom>
              <a:avLst/>
              <a:gdLst/>
              <a:ahLst/>
              <a:cxnLst/>
              <a:rect l="l" t="t" r="r" b="b"/>
              <a:pathLst>
                <a:path w="2430" h="311" fill="norm" stroke="1" extrusionOk="0">
                  <a:moveTo>
                    <a:pt x="143" y="1"/>
                  </a:moveTo>
                  <a:cubicBezTo>
                    <a:pt x="72" y="1"/>
                    <a:pt x="0" y="72"/>
                    <a:pt x="0" y="143"/>
                  </a:cubicBezTo>
                  <a:cubicBezTo>
                    <a:pt x="0" y="239"/>
                    <a:pt x="72" y="310"/>
                    <a:pt x="143" y="310"/>
                  </a:cubicBezTo>
                  <a:lnTo>
                    <a:pt x="2286" y="310"/>
                  </a:lnTo>
                  <a:cubicBezTo>
                    <a:pt x="2358" y="310"/>
                    <a:pt x="2429" y="239"/>
                    <a:pt x="2429" y="143"/>
                  </a:cubicBezTo>
                  <a:cubicBezTo>
                    <a:pt x="2429" y="72"/>
                    <a:pt x="2358" y="1"/>
                    <a:pt x="2286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</p:grpSp>
      <p:grpSp>
        <p:nvGrpSpPr>
          <p:cNvPr id="1197120625" name="Google Shape;2805;p94"/>
          <p:cNvGrpSpPr/>
          <p:nvPr/>
        </p:nvGrpSpPr>
        <p:grpSpPr bwMode="auto">
          <a:xfrm>
            <a:off x="9757324" y="1749715"/>
            <a:ext cx="738604" cy="694944"/>
            <a:chOff x="4754041" y="2231625"/>
            <a:chExt cx="340538" cy="322810"/>
          </a:xfrm>
        </p:grpSpPr>
        <p:sp>
          <p:nvSpPr>
            <p:cNvPr id="98" name="Google Shape;2806;p94"/>
            <p:cNvSpPr/>
            <p:nvPr/>
          </p:nvSpPr>
          <p:spPr bwMode="auto">
            <a:xfrm>
              <a:off x="4754041" y="2231625"/>
              <a:ext cx="340538" cy="322810"/>
            </a:xfrm>
            <a:custGeom>
              <a:avLst/>
              <a:gdLst/>
              <a:ahLst/>
              <a:cxnLst/>
              <a:rect l="l" t="t" r="r" b="b"/>
              <a:pathLst>
                <a:path w="10123" h="9384" fill="norm" stroke="1" extrusionOk="0">
                  <a:moveTo>
                    <a:pt x="5073" y="8550"/>
                  </a:moveTo>
                  <a:cubicBezTo>
                    <a:pt x="5216" y="8550"/>
                    <a:pt x="5335" y="8669"/>
                    <a:pt x="5335" y="8812"/>
                  </a:cubicBezTo>
                  <a:cubicBezTo>
                    <a:pt x="5335" y="8954"/>
                    <a:pt x="5216" y="9097"/>
                    <a:pt x="5073" y="9097"/>
                  </a:cubicBezTo>
                  <a:cubicBezTo>
                    <a:pt x="4907" y="9097"/>
                    <a:pt x="4788" y="8954"/>
                    <a:pt x="4788" y="8812"/>
                  </a:cubicBezTo>
                  <a:cubicBezTo>
                    <a:pt x="4788" y="8669"/>
                    <a:pt x="4907" y="8550"/>
                    <a:pt x="5073" y="8550"/>
                  </a:cubicBezTo>
                  <a:close/>
                  <a:moveTo>
                    <a:pt x="358" y="0"/>
                  </a:moveTo>
                  <a:cubicBezTo>
                    <a:pt x="168" y="0"/>
                    <a:pt x="1" y="167"/>
                    <a:pt x="1" y="357"/>
                  </a:cubicBezTo>
                  <a:lnTo>
                    <a:pt x="1" y="953"/>
                  </a:lnTo>
                  <a:cubicBezTo>
                    <a:pt x="1" y="1143"/>
                    <a:pt x="144" y="1286"/>
                    <a:pt x="334" y="1286"/>
                  </a:cubicBezTo>
                  <a:lnTo>
                    <a:pt x="334" y="5168"/>
                  </a:lnTo>
                  <a:cubicBezTo>
                    <a:pt x="334" y="5239"/>
                    <a:pt x="406" y="5311"/>
                    <a:pt x="477" y="5311"/>
                  </a:cubicBezTo>
                  <a:cubicBezTo>
                    <a:pt x="572" y="5311"/>
                    <a:pt x="644" y="5263"/>
                    <a:pt x="644" y="5168"/>
                  </a:cubicBezTo>
                  <a:lnTo>
                    <a:pt x="644" y="1286"/>
                  </a:lnTo>
                  <a:lnTo>
                    <a:pt x="7741" y="1286"/>
                  </a:lnTo>
                  <a:cubicBezTo>
                    <a:pt x="7812" y="1286"/>
                    <a:pt x="7884" y="1239"/>
                    <a:pt x="7884" y="1143"/>
                  </a:cubicBezTo>
                  <a:cubicBezTo>
                    <a:pt x="7884" y="1072"/>
                    <a:pt x="7812" y="1000"/>
                    <a:pt x="7741" y="1000"/>
                  </a:cubicBezTo>
                  <a:lnTo>
                    <a:pt x="358" y="1000"/>
                  </a:lnTo>
                  <a:cubicBezTo>
                    <a:pt x="334" y="1000"/>
                    <a:pt x="311" y="977"/>
                    <a:pt x="311" y="953"/>
                  </a:cubicBezTo>
                  <a:lnTo>
                    <a:pt x="311" y="357"/>
                  </a:lnTo>
                  <a:cubicBezTo>
                    <a:pt x="311" y="310"/>
                    <a:pt x="334" y="286"/>
                    <a:pt x="358" y="286"/>
                  </a:cubicBezTo>
                  <a:lnTo>
                    <a:pt x="9789" y="286"/>
                  </a:lnTo>
                  <a:cubicBezTo>
                    <a:pt x="9812" y="286"/>
                    <a:pt x="9836" y="334"/>
                    <a:pt x="9836" y="357"/>
                  </a:cubicBezTo>
                  <a:lnTo>
                    <a:pt x="9836" y="953"/>
                  </a:lnTo>
                  <a:cubicBezTo>
                    <a:pt x="9836" y="977"/>
                    <a:pt x="9812" y="1000"/>
                    <a:pt x="9789" y="1000"/>
                  </a:cubicBezTo>
                  <a:lnTo>
                    <a:pt x="8407" y="1000"/>
                  </a:lnTo>
                  <a:cubicBezTo>
                    <a:pt x="8312" y="1000"/>
                    <a:pt x="8241" y="1072"/>
                    <a:pt x="8241" y="1143"/>
                  </a:cubicBezTo>
                  <a:cubicBezTo>
                    <a:pt x="8241" y="1239"/>
                    <a:pt x="8312" y="1286"/>
                    <a:pt x="8407" y="1286"/>
                  </a:cubicBezTo>
                  <a:lnTo>
                    <a:pt x="9503" y="1286"/>
                  </a:lnTo>
                  <a:lnTo>
                    <a:pt x="9503" y="7335"/>
                  </a:lnTo>
                  <a:cubicBezTo>
                    <a:pt x="9503" y="7359"/>
                    <a:pt x="9479" y="7383"/>
                    <a:pt x="9455" y="7383"/>
                  </a:cubicBezTo>
                  <a:lnTo>
                    <a:pt x="692" y="7383"/>
                  </a:lnTo>
                  <a:cubicBezTo>
                    <a:pt x="668" y="7383"/>
                    <a:pt x="644" y="7359"/>
                    <a:pt x="644" y="7335"/>
                  </a:cubicBezTo>
                  <a:lnTo>
                    <a:pt x="644" y="5835"/>
                  </a:lnTo>
                  <a:cubicBezTo>
                    <a:pt x="644" y="5740"/>
                    <a:pt x="572" y="5692"/>
                    <a:pt x="477" y="5692"/>
                  </a:cubicBezTo>
                  <a:cubicBezTo>
                    <a:pt x="406" y="5692"/>
                    <a:pt x="334" y="5740"/>
                    <a:pt x="334" y="5835"/>
                  </a:cubicBezTo>
                  <a:lnTo>
                    <a:pt x="334" y="7335"/>
                  </a:lnTo>
                  <a:cubicBezTo>
                    <a:pt x="334" y="7526"/>
                    <a:pt x="501" y="7668"/>
                    <a:pt x="692" y="7668"/>
                  </a:cubicBezTo>
                  <a:lnTo>
                    <a:pt x="4907" y="7668"/>
                  </a:lnTo>
                  <a:lnTo>
                    <a:pt x="4907" y="8264"/>
                  </a:lnTo>
                  <a:cubicBezTo>
                    <a:pt x="4669" y="8335"/>
                    <a:pt x="4502" y="8550"/>
                    <a:pt x="4502" y="8812"/>
                  </a:cubicBezTo>
                  <a:cubicBezTo>
                    <a:pt x="4502" y="9121"/>
                    <a:pt x="4740" y="9383"/>
                    <a:pt x="5073" y="9383"/>
                  </a:cubicBezTo>
                  <a:cubicBezTo>
                    <a:pt x="5383" y="9383"/>
                    <a:pt x="5621" y="9121"/>
                    <a:pt x="5621" y="8812"/>
                  </a:cubicBezTo>
                  <a:cubicBezTo>
                    <a:pt x="5621" y="8550"/>
                    <a:pt x="5454" y="8335"/>
                    <a:pt x="5216" y="8264"/>
                  </a:cubicBezTo>
                  <a:lnTo>
                    <a:pt x="5216" y="7668"/>
                  </a:lnTo>
                  <a:lnTo>
                    <a:pt x="9431" y="7668"/>
                  </a:lnTo>
                  <a:cubicBezTo>
                    <a:pt x="9622" y="7668"/>
                    <a:pt x="9789" y="7526"/>
                    <a:pt x="9789" y="7335"/>
                  </a:cubicBezTo>
                  <a:lnTo>
                    <a:pt x="9789" y="1286"/>
                  </a:lnTo>
                  <a:cubicBezTo>
                    <a:pt x="9979" y="1286"/>
                    <a:pt x="10122" y="1143"/>
                    <a:pt x="10122" y="953"/>
                  </a:cubicBezTo>
                  <a:lnTo>
                    <a:pt x="10122" y="357"/>
                  </a:lnTo>
                  <a:cubicBezTo>
                    <a:pt x="10122" y="167"/>
                    <a:pt x="9979" y="0"/>
                    <a:pt x="9789" y="0"/>
                  </a:cubicBezTo>
                  <a:close/>
                </a:path>
              </a:pathLst>
            </a:custGeom>
            <a:solidFill>
              <a:srgbClr val="FD0C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99" name="Google Shape;2807;p94"/>
            <p:cNvSpPr/>
            <p:nvPr/>
          </p:nvSpPr>
          <p:spPr bwMode="auto">
            <a:xfrm>
              <a:off x="5011219" y="2437234"/>
              <a:ext cx="45683" cy="9873"/>
            </a:xfrm>
            <a:custGeom>
              <a:avLst/>
              <a:gdLst/>
              <a:ahLst/>
              <a:cxnLst/>
              <a:rect l="l" t="t" r="r" b="b"/>
              <a:pathLst>
                <a:path w="1358" h="287" fill="norm" stroke="1" extrusionOk="0">
                  <a:moveTo>
                    <a:pt x="167" y="1"/>
                  </a:moveTo>
                  <a:cubicBezTo>
                    <a:pt x="72" y="1"/>
                    <a:pt x="0" y="72"/>
                    <a:pt x="0" y="144"/>
                  </a:cubicBezTo>
                  <a:cubicBezTo>
                    <a:pt x="0" y="239"/>
                    <a:pt x="72" y="286"/>
                    <a:pt x="167" y="286"/>
                  </a:cubicBezTo>
                  <a:lnTo>
                    <a:pt x="1191" y="286"/>
                  </a:lnTo>
                  <a:cubicBezTo>
                    <a:pt x="1286" y="286"/>
                    <a:pt x="1358" y="239"/>
                    <a:pt x="1358" y="144"/>
                  </a:cubicBezTo>
                  <a:cubicBezTo>
                    <a:pt x="1334" y="72"/>
                    <a:pt x="1286" y="1"/>
                    <a:pt x="1191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100" name="Google Shape;2808;p94"/>
            <p:cNvSpPr/>
            <p:nvPr/>
          </p:nvSpPr>
          <p:spPr bwMode="auto">
            <a:xfrm>
              <a:off x="4976772" y="2455259"/>
              <a:ext cx="80130" cy="10698"/>
            </a:xfrm>
            <a:custGeom>
              <a:avLst/>
              <a:gdLst/>
              <a:ahLst/>
              <a:cxnLst/>
              <a:rect l="l" t="t" r="r" b="b"/>
              <a:pathLst>
                <a:path w="2382" h="311" fill="norm" stroke="1" extrusionOk="0">
                  <a:moveTo>
                    <a:pt x="143" y="1"/>
                  </a:moveTo>
                  <a:cubicBezTo>
                    <a:pt x="72" y="1"/>
                    <a:pt x="0" y="72"/>
                    <a:pt x="0" y="143"/>
                  </a:cubicBezTo>
                  <a:cubicBezTo>
                    <a:pt x="0" y="239"/>
                    <a:pt x="72" y="310"/>
                    <a:pt x="143" y="310"/>
                  </a:cubicBezTo>
                  <a:lnTo>
                    <a:pt x="2215" y="310"/>
                  </a:lnTo>
                  <a:cubicBezTo>
                    <a:pt x="2310" y="310"/>
                    <a:pt x="2382" y="239"/>
                    <a:pt x="2382" y="143"/>
                  </a:cubicBezTo>
                  <a:cubicBezTo>
                    <a:pt x="2382" y="72"/>
                    <a:pt x="2310" y="1"/>
                    <a:pt x="2215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101" name="Google Shape;2809;p94"/>
            <p:cNvSpPr/>
            <p:nvPr/>
          </p:nvSpPr>
          <p:spPr bwMode="auto">
            <a:xfrm>
              <a:off x="4976772" y="2302902"/>
              <a:ext cx="16854" cy="10664"/>
            </a:xfrm>
            <a:custGeom>
              <a:avLst/>
              <a:gdLst/>
              <a:ahLst/>
              <a:cxnLst/>
              <a:rect l="l" t="t" r="r" b="b"/>
              <a:pathLst>
                <a:path w="501" h="310" fill="norm" stroke="1" extrusionOk="0">
                  <a:moveTo>
                    <a:pt x="143" y="0"/>
                  </a:moveTo>
                  <a:cubicBezTo>
                    <a:pt x="72" y="0"/>
                    <a:pt x="0" y="72"/>
                    <a:pt x="0" y="143"/>
                  </a:cubicBezTo>
                  <a:cubicBezTo>
                    <a:pt x="0" y="238"/>
                    <a:pt x="72" y="310"/>
                    <a:pt x="143" y="310"/>
                  </a:cubicBezTo>
                  <a:lnTo>
                    <a:pt x="334" y="310"/>
                  </a:lnTo>
                  <a:cubicBezTo>
                    <a:pt x="429" y="310"/>
                    <a:pt x="500" y="238"/>
                    <a:pt x="500" y="143"/>
                  </a:cubicBezTo>
                  <a:cubicBezTo>
                    <a:pt x="500" y="72"/>
                    <a:pt x="429" y="0"/>
                    <a:pt x="334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102" name="Google Shape;2810;p94"/>
            <p:cNvSpPr/>
            <p:nvPr/>
          </p:nvSpPr>
          <p:spPr bwMode="auto">
            <a:xfrm>
              <a:off x="5001598" y="2302902"/>
              <a:ext cx="55304" cy="10664"/>
            </a:xfrm>
            <a:custGeom>
              <a:avLst/>
              <a:gdLst/>
              <a:ahLst/>
              <a:cxnLst/>
              <a:rect l="l" t="t" r="r" b="b"/>
              <a:pathLst>
                <a:path w="1644" h="310" fill="norm" stroke="1" extrusionOk="0">
                  <a:moveTo>
                    <a:pt x="143" y="0"/>
                  </a:moveTo>
                  <a:cubicBezTo>
                    <a:pt x="72" y="0"/>
                    <a:pt x="1" y="72"/>
                    <a:pt x="1" y="143"/>
                  </a:cubicBezTo>
                  <a:cubicBezTo>
                    <a:pt x="1" y="238"/>
                    <a:pt x="72" y="310"/>
                    <a:pt x="143" y="310"/>
                  </a:cubicBezTo>
                  <a:lnTo>
                    <a:pt x="1477" y="310"/>
                  </a:lnTo>
                  <a:cubicBezTo>
                    <a:pt x="1572" y="310"/>
                    <a:pt x="1644" y="238"/>
                    <a:pt x="1644" y="143"/>
                  </a:cubicBezTo>
                  <a:cubicBezTo>
                    <a:pt x="1644" y="72"/>
                    <a:pt x="1572" y="0"/>
                    <a:pt x="1477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103" name="Google Shape;2811;p94"/>
            <p:cNvSpPr/>
            <p:nvPr/>
          </p:nvSpPr>
          <p:spPr bwMode="auto">
            <a:xfrm>
              <a:off x="4976772" y="2321719"/>
              <a:ext cx="80130" cy="9873"/>
            </a:xfrm>
            <a:custGeom>
              <a:avLst/>
              <a:gdLst/>
              <a:ahLst/>
              <a:cxnLst/>
              <a:rect l="l" t="t" r="r" b="b"/>
              <a:pathLst>
                <a:path w="2382" h="287" fill="norm" stroke="1" extrusionOk="0">
                  <a:moveTo>
                    <a:pt x="143" y="1"/>
                  </a:moveTo>
                  <a:cubicBezTo>
                    <a:pt x="72" y="1"/>
                    <a:pt x="0" y="48"/>
                    <a:pt x="0" y="144"/>
                  </a:cubicBezTo>
                  <a:cubicBezTo>
                    <a:pt x="0" y="215"/>
                    <a:pt x="72" y="287"/>
                    <a:pt x="143" y="287"/>
                  </a:cubicBezTo>
                  <a:lnTo>
                    <a:pt x="2215" y="287"/>
                  </a:lnTo>
                  <a:cubicBezTo>
                    <a:pt x="2310" y="287"/>
                    <a:pt x="2382" y="215"/>
                    <a:pt x="2382" y="144"/>
                  </a:cubicBezTo>
                  <a:cubicBezTo>
                    <a:pt x="2382" y="48"/>
                    <a:pt x="2310" y="1"/>
                    <a:pt x="2215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104" name="Google Shape;2812;p94"/>
            <p:cNvSpPr/>
            <p:nvPr/>
          </p:nvSpPr>
          <p:spPr bwMode="auto">
            <a:xfrm>
              <a:off x="4976772" y="2352025"/>
              <a:ext cx="80130" cy="65601"/>
            </a:xfrm>
            <a:custGeom>
              <a:avLst/>
              <a:gdLst/>
              <a:ahLst/>
              <a:cxnLst/>
              <a:rect l="l" t="t" r="r" b="b"/>
              <a:pathLst>
                <a:path w="2382" h="1907" fill="norm" stroke="1" extrusionOk="0">
                  <a:moveTo>
                    <a:pt x="143" y="1"/>
                  </a:moveTo>
                  <a:cubicBezTo>
                    <a:pt x="48" y="1"/>
                    <a:pt x="0" y="49"/>
                    <a:pt x="0" y="144"/>
                  </a:cubicBezTo>
                  <a:lnTo>
                    <a:pt x="0" y="1763"/>
                  </a:lnTo>
                  <a:cubicBezTo>
                    <a:pt x="0" y="1835"/>
                    <a:pt x="72" y="1906"/>
                    <a:pt x="143" y="1906"/>
                  </a:cubicBezTo>
                  <a:lnTo>
                    <a:pt x="2215" y="1906"/>
                  </a:lnTo>
                  <a:cubicBezTo>
                    <a:pt x="2310" y="1906"/>
                    <a:pt x="2382" y="1835"/>
                    <a:pt x="2382" y="1763"/>
                  </a:cubicBezTo>
                  <a:cubicBezTo>
                    <a:pt x="2382" y="1668"/>
                    <a:pt x="2310" y="1597"/>
                    <a:pt x="2215" y="1597"/>
                  </a:cubicBezTo>
                  <a:lnTo>
                    <a:pt x="1858" y="1597"/>
                  </a:lnTo>
                  <a:lnTo>
                    <a:pt x="1858" y="311"/>
                  </a:lnTo>
                  <a:cubicBezTo>
                    <a:pt x="1858" y="239"/>
                    <a:pt x="1786" y="168"/>
                    <a:pt x="1715" y="168"/>
                  </a:cubicBezTo>
                  <a:cubicBezTo>
                    <a:pt x="1644" y="168"/>
                    <a:pt x="1572" y="239"/>
                    <a:pt x="1572" y="311"/>
                  </a:cubicBezTo>
                  <a:lnTo>
                    <a:pt x="1572" y="1597"/>
                  </a:lnTo>
                  <a:lnTo>
                    <a:pt x="1334" y="1597"/>
                  </a:lnTo>
                  <a:lnTo>
                    <a:pt x="1334" y="1120"/>
                  </a:lnTo>
                  <a:cubicBezTo>
                    <a:pt x="1334" y="1049"/>
                    <a:pt x="1263" y="977"/>
                    <a:pt x="1191" y="977"/>
                  </a:cubicBezTo>
                  <a:cubicBezTo>
                    <a:pt x="1096" y="977"/>
                    <a:pt x="1024" y="1049"/>
                    <a:pt x="1024" y="1120"/>
                  </a:cubicBezTo>
                  <a:lnTo>
                    <a:pt x="1024" y="1597"/>
                  </a:lnTo>
                  <a:lnTo>
                    <a:pt x="786" y="1597"/>
                  </a:lnTo>
                  <a:lnTo>
                    <a:pt x="786" y="763"/>
                  </a:lnTo>
                  <a:cubicBezTo>
                    <a:pt x="786" y="668"/>
                    <a:pt x="739" y="596"/>
                    <a:pt x="643" y="596"/>
                  </a:cubicBezTo>
                  <a:cubicBezTo>
                    <a:pt x="572" y="596"/>
                    <a:pt x="500" y="668"/>
                    <a:pt x="500" y="763"/>
                  </a:cubicBezTo>
                  <a:lnTo>
                    <a:pt x="500" y="1597"/>
                  </a:lnTo>
                  <a:lnTo>
                    <a:pt x="286" y="1597"/>
                  </a:lnTo>
                  <a:lnTo>
                    <a:pt x="286" y="144"/>
                  </a:lnTo>
                  <a:cubicBezTo>
                    <a:pt x="286" y="72"/>
                    <a:pt x="215" y="1"/>
                    <a:pt x="143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105" name="Google Shape;2813;p94"/>
            <p:cNvSpPr/>
            <p:nvPr/>
          </p:nvSpPr>
          <p:spPr bwMode="auto">
            <a:xfrm>
              <a:off x="4789296" y="2294680"/>
              <a:ext cx="168266" cy="172068"/>
            </a:xfrm>
            <a:custGeom>
              <a:avLst/>
              <a:gdLst/>
              <a:ahLst/>
              <a:cxnLst/>
              <a:rect l="l" t="t" r="r" b="b"/>
              <a:pathLst>
                <a:path w="5002" h="5002" fill="norm" stroke="1" extrusionOk="0">
                  <a:moveTo>
                    <a:pt x="2501" y="1215"/>
                  </a:moveTo>
                  <a:cubicBezTo>
                    <a:pt x="3216" y="1215"/>
                    <a:pt x="3811" y="1787"/>
                    <a:pt x="3811" y="2501"/>
                  </a:cubicBezTo>
                  <a:cubicBezTo>
                    <a:pt x="3811" y="3240"/>
                    <a:pt x="3216" y="3811"/>
                    <a:pt x="2501" y="3811"/>
                  </a:cubicBezTo>
                  <a:cubicBezTo>
                    <a:pt x="1787" y="3811"/>
                    <a:pt x="1215" y="3216"/>
                    <a:pt x="1215" y="2501"/>
                  </a:cubicBezTo>
                  <a:cubicBezTo>
                    <a:pt x="1215" y="1787"/>
                    <a:pt x="1787" y="1215"/>
                    <a:pt x="2501" y="1215"/>
                  </a:cubicBezTo>
                  <a:close/>
                  <a:moveTo>
                    <a:pt x="4692" y="2668"/>
                  </a:moveTo>
                  <a:cubicBezTo>
                    <a:pt x="4668" y="3121"/>
                    <a:pt x="4502" y="3549"/>
                    <a:pt x="4216" y="3883"/>
                  </a:cubicBezTo>
                  <a:lnTo>
                    <a:pt x="3787" y="3454"/>
                  </a:lnTo>
                  <a:cubicBezTo>
                    <a:pt x="3954" y="3216"/>
                    <a:pt x="4073" y="2954"/>
                    <a:pt x="4097" y="2668"/>
                  </a:cubicBezTo>
                  <a:close/>
                  <a:moveTo>
                    <a:pt x="2358" y="311"/>
                  </a:moveTo>
                  <a:lnTo>
                    <a:pt x="2358" y="930"/>
                  </a:lnTo>
                  <a:cubicBezTo>
                    <a:pt x="1549" y="1001"/>
                    <a:pt x="906" y="1692"/>
                    <a:pt x="906" y="2501"/>
                  </a:cubicBezTo>
                  <a:cubicBezTo>
                    <a:pt x="906" y="3383"/>
                    <a:pt x="1620" y="4097"/>
                    <a:pt x="2501" y="4097"/>
                  </a:cubicBezTo>
                  <a:cubicBezTo>
                    <a:pt x="2930" y="4097"/>
                    <a:pt x="3311" y="3954"/>
                    <a:pt x="3597" y="3668"/>
                  </a:cubicBezTo>
                  <a:cubicBezTo>
                    <a:pt x="3740" y="3811"/>
                    <a:pt x="3883" y="3954"/>
                    <a:pt x="4025" y="4097"/>
                  </a:cubicBezTo>
                  <a:cubicBezTo>
                    <a:pt x="3644" y="4478"/>
                    <a:pt x="3097" y="4716"/>
                    <a:pt x="2501" y="4716"/>
                  </a:cubicBezTo>
                  <a:cubicBezTo>
                    <a:pt x="1287" y="4716"/>
                    <a:pt x="310" y="3716"/>
                    <a:pt x="310" y="2501"/>
                  </a:cubicBezTo>
                  <a:cubicBezTo>
                    <a:pt x="310" y="1335"/>
                    <a:pt x="1215" y="382"/>
                    <a:pt x="2358" y="311"/>
                  </a:cubicBezTo>
                  <a:close/>
                  <a:moveTo>
                    <a:pt x="2501" y="1"/>
                  </a:moveTo>
                  <a:cubicBezTo>
                    <a:pt x="1120" y="1"/>
                    <a:pt x="1" y="1144"/>
                    <a:pt x="1" y="2501"/>
                  </a:cubicBezTo>
                  <a:cubicBezTo>
                    <a:pt x="1" y="3883"/>
                    <a:pt x="1120" y="5002"/>
                    <a:pt x="2501" y="5002"/>
                  </a:cubicBezTo>
                  <a:cubicBezTo>
                    <a:pt x="3883" y="5002"/>
                    <a:pt x="5002" y="3883"/>
                    <a:pt x="5002" y="2501"/>
                  </a:cubicBezTo>
                  <a:cubicBezTo>
                    <a:pt x="5002" y="1978"/>
                    <a:pt x="4835" y="1477"/>
                    <a:pt x="4526" y="1049"/>
                  </a:cubicBezTo>
                  <a:cubicBezTo>
                    <a:pt x="4499" y="1009"/>
                    <a:pt x="4459" y="992"/>
                    <a:pt x="4415" y="992"/>
                  </a:cubicBezTo>
                  <a:cubicBezTo>
                    <a:pt x="4380" y="992"/>
                    <a:pt x="4343" y="1004"/>
                    <a:pt x="4311" y="1025"/>
                  </a:cubicBezTo>
                  <a:cubicBezTo>
                    <a:pt x="4264" y="1073"/>
                    <a:pt x="4240" y="1144"/>
                    <a:pt x="4287" y="1215"/>
                  </a:cubicBezTo>
                  <a:cubicBezTo>
                    <a:pt x="4526" y="1549"/>
                    <a:pt x="4668" y="1954"/>
                    <a:pt x="4692" y="2359"/>
                  </a:cubicBezTo>
                  <a:lnTo>
                    <a:pt x="4097" y="2359"/>
                  </a:lnTo>
                  <a:cubicBezTo>
                    <a:pt x="4025" y="1597"/>
                    <a:pt x="3406" y="1001"/>
                    <a:pt x="2644" y="930"/>
                  </a:cubicBezTo>
                  <a:lnTo>
                    <a:pt x="2644" y="311"/>
                  </a:lnTo>
                  <a:cubicBezTo>
                    <a:pt x="3097" y="334"/>
                    <a:pt x="3501" y="501"/>
                    <a:pt x="3859" y="787"/>
                  </a:cubicBezTo>
                  <a:cubicBezTo>
                    <a:pt x="3886" y="805"/>
                    <a:pt x="3917" y="813"/>
                    <a:pt x="3947" y="813"/>
                  </a:cubicBezTo>
                  <a:cubicBezTo>
                    <a:pt x="3996" y="813"/>
                    <a:pt x="4044" y="792"/>
                    <a:pt x="4073" y="763"/>
                  </a:cubicBezTo>
                  <a:cubicBezTo>
                    <a:pt x="4121" y="692"/>
                    <a:pt x="4121" y="596"/>
                    <a:pt x="4049" y="549"/>
                  </a:cubicBezTo>
                  <a:cubicBezTo>
                    <a:pt x="3597" y="191"/>
                    <a:pt x="3073" y="1"/>
                    <a:pt x="2501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106" name="Google Shape;2814;p94"/>
            <p:cNvSpPr/>
            <p:nvPr/>
          </p:nvSpPr>
          <p:spPr bwMode="auto">
            <a:xfrm>
              <a:off x="4794107" y="2453402"/>
              <a:ext cx="24086" cy="17475"/>
            </a:xfrm>
            <a:custGeom>
              <a:avLst/>
              <a:gdLst/>
              <a:ahLst/>
              <a:cxnLst/>
              <a:rect l="l" t="t" r="r" b="b"/>
              <a:pathLst>
                <a:path w="716" h="508" fill="norm" stroke="1" extrusionOk="0">
                  <a:moveTo>
                    <a:pt x="167" y="1"/>
                  </a:moveTo>
                  <a:cubicBezTo>
                    <a:pt x="132" y="1"/>
                    <a:pt x="96" y="19"/>
                    <a:pt x="72" y="55"/>
                  </a:cubicBezTo>
                  <a:cubicBezTo>
                    <a:pt x="1" y="102"/>
                    <a:pt x="1" y="197"/>
                    <a:pt x="72" y="245"/>
                  </a:cubicBezTo>
                  <a:lnTo>
                    <a:pt x="263" y="459"/>
                  </a:lnTo>
                  <a:cubicBezTo>
                    <a:pt x="286" y="483"/>
                    <a:pt x="334" y="507"/>
                    <a:pt x="358" y="507"/>
                  </a:cubicBezTo>
                  <a:cubicBezTo>
                    <a:pt x="405" y="507"/>
                    <a:pt x="429" y="483"/>
                    <a:pt x="477" y="459"/>
                  </a:cubicBezTo>
                  <a:lnTo>
                    <a:pt x="667" y="245"/>
                  </a:lnTo>
                  <a:cubicBezTo>
                    <a:pt x="715" y="197"/>
                    <a:pt x="715" y="102"/>
                    <a:pt x="667" y="55"/>
                  </a:cubicBezTo>
                  <a:cubicBezTo>
                    <a:pt x="632" y="19"/>
                    <a:pt x="590" y="1"/>
                    <a:pt x="551" y="1"/>
                  </a:cubicBezTo>
                  <a:cubicBezTo>
                    <a:pt x="513" y="1"/>
                    <a:pt x="477" y="19"/>
                    <a:pt x="453" y="55"/>
                  </a:cubicBezTo>
                  <a:lnTo>
                    <a:pt x="358" y="150"/>
                  </a:lnTo>
                  <a:lnTo>
                    <a:pt x="263" y="55"/>
                  </a:lnTo>
                  <a:cubicBezTo>
                    <a:pt x="239" y="19"/>
                    <a:pt x="203" y="1"/>
                    <a:pt x="167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107" name="Google Shape;2815;p94"/>
            <p:cNvSpPr/>
            <p:nvPr/>
          </p:nvSpPr>
          <p:spPr bwMode="auto">
            <a:xfrm>
              <a:off x="4883051" y="2382744"/>
              <a:ext cx="24052" cy="16856"/>
            </a:xfrm>
            <a:custGeom>
              <a:avLst/>
              <a:gdLst/>
              <a:ahLst/>
              <a:cxnLst/>
              <a:rect l="l" t="t" r="r" b="b"/>
              <a:pathLst>
                <a:path w="715" h="490" fill="norm" stroke="1" extrusionOk="0">
                  <a:moveTo>
                    <a:pt x="164" y="1"/>
                  </a:moveTo>
                  <a:cubicBezTo>
                    <a:pt x="125" y="1"/>
                    <a:pt x="83" y="13"/>
                    <a:pt x="48" y="37"/>
                  </a:cubicBezTo>
                  <a:cubicBezTo>
                    <a:pt x="0" y="84"/>
                    <a:pt x="0" y="180"/>
                    <a:pt x="48" y="251"/>
                  </a:cubicBezTo>
                  <a:lnTo>
                    <a:pt x="238" y="442"/>
                  </a:lnTo>
                  <a:cubicBezTo>
                    <a:pt x="286" y="465"/>
                    <a:pt x="310" y="489"/>
                    <a:pt x="357" y="489"/>
                  </a:cubicBezTo>
                  <a:cubicBezTo>
                    <a:pt x="381" y="489"/>
                    <a:pt x="429" y="465"/>
                    <a:pt x="453" y="442"/>
                  </a:cubicBezTo>
                  <a:lnTo>
                    <a:pt x="667" y="251"/>
                  </a:lnTo>
                  <a:cubicBezTo>
                    <a:pt x="714" y="180"/>
                    <a:pt x="714" y="84"/>
                    <a:pt x="667" y="37"/>
                  </a:cubicBezTo>
                  <a:cubicBezTo>
                    <a:pt x="631" y="13"/>
                    <a:pt x="589" y="1"/>
                    <a:pt x="551" y="1"/>
                  </a:cubicBezTo>
                  <a:cubicBezTo>
                    <a:pt x="512" y="1"/>
                    <a:pt x="476" y="13"/>
                    <a:pt x="453" y="37"/>
                  </a:cubicBezTo>
                  <a:lnTo>
                    <a:pt x="357" y="132"/>
                  </a:lnTo>
                  <a:lnTo>
                    <a:pt x="262" y="37"/>
                  </a:lnTo>
                  <a:cubicBezTo>
                    <a:pt x="238" y="13"/>
                    <a:pt x="202" y="1"/>
                    <a:pt x="164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108" name="Google Shape;2816;p94"/>
            <p:cNvSpPr/>
            <p:nvPr/>
          </p:nvSpPr>
          <p:spPr bwMode="auto">
            <a:xfrm>
              <a:off x="4935899" y="2304106"/>
              <a:ext cx="24086" cy="16856"/>
            </a:xfrm>
            <a:custGeom>
              <a:avLst/>
              <a:gdLst/>
              <a:ahLst/>
              <a:cxnLst/>
              <a:rect l="l" t="t" r="r" b="b"/>
              <a:pathLst>
                <a:path w="716" h="490" fill="norm" stroke="1" extrusionOk="0">
                  <a:moveTo>
                    <a:pt x="168" y="1"/>
                  </a:moveTo>
                  <a:cubicBezTo>
                    <a:pt x="132" y="1"/>
                    <a:pt x="96" y="13"/>
                    <a:pt x="72" y="37"/>
                  </a:cubicBezTo>
                  <a:cubicBezTo>
                    <a:pt x="1" y="84"/>
                    <a:pt x="1" y="179"/>
                    <a:pt x="72" y="251"/>
                  </a:cubicBezTo>
                  <a:lnTo>
                    <a:pt x="263" y="441"/>
                  </a:lnTo>
                  <a:cubicBezTo>
                    <a:pt x="287" y="465"/>
                    <a:pt x="310" y="489"/>
                    <a:pt x="358" y="489"/>
                  </a:cubicBezTo>
                  <a:cubicBezTo>
                    <a:pt x="406" y="489"/>
                    <a:pt x="429" y="465"/>
                    <a:pt x="453" y="441"/>
                  </a:cubicBezTo>
                  <a:lnTo>
                    <a:pt x="668" y="251"/>
                  </a:lnTo>
                  <a:cubicBezTo>
                    <a:pt x="715" y="179"/>
                    <a:pt x="715" y="84"/>
                    <a:pt x="668" y="37"/>
                  </a:cubicBezTo>
                  <a:cubicBezTo>
                    <a:pt x="632" y="13"/>
                    <a:pt x="590" y="1"/>
                    <a:pt x="552" y="1"/>
                  </a:cubicBezTo>
                  <a:cubicBezTo>
                    <a:pt x="513" y="1"/>
                    <a:pt x="477" y="13"/>
                    <a:pt x="453" y="37"/>
                  </a:cubicBezTo>
                  <a:lnTo>
                    <a:pt x="358" y="132"/>
                  </a:lnTo>
                  <a:lnTo>
                    <a:pt x="263" y="37"/>
                  </a:lnTo>
                  <a:cubicBezTo>
                    <a:pt x="239" y="13"/>
                    <a:pt x="203" y="1"/>
                    <a:pt x="168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</p:grpSp>
      <p:sp>
        <p:nvSpPr>
          <p:cNvPr id="1221184223" name="Скругленный прямоугольник 17"/>
          <p:cNvSpPr/>
          <p:nvPr/>
        </p:nvSpPr>
        <p:spPr bwMode="auto">
          <a:xfrm>
            <a:off x="9337010" y="1396603"/>
            <a:ext cx="1504594" cy="1401168"/>
          </a:xfrm>
          <a:prstGeom prst="roundRect">
            <a:avLst>
              <a:gd name="adj" fmla="val 16667"/>
            </a:avLst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957439397" name="Заголовок 13"/>
          <p:cNvSpPr>
            <a:spLocks noGrp="1"/>
          </p:cNvSpPr>
          <p:nvPr>
            <p:ph type="title"/>
          </p:nvPr>
        </p:nvSpPr>
        <p:spPr bwMode="auto">
          <a:xfrm>
            <a:off x="525817" y="421226"/>
            <a:ext cx="4142232" cy="376138"/>
          </a:xfrm>
        </p:spPr>
        <p:txBody>
          <a:bodyPr/>
          <a:lstStyle/>
          <a:p>
            <a:pPr>
              <a:defRPr/>
            </a:pPr>
            <a:r>
              <a:rPr>
                <a:solidFill/>
              </a:rPr>
              <a:t>ПРОБЛЕМА И РЕШЕНИЕ</a:t>
            </a:r>
            <a:endParaRPr lang="ru-RU"/>
          </a:p>
        </p:txBody>
      </p:sp>
      <p:cxnSp>
        <p:nvCxnSpPr>
          <p:cNvPr id="1633715086" name="Google Shape;2799;p94"/>
          <p:cNvCxnSpPr/>
          <p:nvPr/>
        </p:nvCxnSpPr>
        <p:spPr bwMode="auto">
          <a:xfrm flipV="1">
            <a:off x="6843165" y="2119165"/>
            <a:ext cx="2489934" cy="12489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7775559" name="Скругленный прямоугольник 1"/>
          <p:cNvSpPr/>
          <p:nvPr/>
        </p:nvSpPr>
        <p:spPr bwMode="auto">
          <a:xfrm>
            <a:off x="346075" y="324562"/>
            <a:ext cx="4293107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766160549" name="Номер слайда 10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r>
              <a:rPr>
                <a:solidFill/>
              </a:rPr>
              <a:t>7</a:t>
            </a:r>
            <a:endParaRPr lang="ru-RU">
              <a:solidFill>
                <a:schemeClr val="accent6"/>
              </a:solidFill>
            </a:endParaRPr>
          </a:p>
        </p:txBody>
      </p:sp>
      <p:sp>
        <p:nvSpPr>
          <p:cNvPr id="318130621" name="Текст 2"/>
          <p:cNvSpPr>
            <a:spLocks noGrp="1"/>
          </p:cNvSpPr>
          <p:nvPr>
            <p:ph type="body" sz="quarter" idx="21"/>
          </p:nvPr>
        </p:nvSpPr>
        <p:spPr bwMode="auto">
          <a:xfrm>
            <a:off x="6776590" y="1360288"/>
            <a:ext cx="4790314" cy="1021701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>
              <a:defRPr/>
            </a:pPr>
            <a:r>
              <a:rPr b="1">
                <a:solidFill>
                  <a:srgbClr val="FF0053"/>
                </a:solidFill>
              </a:rPr>
              <a:t>46 · 4 · 0</a:t>
            </a:r>
            <a:endParaRPr lang="ru-RU" b="0">
              <a:solidFill>
                <a:schemeClr val="accent6"/>
              </a:solidFill>
            </a:endParaRPr>
          </a:p>
        </p:txBody>
      </p:sp>
      <p:sp>
        <p:nvSpPr>
          <p:cNvPr id="1878405022" name="Текст 3"/>
          <p:cNvSpPr>
            <a:spLocks noGrp="1"/>
          </p:cNvSpPr>
          <p:nvPr>
            <p:ph type="body" sz="quarter" idx="18"/>
          </p:nvPr>
        </p:nvSpPr>
        <p:spPr bwMode="auto">
          <a:xfrm>
            <a:off x="6776590" y="1739825"/>
            <a:ext cx="4790314" cy="642164"/>
          </a:xfrm>
        </p:spPr>
        <p:txBody>
          <a:bodyPr/>
          <a:lstStyle/>
          <a:p>
            <a:pPr>
              <a:defRPr/>
            </a:pPr>
            <a:r>
              <a:rPr>
                <a:solidFill>
                  <a:srgbClr val="1C1D22"/>
                </a:solidFill>
              </a:rPr>
              <a:t>томов ПД, РД и ИД в публичном объекте; шифр в штампе пуст у всех 50</a:t>
            </a:r>
            <a:endParaRPr lang="ru-RU">
              <a:solidFill>
                <a:schemeClr val="accent6"/>
              </a:solidFill>
            </a:endParaRPr>
          </a:p>
        </p:txBody>
      </p:sp>
      <p:sp>
        <p:nvSpPr>
          <p:cNvPr id="449523253" name="Текст 4"/>
          <p:cNvSpPr>
            <a:spLocks noGrp="1"/>
          </p:cNvSpPr>
          <p:nvPr>
            <p:ph type="body" sz="quarter" idx="22"/>
          </p:nvPr>
        </p:nvSpPr>
        <p:spPr bwMode="auto">
          <a:xfrm>
            <a:off x="6776590" y="2628849"/>
            <a:ext cx="4790314" cy="1021701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>
              <a:defRPr/>
            </a:pPr>
            <a:r>
              <a:rPr b="1">
                <a:solidFill>
                  <a:srgbClr val="FF0053"/>
                </a:solidFill>
              </a:rPr>
              <a:t>132</a:t>
            </a:r>
            <a:endParaRPr lang="ru-RU" b="0">
              <a:solidFill>
                <a:schemeClr val="accent5"/>
              </a:solidFill>
            </a:endParaRPr>
          </a:p>
        </p:txBody>
      </p:sp>
      <p:sp>
        <p:nvSpPr>
          <p:cNvPr id="1458881947" name="Текст 5"/>
          <p:cNvSpPr>
            <a:spLocks noGrp="1"/>
          </p:cNvSpPr>
          <p:nvPr>
            <p:ph type="body" sz="quarter" idx="23"/>
          </p:nvPr>
        </p:nvSpPr>
        <p:spPr bwMode="auto">
          <a:xfrm>
            <a:off x="6776590" y="3008386"/>
            <a:ext cx="4790314" cy="642164"/>
          </a:xfrm>
        </p:spPr>
        <p:txBody>
          <a:bodyPr/>
          <a:lstStyle/>
          <a:p>
            <a:pPr>
              <a:defRPr/>
            </a:pPr>
            <a:r>
              <a:rPr>
                <a:solidFill>
                  <a:srgbClr val="1C1D22"/>
                </a:solidFill>
              </a:rPr>
              <a:t>параметра сверки в 12 разделах по ТЗ заказчика</a:t>
            </a:r>
            <a:endParaRPr lang="ru-RU">
              <a:solidFill>
                <a:schemeClr val="accent5"/>
              </a:solidFill>
            </a:endParaRPr>
          </a:p>
        </p:txBody>
      </p:sp>
      <p:sp>
        <p:nvSpPr>
          <p:cNvPr id="828887783" name="Текст 6"/>
          <p:cNvSpPr>
            <a:spLocks noGrp="1"/>
          </p:cNvSpPr>
          <p:nvPr>
            <p:ph type="body" sz="quarter" idx="24"/>
          </p:nvPr>
        </p:nvSpPr>
        <p:spPr bwMode="auto">
          <a:xfrm>
            <a:off x="6776590" y="3897410"/>
            <a:ext cx="4790314" cy="1021701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>
              <a:defRPr/>
            </a:pPr>
            <a:r>
              <a:rPr b="1">
                <a:solidFill>
                  <a:srgbClr val="FF0053"/>
                </a:solidFill>
              </a:rPr>
              <a:t>30 мин · 3 клика</a:t>
            </a:r>
            <a:endParaRPr lang="ru-RU" b="0">
              <a:solidFill>
                <a:schemeClr val="accent6"/>
              </a:solidFill>
            </a:endParaRPr>
          </a:p>
        </p:txBody>
      </p:sp>
      <p:sp>
        <p:nvSpPr>
          <p:cNvPr id="1226906187" name="Текст 7"/>
          <p:cNvSpPr>
            <a:spLocks noGrp="1"/>
          </p:cNvSpPr>
          <p:nvPr>
            <p:ph type="body" sz="quarter" idx="25"/>
          </p:nvPr>
        </p:nvSpPr>
        <p:spPr bwMode="auto">
          <a:xfrm>
            <a:off x="6776590" y="4276947"/>
            <a:ext cx="4790314" cy="642164"/>
          </a:xfrm>
        </p:spPr>
        <p:txBody>
          <a:bodyPr/>
          <a:lstStyle/>
          <a:p>
            <a:pPr>
              <a:defRPr/>
            </a:pPr>
            <a:r>
              <a:rPr>
                <a:solidFill>
                  <a:srgbClr val="1C1D22"/>
                </a:solidFill>
              </a:rPr>
              <a:t>протокол от READY до решений; ≤3 действия на кандидата (ответы 16, 28)</a:t>
            </a:r>
            <a:endParaRPr lang="ru-RU">
              <a:solidFill>
                <a:schemeClr val="accent6"/>
              </a:solidFill>
            </a:endParaRPr>
          </a:p>
        </p:txBody>
      </p:sp>
      <p:sp>
        <p:nvSpPr>
          <p:cNvPr id="828808947" name="Текст 8"/>
          <p:cNvSpPr>
            <a:spLocks noGrp="1"/>
          </p:cNvSpPr>
          <p:nvPr>
            <p:ph type="body" sz="quarter" idx="26"/>
          </p:nvPr>
        </p:nvSpPr>
        <p:spPr bwMode="auto">
          <a:xfrm>
            <a:off x="6776590" y="5165972"/>
            <a:ext cx="4790314" cy="1021701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>
              <a:defRPr/>
            </a:pPr>
            <a:r>
              <a:rPr b="1">
                <a:solidFill>
                  <a:srgbClr val="FF0053"/>
                </a:solidFill>
              </a:rPr>
              <a:t>0</a:t>
            </a:r>
            <a:endParaRPr lang="ru-RU" b="0">
              <a:solidFill>
                <a:schemeClr val="accent5"/>
              </a:solidFill>
            </a:endParaRPr>
          </a:p>
        </p:txBody>
      </p:sp>
      <p:sp>
        <p:nvSpPr>
          <p:cNvPr id="226994727" name="Текст 9"/>
          <p:cNvSpPr>
            <a:spLocks noGrp="1"/>
          </p:cNvSpPr>
          <p:nvPr>
            <p:ph type="body" sz="quarter" idx="27"/>
          </p:nvPr>
        </p:nvSpPr>
        <p:spPr bwMode="auto">
          <a:xfrm>
            <a:off x="6776590" y="5545509"/>
            <a:ext cx="4790314" cy="642164"/>
          </a:xfrm>
        </p:spPr>
        <p:txBody>
          <a:bodyPr/>
          <a:lstStyle/>
          <a:p>
            <a:pPr>
              <a:defRPr/>
            </a:pPr>
            <a:r>
              <a:rPr>
                <a:solidFill>
                  <a:srgbClr val="1C1D22"/>
                </a:solidFill>
              </a:rPr>
              <a:t>права на ложный вердикт: вывод «нарушений нет» без доказательства запрещён</a:t>
            </a:r>
            <a:endParaRPr lang="ru-RU">
              <a:solidFill>
                <a:schemeClr val="accent5"/>
              </a:solidFill>
            </a:endParaRPr>
          </a:p>
        </p:txBody>
      </p:sp>
      <p:graphicFrame>
        <p:nvGraphicFramePr>
          <p:cNvPr id="2109608534" name="Диаграмма 11"/>
          <p:cNvGraphicFramePr>
            <a:graphicFrameLocks xmlns:a="http://schemas.openxmlformats.org/drawingml/2006/main"/>
          </p:cNvGraphicFramePr>
          <p:nvPr/>
        </p:nvGraphicFramePr>
        <p:xfrm rot="0">
          <a:off x="625096" y="1360288"/>
          <a:ext cx="5125748" cy="4385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127095898" name="Заголовок 13"/>
          <p:cNvSpPr>
            <a:spLocks noGrp="1"/>
          </p:cNvSpPr>
          <p:nvPr>
            <p:ph type="title"/>
          </p:nvPr>
        </p:nvSpPr>
        <p:spPr bwMode="auto">
          <a:xfrm>
            <a:off x="525817" y="421226"/>
            <a:ext cx="3927347" cy="376138"/>
          </a:xfrm>
        </p:spPr>
        <p:txBody>
          <a:bodyPr/>
          <a:lstStyle/>
          <a:p>
            <a:pPr>
              <a:defRPr/>
            </a:pPr>
            <a:r>
              <a:rPr>
                <a:solidFill/>
              </a:rPr>
              <a:t>ПРОБЛЕМА В ЦИФРАХ</a:t>
            </a:r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1726418" name="Скругленный прямоугольник 3"/>
          <p:cNvSpPr/>
          <p:nvPr/>
        </p:nvSpPr>
        <p:spPr bwMode="auto">
          <a:xfrm>
            <a:off x="325170" y="1304256"/>
            <a:ext cx="11541659" cy="5052102"/>
          </a:xfrm>
          <a:prstGeom prst="roundRect">
            <a:avLst>
              <a:gd name="adj" fmla="val 6926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653392376" name="Объект 2"/>
          <p:cNvSpPr>
            <a:spLocks noGrp="1"/>
          </p:cNvSpPr>
          <p:nvPr>
            <p:ph idx="1"/>
          </p:nvPr>
        </p:nvSpPr>
        <p:spPr bwMode="auto">
          <a:xfrm>
            <a:off x="623888" y="1556279"/>
            <a:ext cx="10789619" cy="3745441"/>
          </a:xfrm>
        </p:spPr>
        <p:txBody>
          <a:bodyPr/>
          <a:lstStyle/>
          <a:p>
            <a:pPr>
              <a:spcAft>
                <a:spcPts val="500"/>
              </a:spcAft>
              <a:defRPr/>
            </a:pPr>
            <a:r>
              <a:rPr b="1" sz="2600">
                <a:solidFill>
                  <a:srgbClr val="2D1451"/>
                </a:solidFill>
              </a:rPr>
              <a:t>«ПД для нас истина и эталон, тем более она проходит экспертизу»</a:t>
            </a:r>
            <a:endParaRPr lang="ru-RU">
              <a:solidFill>
                <a:schemeClr val="tx1"/>
              </a:solidFill>
            </a:endParaRPr>
          </a:p>
          <a:p>
            <a:pPr>
              <a:spcAft>
                <a:spcPts val="500"/>
              </a:spcAft>
              <a:defRPr/>
            </a:pPr>
            <a:r>
              <a:rPr sz="1600">
                <a:solidFill>
                  <a:srgbClr val="4B5563"/>
                </a:solidFill>
              </a:rPr>
              <a:t>Мосгосстройнадзор, сессия вопросов и ответов, 16.09.2026</a:t>
            </a:r>
            <a:endParaRPr lang="ru-RU">
              <a:solidFill>
                <a:schemeClr val="tx1"/>
              </a:solidFill>
            </a:endParaRPr>
          </a:p>
          <a:p>
            <a:pPr>
              <a:spcAft>
                <a:spcPts val="500"/>
              </a:spcAft>
              <a:defRPr/>
            </a:pPr>
            <a:r>
              <a:rPr/>
              <a:t/>
            </a:r>
            <a:endParaRPr lang="ru-RU">
              <a:solidFill>
                <a:schemeClr val="tx1"/>
              </a:solidFill>
            </a:endParaRPr>
          </a:p>
          <a:p>
            <a:pPr>
              <a:spcAft>
                <a:spcPts val="500"/>
              </a:spcAft>
              <a:defRPr/>
            </a:pPr>
            <a:r>
              <a:rPr sz="1800">
                <a:solidFill>
                  <a:srgbClr val="1C1D22"/>
                </a:solidFill>
              </a:rPr>
              <a:t>Что из этого следует (ответы организатора 26.09): эталон — последняя применимая утверждённая ПД (№11–12); три разных значения не схлопываются, а собираются в доказательную группу; неоднозначность — CLARIFICATION_REQUIRED; сервис не подменяет экспертизу (№19); внешние облачные LLM/OCR запрещены (№23).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224299941" name="Номер слайда 20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r>
              <a:rPr>
                <a:solidFill/>
              </a:rPr>
              <a:t>8</a:t>
            </a:r>
            <a:endParaRPr lang="ru-RU">
              <a:solidFill>
                <a:schemeClr val="bg1"/>
              </a:solidFill>
            </a:endParaRPr>
          </a:p>
        </p:txBody>
      </p:sp>
      <p:sp>
        <p:nvSpPr>
          <p:cNvPr id="817660197" name="Заголовок 1"/>
          <p:cNvSpPr>
            <a:spLocks noGrp="1"/>
          </p:cNvSpPr>
          <p:nvPr>
            <p:ph type="title"/>
          </p:nvPr>
        </p:nvSpPr>
        <p:spPr bwMode="auto">
          <a:xfrm>
            <a:off x="533104" y="414049"/>
            <a:ext cx="5994696" cy="552061"/>
          </a:xfrm>
        </p:spPr>
        <p:txBody>
          <a:bodyPr/>
          <a:lstStyle/>
          <a:p>
            <a:pPr>
              <a:defRPr/>
            </a:pPr>
            <a:r>
              <a:rPr>
                <a:solidFill>
                  <a:srgbClr val="FFFFFF"/>
                </a:solidFill>
              </a:rPr>
              <a:t>ГОЛОС ЗАКАЗЧИКА</a:t>
            </a:r>
            <a:endParaRPr lang="ru-RU" sz="360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9859336" name="Скругленный прямоугольник 1"/>
          <p:cNvSpPr/>
          <p:nvPr/>
        </p:nvSpPr>
        <p:spPr bwMode="auto">
          <a:xfrm>
            <a:off x="346075" y="324562"/>
            <a:ext cx="5367528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406422193" name="Номер слайда 10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r>
              <a:rPr>
                <a:solidFill/>
              </a:rPr>
              <a:t>9</a:t>
            </a:r>
            <a:endParaRPr lang="ru-RU">
              <a:solidFill>
                <a:schemeClr val="accent5"/>
              </a:solidFill>
            </a:endParaRPr>
          </a:p>
        </p:txBody>
      </p:sp>
      <p:sp>
        <p:nvSpPr>
          <p:cNvPr id="1827317630" name="Текст 2"/>
          <p:cNvSpPr>
            <a:spLocks noGrp="1"/>
          </p:cNvSpPr>
          <p:nvPr>
            <p:ph type="body" sz="quarter" idx="21"/>
          </p:nvPr>
        </p:nvSpPr>
        <p:spPr bwMode="auto">
          <a:xfrm>
            <a:off x="6755267" y="1343263"/>
            <a:ext cx="4790314" cy="1021701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>
              <a:defRPr/>
            </a:pPr>
            <a:r>
              <a:rPr b="1">
                <a:solidFill>
                  <a:srgbClr val="FF0053"/>
                </a:solidFill>
              </a:rPr>
              <a:t>8 порогов</a:t>
            </a:r>
            <a:endParaRPr lang="ru-RU" b="0">
              <a:solidFill>
                <a:schemeClr val="accent5"/>
              </a:solidFill>
            </a:endParaRPr>
          </a:p>
        </p:txBody>
      </p:sp>
      <p:sp>
        <p:nvSpPr>
          <p:cNvPr id="666575944" name="Текст 3"/>
          <p:cNvSpPr>
            <a:spLocks noGrp="1"/>
          </p:cNvSpPr>
          <p:nvPr>
            <p:ph type="body" sz="quarter" idx="18"/>
          </p:nvPr>
        </p:nvSpPr>
        <p:spPr bwMode="auto">
          <a:xfrm>
            <a:off x="6755267" y="1722800"/>
            <a:ext cx="4790314" cy="642164"/>
          </a:xfrm>
        </p:spPr>
        <p:txBody>
          <a:bodyPr/>
          <a:lstStyle/>
          <a:p>
            <a:pPr>
              <a:defRPr/>
            </a:pPr>
            <a:r>
              <a:rPr>
                <a:solidFill>
                  <a:srgbClr val="1C1D22"/>
                </a:solidFill>
              </a:rPr>
              <a:t>минимумов раздела 14 ТЗ: это нижняя граница приёмки, а не заявленный результат</a:t>
            </a:r>
            <a:endParaRPr lang="ru-RU">
              <a:solidFill>
                <a:schemeClr val="accent5"/>
              </a:solidFill>
            </a:endParaRPr>
          </a:p>
        </p:txBody>
      </p:sp>
      <p:sp>
        <p:nvSpPr>
          <p:cNvPr id="21059579" name="Текст 4"/>
          <p:cNvSpPr>
            <a:spLocks noGrp="1"/>
          </p:cNvSpPr>
          <p:nvPr>
            <p:ph type="body" sz="quarter" idx="22"/>
          </p:nvPr>
        </p:nvSpPr>
        <p:spPr bwMode="auto">
          <a:xfrm>
            <a:off x="6755267" y="2611824"/>
            <a:ext cx="4790314" cy="1021701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>
              <a:defRPr/>
            </a:pPr>
            <a:r>
              <a:rPr b="1">
                <a:solidFill>
                  <a:srgbClr val="FF0053"/>
                </a:solidFill>
              </a:rPr>
              <a:t>F1 ≥ 0,85</a:t>
            </a:r>
            <a:endParaRPr lang="ru-RU" b="0">
              <a:solidFill>
                <a:schemeClr val="accent5"/>
              </a:solidFill>
            </a:endParaRPr>
          </a:p>
        </p:txBody>
      </p:sp>
      <p:sp>
        <p:nvSpPr>
          <p:cNvPr id="125973680" name="Текст 5"/>
          <p:cNvSpPr>
            <a:spLocks noGrp="1"/>
          </p:cNvSpPr>
          <p:nvPr>
            <p:ph type="body" sz="quarter" idx="23"/>
          </p:nvPr>
        </p:nvSpPr>
        <p:spPr bwMode="auto">
          <a:xfrm>
            <a:off x="6755267" y="2991361"/>
            <a:ext cx="4790314" cy="642164"/>
          </a:xfrm>
        </p:spPr>
        <p:txBody>
          <a:bodyPr/>
          <a:lstStyle/>
          <a:p>
            <a:pPr>
              <a:defRPr/>
            </a:pPr>
            <a:r>
              <a:rPr>
                <a:solidFill>
                  <a:srgbClr val="1C1D22"/>
                </a:solidFill>
              </a:rPr>
              <a:t>ловушка: при P = 0,90 и R = 0,80 F1 = 0,847 &lt; 0,85, нужен запас по recall</a:t>
            </a:r>
            <a:endParaRPr lang="ru-RU">
              <a:solidFill>
                <a:schemeClr val="accent5"/>
              </a:solidFill>
            </a:endParaRPr>
          </a:p>
        </p:txBody>
      </p:sp>
      <p:sp>
        <p:nvSpPr>
          <p:cNvPr id="549386514" name="Текст 6"/>
          <p:cNvSpPr>
            <a:spLocks noGrp="1"/>
          </p:cNvSpPr>
          <p:nvPr>
            <p:ph type="body" sz="quarter" idx="24"/>
          </p:nvPr>
        </p:nvSpPr>
        <p:spPr bwMode="auto">
          <a:xfrm>
            <a:off x="6755267" y="3880385"/>
            <a:ext cx="4790314" cy="1021701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>
              <a:defRPr/>
            </a:pPr>
            <a:r>
              <a:rPr b="1">
                <a:solidFill>
                  <a:srgbClr val="FF0053"/>
                </a:solidFill>
              </a:rPr>
              <a:t>30 + 10 баллов</a:t>
            </a:r>
            <a:endParaRPr lang="ru-RU" b="0">
              <a:solidFill>
                <a:schemeClr val="accent5"/>
              </a:solidFill>
            </a:endParaRPr>
          </a:p>
        </p:txBody>
      </p:sp>
      <p:sp>
        <p:nvSpPr>
          <p:cNvPr id="1112297575" name="Текст 7"/>
          <p:cNvSpPr>
            <a:spLocks noGrp="1"/>
          </p:cNvSpPr>
          <p:nvPr>
            <p:ph type="body" sz="quarter" idx="25"/>
          </p:nvPr>
        </p:nvSpPr>
        <p:spPr bwMode="auto">
          <a:xfrm>
            <a:off x="6755267" y="4259922"/>
            <a:ext cx="4790314" cy="642164"/>
          </a:xfrm>
        </p:spPr>
        <p:txBody>
          <a:bodyPr/>
          <a:lstStyle/>
          <a:p>
            <a:pPr>
              <a:defRPr/>
            </a:pPr>
            <a:r>
              <a:rPr>
                <a:solidFill>
                  <a:srgbClr val="1C1D22"/>
                </a:solidFill>
              </a:rPr>
              <a:t>30 экспертиза + 10 питч (живое демо); при равенстве решают F1 и Recall</a:t>
            </a:r>
            <a:endParaRPr lang="ru-RU">
              <a:solidFill>
                <a:schemeClr val="accent5"/>
              </a:solidFill>
            </a:endParaRPr>
          </a:p>
        </p:txBody>
      </p:sp>
      <p:sp>
        <p:nvSpPr>
          <p:cNvPr id="1579708373" name="Текст 8"/>
          <p:cNvSpPr>
            <a:spLocks noGrp="1"/>
          </p:cNvSpPr>
          <p:nvPr>
            <p:ph type="body" sz="quarter" idx="26"/>
          </p:nvPr>
        </p:nvSpPr>
        <p:spPr bwMode="auto">
          <a:xfrm>
            <a:off x="6755267" y="5148947"/>
            <a:ext cx="4790314" cy="1021701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>
              <a:defRPr/>
            </a:pPr>
            <a:r>
              <a:rPr b="1">
                <a:solidFill>
                  <a:srgbClr val="FF0053"/>
                </a:solidFill>
              </a:rPr>
              <a:t>object_id + код + location</a:t>
            </a:r>
            <a:endParaRPr lang="ru-RU" b="0">
              <a:solidFill>
                <a:schemeClr val="accent5"/>
              </a:solidFill>
            </a:endParaRPr>
          </a:p>
        </p:txBody>
      </p:sp>
      <p:sp>
        <p:nvSpPr>
          <p:cNvPr id="1689253862" name="Текст 9"/>
          <p:cNvSpPr>
            <a:spLocks noGrp="1"/>
          </p:cNvSpPr>
          <p:nvPr>
            <p:ph type="body" sz="quarter" idx="27"/>
          </p:nvPr>
        </p:nvSpPr>
        <p:spPr bwMode="auto">
          <a:xfrm>
            <a:off x="6755267" y="5528484"/>
            <a:ext cx="4790314" cy="642164"/>
          </a:xfrm>
        </p:spPr>
        <p:txBody>
          <a:bodyPr/>
          <a:lstStyle/>
          <a:p>
            <a:pPr>
              <a:defRPr/>
            </a:pPr>
            <a:r>
              <a:rPr>
                <a:solidFill>
                  <a:srgbClr val="1C1D22"/>
                </a:solidFill>
              </a:rPr>
              <a:t>единица совпадения — атомарная точка check_id (ответ 14); доли с 95% CI Уилсона</a:t>
            </a:r>
            <a:endParaRPr lang="ru-RU">
              <a:solidFill>
                <a:schemeClr val="accent5"/>
              </a:solidFill>
            </a:endParaRPr>
          </a:p>
        </p:txBody>
      </p:sp>
      <p:graphicFrame>
        <p:nvGraphicFramePr>
          <p:cNvPr id="26868884" name="Диаграмма 11"/>
          <p:cNvGraphicFramePr>
            <a:graphicFrameLocks xmlns:a="http://schemas.openxmlformats.org/drawingml/2006/main"/>
          </p:cNvGraphicFramePr>
          <p:nvPr/>
        </p:nvGraphicFramePr>
        <p:xfrm rot="0">
          <a:off x="346075" y="1424510"/>
          <a:ext cx="5749925" cy="44017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177794490" name="Заголовок 13"/>
          <p:cNvSpPr>
            <a:spLocks noGrp="1"/>
          </p:cNvSpPr>
          <p:nvPr>
            <p:ph type="title"/>
          </p:nvPr>
        </p:nvSpPr>
        <p:spPr bwMode="auto">
          <a:xfrm>
            <a:off x="525817" y="421226"/>
            <a:ext cx="5001768" cy="376138"/>
          </a:xfrm>
        </p:spPr>
        <p:txBody>
          <a:bodyPr/>
          <a:lstStyle/>
          <a:p>
            <a:pPr>
              <a:defRPr/>
            </a:pPr>
            <a:r>
              <a:rPr>
                <a:solidFill/>
              </a:rPr>
              <a:t>КАК НАС БУДУТ ИЗМЕРЯТЬ</a:t>
            </a:r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401585286" name="Скругленный прямоугольник 22"/>
          <p:cNvSpPr/>
          <p:nvPr/>
        </p:nvSpPr>
        <p:spPr bwMode="auto">
          <a:xfrm>
            <a:off x="346075" y="324562"/>
            <a:ext cx="6227064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859240169" name="Номер слайда 20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r>
              <a:rPr>
                <a:solidFill/>
              </a:rPr>
              <a:t>10</a:t>
            </a:r>
            <a:endParaRPr lang="ru-RU">
              <a:solidFill>
                <a:schemeClr val="accent5"/>
              </a:solidFill>
            </a:endParaRPr>
          </a:p>
        </p:txBody>
      </p:sp>
      <p:sp>
        <p:nvSpPr>
          <p:cNvPr id="1268325229" name="Текст 1"/>
          <p:cNvSpPr>
            <a:spLocks noGrp="1"/>
          </p:cNvSpPr>
          <p:nvPr>
            <p:ph type="body" sz="quarter" idx="37"/>
          </p:nvPr>
        </p:nvSpPr>
        <p:spPr bwMode="auto">
          <a:xfrm>
            <a:off x="1615961" y="1428776"/>
            <a:ext cx="3866856" cy="423628"/>
          </a:xfrm>
        </p:spPr>
        <p:txBody>
          <a:bodyPr/>
          <a:lstStyle/>
          <a:p>
            <a:pPr>
              <a:defRPr/>
            </a:pPr>
            <a:r>
              <a:rPr>
                <a:solidFill/>
              </a:rPr>
              <a:t>Учебный комплект</a:t>
            </a:r>
            <a:endParaRPr lang="ru-RU">
              <a:solidFill>
                <a:srgbClr val="F92571"/>
              </a:solidFill>
            </a:endParaRPr>
          </a:p>
        </p:txBody>
      </p:sp>
      <p:sp>
        <p:nvSpPr>
          <p:cNvPr id="1627499976" name="Текст 2"/>
          <p:cNvSpPr>
            <a:spLocks noGrp="1"/>
          </p:cNvSpPr>
          <p:nvPr>
            <p:ph type="body" sz="quarter" idx="38"/>
          </p:nvPr>
        </p:nvSpPr>
        <p:spPr bwMode="auto">
          <a:xfrm>
            <a:off x="1615964" y="1996388"/>
            <a:ext cx="3866856" cy="672075"/>
          </a:xfrm>
        </p:spPr>
        <p:txBody>
          <a:bodyPr/>
          <a:lstStyle/>
          <a:p>
            <a:pPr>
              <a:defRPr/>
            </a:pPr>
            <a:r>
              <a:rPr>
                <a:solidFill/>
              </a:rPr>
              <a:t>Одна кнопка: синтетические ПД, РД и ИД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1915709516" name="Текст 3"/>
          <p:cNvSpPr>
            <a:spLocks noGrp="1"/>
          </p:cNvSpPr>
          <p:nvPr>
            <p:ph type="body" sz="quarter" idx="39"/>
          </p:nvPr>
        </p:nvSpPr>
        <p:spPr bwMode="auto">
          <a:xfrm>
            <a:off x="1596604" y="3032761"/>
            <a:ext cx="3866856" cy="403756"/>
          </a:xfrm>
        </p:spPr>
        <p:txBody>
          <a:bodyPr/>
          <a:lstStyle/>
          <a:p>
            <a:pPr>
              <a:defRPr/>
            </a:pPr>
            <a:r>
              <a:rPr>
                <a:solidFill/>
              </a:rPr>
              <a:t>Эталон</a:t>
            </a:r>
            <a:endParaRPr lang="ru-RU">
              <a:solidFill>
                <a:srgbClr val="F92571"/>
              </a:solidFill>
            </a:endParaRPr>
          </a:p>
        </p:txBody>
      </p:sp>
      <p:sp>
        <p:nvSpPr>
          <p:cNvPr id="1449357136" name="Текст 4"/>
          <p:cNvSpPr>
            <a:spLocks noGrp="1"/>
          </p:cNvSpPr>
          <p:nvPr>
            <p:ph type="body" sz="quarter" idx="40"/>
          </p:nvPr>
        </p:nvSpPr>
        <p:spPr bwMode="auto">
          <a:xfrm>
            <a:off x="1596604" y="3580500"/>
            <a:ext cx="3866856" cy="672075"/>
          </a:xfrm>
        </p:spPr>
        <p:txBody>
          <a:bodyPr/>
          <a:lstStyle/>
          <a:p>
            <a:pPr>
              <a:defRPr/>
            </a:pPr>
            <a:r>
              <a:rPr>
                <a:solidFill/>
              </a:rPr>
              <a:t>Инспектор назначает эталон ПД, запись в аудит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1122710065" name="Текст 5"/>
          <p:cNvSpPr>
            <a:spLocks noGrp="1"/>
          </p:cNvSpPr>
          <p:nvPr>
            <p:ph type="body" sz="quarter" idx="41"/>
          </p:nvPr>
        </p:nvSpPr>
        <p:spPr bwMode="auto">
          <a:xfrm>
            <a:off x="1596604" y="4616873"/>
            <a:ext cx="3866856" cy="403913"/>
          </a:xfrm>
        </p:spPr>
        <p:txBody>
          <a:bodyPr/>
          <a:lstStyle/>
          <a:p>
            <a:pPr>
              <a:defRPr/>
            </a:pPr>
            <a:r>
              <a:rPr>
                <a:solidFill/>
              </a:rPr>
              <a:t>Прогон и статус</a:t>
            </a:r>
            <a:endParaRPr lang="ru-RU">
              <a:solidFill>
                <a:srgbClr val="F92571"/>
              </a:solidFill>
            </a:endParaRPr>
          </a:p>
        </p:txBody>
      </p:sp>
      <p:sp>
        <p:nvSpPr>
          <p:cNvPr id="1655102634" name="Текст 6"/>
          <p:cNvSpPr>
            <a:spLocks noGrp="1"/>
          </p:cNvSpPr>
          <p:nvPr>
            <p:ph type="body" sz="quarter" idx="42"/>
          </p:nvPr>
        </p:nvSpPr>
        <p:spPr bwMode="auto">
          <a:xfrm>
            <a:off x="1596604" y="5164612"/>
            <a:ext cx="3866856" cy="672075"/>
          </a:xfrm>
        </p:spPr>
        <p:txBody>
          <a:bodyPr/>
          <a:lstStyle/>
          <a:p>
            <a:pPr>
              <a:defRPr/>
            </a:pPr>
            <a:r>
              <a:rPr>
                <a:solidFill/>
              </a:rPr>
              <a:t>Конвейер L1–L7; время по 4 фазам на статусе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932407529" name="Текст 7"/>
          <p:cNvSpPr>
            <a:spLocks noGrp="1"/>
          </p:cNvSpPr>
          <p:nvPr>
            <p:ph type="body" sz="quarter" idx="43"/>
          </p:nvPr>
        </p:nvSpPr>
        <p:spPr bwMode="auto">
          <a:xfrm>
            <a:off x="7289068" y="1428776"/>
            <a:ext cx="3866856" cy="423628"/>
          </a:xfrm>
        </p:spPr>
        <p:txBody>
          <a:bodyPr/>
          <a:lstStyle/>
          <a:p>
            <a:pPr>
              <a:defRPr/>
            </a:pPr>
            <a:r>
              <a:rPr>
                <a:solidFill/>
              </a:rPr>
              <a:t>Карточка кандидата</a:t>
            </a:r>
            <a:endParaRPr lang="ru-RU">
              <a:solidFill>
                <a:srgbClr val="F92571"/>
              </a:solidFill>
            </a:endParaRPr>
          </a:p>
        </p:txBody>
      </p:sp>
      <p:sp>
        <p:nvSpPr>
          <p:cNvPr id="1267452843" name="Текст 8"/>
          <p:cNvSpPr>
            <a:spLocks noGrp="1"/>
          </p:cNvSpPr>
          <p:nvPr>
            <p:ph type="body" sz="quarter" idx="44"/>
          </p:nvPr>
        </p:nvSpPr>
        <p:spPr bwMode="auto">
          <a:xfrm>
            <a:off x="7289071" y="1996388"/>
            <a:ext cx="3866856" cy="672075"/>
          </a:xfrm>
        </p:spPr>
        <p:txBody>
          <a:bodyPr/>
          <a:lstStyle/>
          <a:p>
            <a:pPr>
              <a:defRPr/>
            </a:pPr>
            <a:r>
              <a:rPr>
                <a:solidFill/>
              </a:rPr>
              <a:t>Панели ПД/РД/ИД, delta, полигон на листе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1645597890" name="Текст 9"/>
          <p:cNvSpPr>
            <a:spLocks noGrp="1"/>
          </p:cNvSpPr>
          <p:nvPr>
            <p:ph type="body" sz="quarter" idx="45"/>
          </p:nvPr>
        </p:nvSpPr>
        <p:spPr bwMode="auto">
          <a:xfrm>
            <a:off x="7269712" y="3032761"/>
            <a:ext cx="3866856" cy="403756"/>
          </a:xfrm>
        </p:spPr>
        <p:txBody>
          <a:bodyPr/>
          <a:lstStyle/>
          <a:p>
            <a:pPr>
              <a:defRPr/>
            </a:pPr>
            <a:r>
              <a:rPr>
                <a:solidFill/>
              </a:rPr>
              <a:t>Решение</a:t>
            </a:r>
            <a:endParaRPr lang="ru-RU">
              <a:solidFill>
                <a:srgbClr val="F92571"/>
              </a:solidFill>
            </a:endParaRPr>
          </a:p>
        </p:txBody>
      </p:sp>
      <p:sp>
        <p:nvSpPr>
          <p:cNvPr id="156986459" name="Текст 10"/>
          <p:cNvSpPr>
            <a:spLocks noGrp="1"/>
          </p:cNvSpPr>
          <p:nvPr>
            <p:ph type="body" sz="quarter" idx="46"/>
          </p:nvPr>
        </p:nvSpPr>
        <p:spPr bwMode="auto">
          <a:xfrm>
            <a:off x="7269712" y="3580500"/>
            <a:ext cx="3866856" cy="672075"/>
          </a:xfrm>
        </p:spPr>
        <p:txBody>
          <a:bodyPr/>
          <a:lstStyle/>
          <a:p>
            <a:pPr>
              <a:defRPr/>
            </a:pPr>
            <a:r>
              <a:rPr>
                <a:solidFill/>
              </a:rPr>
              <a:t>Подтвердить или отклонить с причиной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1223180693" name="Текст 11"/>
          <p:cNvSpPr>
            <a:spLocks noGrp="1"/>
          </p:cNvSpPr>
          <p:nvPr>
            <p:ph type="body" sz="quarter" idx="47"/>
          </p:nvPr>
        </p:nvSpPr>
        <p:spPr bwMode="auto">
          <a:xfrm>
            <a:off x="7269712" y="4616873"/>
            <a:ext cx="3866856" cy="403913"/>
          </a:xfrm>
        </p:spPr>
        <p:txBody>
          <a:bodyPr/>
          <a:lstStyle/>
          <a:p>
            <a:pPr>
              <a:defRPr/>
            </a:pPr>
            <a:r>
              <a:rPr>
                <a:solidFill/>
              </a:rPr>
              <a:t>Протокол</a:t>
            </a:r>
            <a:endParaRPr lang="ru-RU">
              <a:solidFill>
                <a:srgbClr val="F92571"/>
              </a:solidFill>
            </a:endParaRPr>
          </a:p>
        </p:txBody>
      </p:sp>
      <p:sp>
        <p:nvSpPr>
          <p:cNvPr id="1522535976" name="Текст 12"/>
          <p:cNvSpPr>
            <a:spLocks noGrp="1"/>
          </p:cNvSpPr>
          <p:nvPr>
            <p:ph type="body" sz="quarter" idx="48"/>
          </p:nvPr>
        </p:nvSpPr>
        <p:spPr bwMode="auto">
          <a:xfrm>
            <a:off x="7269712" y="5164612"/>
            <a:ext cx="3866856" cy="672075"/>
          </a:xfrm>
        </p:spPr>
        <p:txBody>
          <a:bodyPr/>
          <a:lstStyle/>
          <a:p>
            <a:pPr>
              <a:defRPr/>
            </a:pPr>
            <a:r>
              <a:rPr>
                <a:solidFill/>
              </a:rPr>
              <a:t>4 формата, финализация, РиН (mock) → PENDING_SYNC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1620297821" name="Заголовок 13"/>
          <p:cNvSpPr>
            <a:spLocks noGrp="1"/>
          </p:cNvSpPr>
          <p:nvPr>
            <p:ph type="title"/>
          </p:nvPr>
        </p:nvSpPr>
        <p:spPr bwMode="auto">
          <a:xfrm>
            <a:off x="525817" y="421226"/>
            <a:ext cx="5861304" cy="376138"/>
          </a:xfrm>
        </p:spPr>
        <p:txBody>
          <a:bodyPr/>
          <a:lstStyle/>
          <a:p>
            <a:pPr>
              <a:defRPr/>
            </a:pPr>
            <a:r>
              <a:rPr>
                <a:solidFill/>
              </a:rPr>
              <a:t>СЦЕНАРИЙ ЖИВОГО ДЕМО</a:t>
            </a:r>
            <a:endParaRPr lang="ru-RU"/>
          </a:p>
        </p:txBody>
      </p:sp>
      <p:sp>
        <p:nvSpPr>
          <p:cNvPr id="1057968063" name="Текст 14"/>
          <p:cNvSpPr>
            <a:spLocks noGrp="1"/>
          </p:cNvSpPr>
          <p:nvPr>
            <p:ph type="body" sz="quarter" idx="49"/>
          </p:nvPr>
        </p:nvSpPr>
        <p:spPr bwMode="auto">
          <a:xfrm>
            <a:off x="520913" y="1394052"/>
            <a:ext cx="771003" cy="423628"/>
          </a:xfrm>
        </p:spPr>
        <p:txBody>
          <a:bodyPr/>
          <a:lstStyle/>
          <a:p>
            <a:pPr>
              <a:defRPr/>
            </a:pPr>
            <a:r>
              <a:rPr>
                <a:solidFill/>
              </a:rPr>
              <a:t>1</a:t>
            </a:r>
            <a:endParaRPr lang="ru-RU" b="1">
              <a:solidFill>
                <a:schemeClr val="accent5"/>
              </a:solidFill>
            </a:endParaRPr>
          </a:p>
        </p:txBody>
      </p:sp>
      <p:sp>
        <p:nvSpPr>
          <p:cNvPr id="1746298688" name="Текст 15"/>
          <p:cNvSpPr>
            <a:spLocks noGrp="1"/>
          </p:cNvSpPr>
          <p:nvPr>
            <p:ph type="body" sz="quarter" idx="50"/>
          </p:nvPr>
        </p:nvSpPr>
        <p:spPr bwMode="auto">
          <a:xfrm>
            <a:off x="501557" y="2998036"/>
            <a:ext cx="771003" cy="403756"/>
          </a:xfrm>
        </p:spPr>
        <p:txBody>
          <a:bodyPr/>
          <a:lstStyle/>
          <a:p>
            <a:pPr>
              <a:defRPr/>
            </a:pPr>
            <a:r>
              <a:rPr>
                <a:solidFill/>
              </a:rPr>
              <a:t>2</a:t>
            </a:r>
            <a:endParaRPr lang="ru-RU" b="1">
              <a:solidFill>
                <a:schemeClr val="accent5"/>
              </a:solidFill>
            </a:endParaRPr>
          </a:p>
        </p:txBody>
      </p:sp>
      <p:sp>
        <p:nvSpPr>
          <p:cNvPr id="831414996" name="Текст 16"/>
          <p:cNvSpPr>
            <a:spLocks noGrp="1"/>
          </p:cNvSpPr>
          <p:nvPr>
            <p:ph type="body" sz="quarter" idx="51"/>
          </p:nvPr>
        </p:nvSpPr>
        <p:spPr bwMode="auto">
          <a:xfrm>
            <a:off x="501557" y="4582148"/>
            <a:ext cx="771003" cy="403913"/>
          </a:xfrm>
        </p:spPr>
        <p:txBody>
          <a:bodyPr/>
          <a:lstStyle/>
          <a:p>
            <a:pPr>
              <a:defRPr/>
            </a:pPr>
            <a:r>
              <a:rPr>
                <a:solidFill/>
              </a:rPr>
              <a:t>3</a:t>
            </a:r>
            <a:endParaRPr lang="ru-RU" b="1">
              <a:solidFill>
                <a:schemeClr val="accent5"/>
              </a:solidFill>
            </a:endParaRPr>
          </a:p>
        </p:txBody>
      </p:sp>
      <p:sp>
        <p:nvSpPr>
          <p:cNvPr id="917831360" name="Текст 17"/>
          <p:cNvSpPr>
            <a:spLocks noGrp="1"/>
          </p:cNvSpPr>
          <p:nvPr>
            <p:ph type="body" sz="quarter" idx="52"/>
          </p:nvPr>
        </p:nvSpPr>
        <p:spPr bwMode="auto">
          <a:xfrm>
            <a:off x="6194020" y="1394052"/>
            <a:ext cx="771003" cy="423628"/>
          </a:xfrm>
        </p:spPr>
        <p:txBody>
          <a:bodyPr/>
          <a:lstStyle/>
          <a:p>
            <a:pPr>
              <a:defRPr/>
            </a:pPr>
            <a:r>
              <a:rPr>
                <a:solidFill/>
              </a:rPr>
              <a:t>4</a:t>
            </a:r>
            <a:endParaRPr lang="ru-RU" b="1">
              <a:solidFill>
                <a:schemeClr val="accent5"/>
              </a:solidFill>
            </a:endParaRPr>
          </a:p>
        </p:txBody>
      </p:sp>
      <p:sp>
        <p:nvSpPr>
          <p:cNvPr id="642989749" name="Текст 18"/>
          <p:cNvSpPr>
            <a:spLocks noGrp="1"/>
          </p:cNvSpPr>
          <p:nvPr>
            <p:ph type="body" sz="quarter" idx="53"/>
          </p:nvPr>
        </p:nvSpPr>
        <p:spPr bwMode="auto">
          <a:xfrm>
            <a:off x="6174664" y="2998036"/>
            <a:ext cx="771003" cy="403756"/>
          </a:xfrm>
        </p:spPr>
        <p:txBody>
          <a:bodyPr/>
          <a:lstStyle/>
          <a:p>
            <a:pPr>
              <a:defRPr/>
            </a:pPr>
            <a:r>
              <a:rPr>
                <a:solidFill/>
              </a:rPr>
              <a:t>5</a:t>
            </a:r>
            <a:endParaRPr lang="ru-RU" b="1">
              <a:solidFill>
                <a:schemeClr val="accent5"/>
              </a:solidFill>
            </a:endParaRPr>
          </a:p>
        </p:txBody>
      </p:sp>
      <p:sp>
        <p:nvSpPr>
          <p:cNvPr id="906169420" name="Текст 19"/>
          <p:cNvSpPr>
            <a:spLocks noGrp="1"/>
          </p:cNvSpPr>
          <p:nvPr>
            <p:ph type="body" sz="quarter" idx="54"/>
          </p:nvPr>
        </p:nvSpPr>
        <p:spPr bwMode="auto">
          <a:xfrm>
            <a:off x="6174664" y="4582148"/>
            <a:ext cx="771003" cy="403913"/>
          </a:xfrm>
        </p:spPr>
        <p:txBody>
          <a:bodyPr/>
          <a:lstStyle/>
          <a:p>
            <a:pPr>
              <a:defRPr/>
            </a:pPr>
            <a:r>
              <a:rPr>
                <a:solidFill/>
              </a:rPr>
              <a:t>6</a:t>
            </a:r>
            <a:endParaRPr lang="ru-RU" b="1">
              <a:solidFill>
                <a:schemeClr val="accent5"/>
              </a:solidFill>
            </a:endParaRPr>
          </a:p>
        </p:txBody>
      </p:sp>
      <p:sp>
        <p:nvSpPr>
          <p:cNvPr id="1915709517" name="TextBox 1915709516"/>
          <p:cNvSpPr txBox="1"/>
          <p:nvPr/>
        </p:nvSpPr>
        <p:spPr>
          <a:xfrm>
            <a:off x="521207" y="6419088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1">
                <a:solidFill>
                  <a:srgbClr val="FFD6E4"/>
                </a:solidFill>
                <a:latin typeface="Montserrat"/>
              </a:rPr>
              <a:t>Стенд поднимается одной командой docker compose, интерфейс на :3000.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2862613" name="Скругленный прямоугольник 1"/>
          <p:cNvSpPr/>
          <p:nvPr/>
        </p:nvSpPr>
        <p:spPr bwMode="auto">
          <a:xfrm>
            <a:off x="346075" y="324562"/>
            <a:ext cx="5797296" cy="620919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982014152" name="Скругленный прямоугольник 16"/>
          <p:cNvSpPr/>
          <p:nvPr/>
        </p:nvSpPr>
        <p:spPr bwMode="auto">
          <a:xfrm>
            <a:off x="5951744" y="1366423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91388613" name="Скругленный прямоугольник 17"/>
          <p:cNvSpPr/>
          <p:nvPr/>
        </p:nvSpPr>
        <p:spPr bwMode="auto">
          <a:xfrm>
            <a:off x="5951744" y="2377094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633510201" name="Скругленный прямоугольник 18"/>
          <p:cNvSpPr/>
          <p:nvPr/>
        </p:nvSpPr>
        <p:spPr bwMode="auto">
          <a:xfrm>
            <a:off x="5951744" y="3387765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12421930" name="Скругленный прямоугольник 22"/>
          <p:cNvSpPr/>
          <p:nvPr/>
        </p:nvSpPr>
        <p:spPr bwMode="auto">
          <a:xfrm>
            <a:off x="5951744" y="4398436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666391307" name="Скругленный прямоугольник 23"/>
          <p:cNvSpPr/>
          <p:nvPr/>
        </p:nvSpPr>
        <p:spPr bwMode="auto">
          <a:xfrm>
            <a:off x="5951744" y="5409107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1871517961" name="Скругленный прямоугольник 14"/>
          <p:cNvSpPr/>
          <p:nvPr/>
        </p:nvSpPr>
        <p:spPr bwMode="auto">
          <a:xfrm>
            <a:off x="346076" y="1366423"/>
            <a:ext cx="5389562" cy="4834351"/>
          </a:xfrm>
          <a:prstGeom prst="roundRect">
            <a:avLst>
              <a:gd name="adj" fmla="val 291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2068307345" name="Текст 3"/>
          <p:cNvSpPr>
            <a:spLocks noGrp="1"/>
          </p:cNvSpPr>
          <p:nvPr>
            <p:ph type="body" sz="quarter" idx="14"/>
          </p:nvPr>
        </p:nvSpPr>
        <p:spPr bwMode="auto">
          <a:xfrm>
            <a:off x="623887" y="1732103"/>
            <a:ext cx="4734174" cy="4139307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lstStyle/>
          <a:p>
            <a:pPr algn="l">
              <a:defRPr/>
            </a:pPr>
            <a:r>
              <a:rPr b="1" sz="1800">
                <a:solidFill>
                  <a:srgbClr val="2D1451"/>
                </a:solidFill>
              </a:rPr>
              <a:t>Одно окно инспектора</a:t>
            </a:r>
            <a:endParaRPr lang="ru-RU" sz="3600" b="1">
              <a:solidFill>
                <a:schemeClr val="tx1"/>
              </a:solidFill>
            </a:endParaRPr>
          </a:p>
          <a:p>
            <a:pPr algn="l">
              <a:defRPr/>
            </a:pPr>
            <a:r>
              <a:rPr>
                <a:solidFill>
                  <a:srgbClr val="1C1D22"/>
                </a:solidFill>
              </a:rPr>
              <a:t/>
            </a:r>
            <a:endParaRPr lang="ru-RU" sz="3600" b="1">
              <a:solidFill>
                <a:schemeClr val="tx1"/>
              </a:solidFill>
            </a:endParaRPr>
          </a:p>
          <a:p>
            <a:pPr algn="l">
              <a:defRPr/>
            </a:pPr>
            <a:r>
              <a:rPr>
                <a:solidFill>
                  <a:srgbClr val="1C1D22"/>
                </a:solidFill>
              </a:rPr>
              <a:t>Очередь кандидатов → карточка с панелями ПД, РД, ИД → решение. Без переключения между PDF и поиска по папкам.</a:t>
            </a:r>
            <a:endParaRPr lang="ru-RU" sz="3600" b="1">
              <a:solidFill>
                <a:schemeClr val="tx1"/>
              </a:solidFill>
            </a:endParaRPr>
          </a:p>
          <a:p>
            <a:pPr algn="l">
              <a:defRPr/>
            </a:pPr>
            <a:r>
              <a:rPr>
                <a:solidFill>
                  <a:srgbClr val="1C1D22"/>
                </a:solidFill>
              </a:rPr>
              <a:t/>
            </a:r>
            <a:endParaRPr lang="ru-RU" sz="3600" b="1">
              <a:solidFill>
                <a:schemeClr val="tx1"/>
              </a:solidFill>
            </a:endParaRPr>
          </a:p>
          <a:p>
            <a:pPr algn="l">
              <a:defRPr/>
            </a:pPr>
            <a:r>
              <a:rPr>
                <a:solidFill>
                  <a:srgbClr val="1C1D22"/>
                </a:solidFill>
              </a:rPr>
              <a:t>CONFIRMED_VIOLATION ставит только человек.</a:t>
            </a:r>
            <a:endParaRPr lang="ru-RU" sz="3600" b="1">
              <a:solidFill>
                <a:schemeClr val="tx1"/>
              </a:solidFill>
            </a:endParaRPr>
          </a:p>
        </p:txBody>
      </p:sp>
      <p:sp>
        <p:nvSpPr>
          <p:cNvPr id="90602484" name="Текст 4"/>
          <p:cNvSpPr>
            <a:spLocks noGrp="1"/>
          </p:cNvSpPr>
          <p:nvPr>
            <p:ph type="body" sz="quarter" idx="15"/>
          </p:nvPr>
        </p:nvSpPr>
        <p:spPr bwMode="auto">
          <a:xfrm>
            <a:off x="6172730" y="1445505"/>
            <a:ext cx="5460470" cy="600112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>
              <a:defRPr/>
            </a:pPr>
            <a:r>
              <a:rPr>
                <a:solidFill>
                  <a:srgbClr val="1C1D22"/>
                </a:solidFill>
              </a:rPr>
              <a:t>≤ 3 действий: открыть, решить с причиной, сохранить (ответ 28)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2102025926" name="Текст 5"/>
          <p:cNvSpPr>
            <a:spLocks noGrp="1"/>
          </p:cNvSpPr>
          <p:nvPr>
            <p:ph type="body" sz="quarter" idx="16"/>
          </p:nvPr>
        </p:nvSpPr>
        <p:spPr bwMode="auto">
          <a:xfrm>
            <a:off x="6172730" y="2472872"/>
            <a:ext cx="5460470" cy="600112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>
              <a:defRPr/>
            </a:pPr>
            <a:r>
              <a:rPr>
                <a:solidFill>
                  <a:srgbClr val="1C1D22"/>
                </a:solidFill>
              </a:rPr>
              <a:t>Карточка: finding_id, expected/actual/delta, файл и SHA-256, лист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1984634015" name="Текст 6"/>
          <p:cNvSpPr>
            <a:spLocks noGrp="1"/>
          </p:cNvSpPr>
          <p:nvPr>
            <p:ph type="body" sz="quarter" idx="17"/>
          </p:nvPr>
        </p:nvSpPr>
        <p:spPr bwMode="auto">
          <a:xfrm>
            <a:off x="6172730" y="3485922"/>
            <a:ext cx="5460470" cy="600112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>
              <a:defRPr/>
            </a:pPr>
            <a:r>
              <a:rPr>
                <a:solidFill>
                  <a:srgbClr val="1C1D22"/>
                </a:solidFill>
              </a:rPr>
              <a:t>Полигон расхождения прямо на листе исходника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1065989968" name="Текст 7"/>
          <p:cNvSpPr>
            <a:spLocks noGrp="1"/>
          </p:cNvSpPr>
          <p:nvPr>
            <p:ph type="body" sz="quarter" idx="18"/>
          </p:nvPr>
        </p:nvSpPr>
        <p:spPr bwMode="auto">
          <a:xfrm>
            <a:off x="6172730" y="4496593"/>
            <a:ext cx="5460470" cy="600112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>
              <a:defRPr/>
            </a:pPr>
            <a:r>
              <a:rPr>
                <a:solidFill>
                  <a:srgbClr val="1C1D22"/>
                </a:solidFill>
              </a:rPr>
              <a:t>MISSING_EVIDENCE: не нарушение, а запрос документа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1908450424" name="Текст 8"/>
          <p:cNvSpPr>
            <a:spLocks noGrp="1"/>
          </p:cNvSpPr>
          <p:nvPr>
            <p:ph type="body" sz="quarter" idx="19"/>
          </p:nvPr>
        </p:nvSpPr>
        <p:spPr bwMode="auto">
          <a:xfrm>
            <a:off x="6172730" y="5516924"/>
            <a:ext cx="5460470" cy="600112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>
              <a:defRPr/>
            </a:pPr>
            <a:r>
              <a:rPr>
                <a:solidFill>
                  <a:srgbClr val="1C1D22"/>
                </a:solidFill>
              </a:rPr>
              <a:t>Пачка только для отмеченных CANDIDATE; 30 мин — цель гейта K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1065763849" name="Номер слайда 9"/>
          <p:cNvSpPr>
            <a:spLocks noGrp="1"/>
          </p:cNvSpPr>
          <p:nvPr>
            <p:ph type="sldNum" sz="quarter" idx="4294967295"/>
          </p:nvPr>
        </p:nvSpPr>
        <p:spPr bwMode="auto">
          <a:xfrm>
            <a:off x="11633200" y="6356350"/>
            <a:ext cx="558800" cy="365125"/>
          </a:xfrm>
        </p:spPr>
        <p:txBody>
          <a:bodyPr/>
          <a:lstStyle/>
          <a:p>
            <a:pPr>
              <a:defRPr/>
            </a:pPr>
            <a:r>
              <a:rPr>
                <a:solidFill/>
              </a:rPr>
              <a:t>11</a:t>
            </a:r>
            <a:endParaRPr lang="ru-RU">
              <a:solidFill>
                <a:schemeClr val="accent5"/>
              </a:solidFill>
            </a:endParaRPr>
          </a:p>
        </p:txBody>
      </p:sp>
      <p:sp>
        <p:nvSpPr>
          <p:cNvPr id="1290914196" name="Заголовок 13"/>
          <p:cNvSpPr>
            <a:spLocks noGrp="1"/>
          </p:cNvSpPr>
          <p:nvPr>
            <p:ph type="title"/>
          </p:nvPr>
        </p:nvSpPr>
        <p:spPr bwMode="auto">
          <a:xfrm>
            <a:off x="525817" y="421226"/>
            <a:ext cx="5431536" cy="376138"/>
          </a:xfrm>
        </p:spPr>
        <p:txBody>
          <a:bodyPr/>
          <a:lstStyle/>
          <a:p>
            <a:pPr>
              <a:defRPr/>
            </a:pPr>
            <a:r>
              <a:rPr>
                <a:solidFill/>
              </a:rPr>
              <a:t>РАБОЧЕЕ МЕСТО ИНСПЕКТОРА</a:t>
            </a:r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3808184" name="Скругленный прямоугольник 9"/>
          <p:cNvSpPr/>
          <p:nvPr/>
        </p:nvSpPr>
        <p:spPr bwMode="auto">
          <a:xfrm>
            <a:off x="346075" y="324562"/>
            <a:ext cx="5152644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65711260" name="Скругленный прямоугольник 22"/>
          <p:cNvSpPr/>
          <p:nvPr/>
        </p:nvSpPr>
        <p:spPr bwMode="auto">
          <a:xfrm>
            <a:off x="3288425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388215570" name="Скругленный прямоугольник 23"/>
          <p:cNvSpPr/>
          <p:nvPr/>
        </p:nvSpPr>
        <p:spPr bwMode="auto">
          <a:xfrm>
            <a:off x="6230774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064311504" name="Скругленный прямоугольник 24"/>
          <p:cNvSpPr/>
          <p:nvPr/>
        </p:nvSpPr>
        <p:spPr bwMode="auto">
          <a:xfrm>
            <a:off x="9173123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181444935" name="Скругленный прямоугольник 26"/>
          <p:cNvSpPr/>
          <p:nvPr/>
        </p:nvSpPr>
        <p:spPr bwMode="auto">
          <a:xfrm>
            <a:off x="346076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151328620" name="Номер слайда 20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r>
              <a:rPr>
                <a:solidFill/>
              </a:rPr>
              <a:t>12</a:t>
            </a:r>
            <a:endParaRPr lang="ru-RU">
              <a:solidFill>
                <a:schemeClr val="bg1"/>
              </a:solidFill>
            </a:endParaRPr>
          </a:p>
        </p:txBody>
      </p:sp>
      <p:sp>
        <p:nvSpPr>
          <p:cNvPr id="728356974" name="Текст 1"/>
          <p:cNvSpPr>
            <a:spLocks noGrp="1"/>
          </p:cNvSpPr>
          <p:nvPr>
            <p:ph type="body" sz="quarter" idx="37"/>
          </p:nvPr>
        </p:nvSpPr>
        <p:spPr bwMode="auto">
          <a:xfrm>
            <a:off x="520913" y="2339783"/>
            <a:ext cx="2284071" cy="423628"/>
          </a:xfrm>
        </p:spPr>
        <p:txBody>
          <a:bodyPr/>
          <a:lstStyle/>
          <a:p>
            <a:pPr>
              <a:defRPr/>
            </a:pPr>
            <a:r>
              <a:rPr b="1">
                <a:solidFill>
                  <a:srgbClr val="1C1D22"/>
                </a:solidFill>
              </a:rPr>
              <a:t>Актуальная редакция</a:t>
            </a:r>
            <a:endParaRPr lang="ru-RU">
              <a:solidFill>
                <a:srgbClr val="F92571"/>
              </a:solidFill>
            </a:endParaRPr>
          </a:p>
        </p:txBody>
      </p:sp>
      <p:sp>
        <p:nvSpPr>
          <p:cNvPr id="102303327" name="Текст 2"/>
          <p:cNvSpPr>
            <a:spLocks noGrp="1"/>
          </p:cNvSpPr>
          <p:nvPr>
            <p:ph type="body" sz="quarter" idx="38"/>
          </p:nvPr>
        </p:nvSpPr>
        <p:spPr bwMode="auto">
          <a:xfrm>
            <a:off x="520913" y="3128740"/>
            <a:ext cx="2284071" cy="2797928"/>
          </a:xfrm>
        </p:spPr>
        <p:txBody>
          <a:bodyPr/>
          <a:lstStyle/>
          <a:p>
            <a:pPr>
              <a:defRPr/>
            </a:pPr>
            <a:r>
              <a:rPr>
                <a:solidFill>
                  <a:srgbClr val="1C1D22"/>
                </a:solidFill>
              </a:rPr>
              <a:t>Голова цепочки по шифру; «не утв.» не эталон; две головы — уточнение (ADR-0015, 0017).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1364861697" name="Текст 3"/>
          <p:cNvSpPr>
            <a:spLocks noGrp="1"/>
          </p:cNvSpPr>
          <p:nvPr>
            <p:ph type="body" sz="quarter" idx="39"/>
          </p:nvPr>
        </p:nvSpPr>
        <p:spPr bwMode="auto">
          <a:xfrm>
            <a:off x="3457903" y="2373557"/>
            <a:ext cx="2337416" cy="403756"/>
          </a:xfrm>
        </p:spPr>
        <p:txBody>
          <a:bodyPr/>
          <a:lstStyle/>
          <a:p>
            <a:pPr>
              <a:defRPr/>
            </a:pPr>
            <a:r>
              <a:rPr b="1">
                <a:solidFill>
                  <a:srgbClr val="1C1D22"/>
                </a:solidFill>
              </a:rPr>
              <a:t>Извлечение с доказательством</a:t>
            </a:r>
            <a:endParaRPr lang="ru-RU">
              <a:solidFill>
                <a:srgbClr val="F92571"/>
              </a:solidFill>
            </a:endParaRPr>
          </a:p>
        </p:txBody>
      </p:sp>
      <p:sp>
        <p:nvSpPr>
          <p:cNvPr id="840682520" name="Текст 4"/>
          <p:cNvSpPr>
            <a:spLocks noGrp="1"/>
          </p:cNvSpPr>
          <p:nvPr>
            <p:ph type="body" sz="quarter" idx="40"/>
          </p:nvPr>
        </p:nvSpPr>
        <p:spPr bwMode="auto">
          <a:xfrm>
            <a:off x="3457903" y="3134070"/>
            <a:ext cx="2337416" cy="2797928"/>
          </a:xfrm>
        </p:spPr>
        <p:txBody>
          <a:bodyPr/>
          <a:lstStyle/>
          <a:p>
            <a:pPr>
              <a:defRPr/>
            </a:pPr>
            <a:r>
              <a:rPr>
                <a:solidFill>
                  <a:srgbClr val="1C1D22"/>
                </a:solidFill>
              </a:rPr>
              <a:t>Значение сохраняется только с листом, координатами и SHA-256 источника (ADR-0002).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1769023508" name="Текст 5"/>
          <p:cNvSpPr>
            <a:spLocks noGrp="1"/>
          </p:cNvSpPr>
          <p:nvPr>
            <p:ph type="body" sz="quarter" idx="41"/>
          </p:nvPr>
        </p:nvSpPr>
        <p:spPr bwMode="auto">
          <a:xfrm>
            <a:off x="6456363" y="2379657"/>
            <a:ext cx="2268537" cy="403913"/>
          </a:xfrm>
        </p:spPr>
        <p:txBody>
          <a:bodyPr/>
          <a:lstStyle/>
          <a:p>
            <a:pPr>
              <a:defRPr/>
            </a:pPr>
            <a:r>
              <a:rPr b="1">
                <a:solidFill>
                  <a:srgbClr val="1C1D22"/>
                </a:solidFill>
              </a:rPr>
              <a:t>Атомарное правило</a:t>
            </a:r>
            <a:endParaRPr lang="ru-RU">
              <a:solidFill>
                <a:srgbClr val="F92571"/>
              </a:solidFill>
            </a:endParaRPr>
          </a:p>
        </p:txBody>
      </p:sp>
      <p:sp>
        <p:nvSpPr>
          <p:cNvPr id="1911049250" name="Текст 6"/>
          <p:cNvSpPr>
            <a:spLocks noGrp="1"/>
          </p:cNvSpPr>
          <p:nvPr>
            <p:ph type="body" sz="quarter" idx="42"/>
          </p:nvPr>
        </p:nvSpPr>
        <p:spPr bwMode="auto">
          <a:xfrm>
            <a:off x="6456363" y="3136604"/>
            <a:ext cx="2268537" cy="2797928"/>
          </a:xfrm>
        </p:spPr>
        <p:txBody>
          <a:bodyPr/>
          <a:lstStyle/>
          <a:p>
            <a:pPr>
              <a:defRPr/>
            </a:pPr>
            <a:r>
              <a:rPr>
                <a:solidFill>
                  <a:srgbClr val="1C1D22"/>
                </a:solidFill>
              </a:rPr>
              <a:t>Код правила сравнивает значение с эталоном ПД. Модель вердикт не пишет (ADR-0001).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1621255393" name="Текст 7"/>
          <p:cNvSpPr>
            <a:spLocks noGrp="1"/>
          </p:cNvSpPr>
          <p:nvPr>
            <p:ph type="body" sz="quarter" idx="43"/>
          </p:nvPr>
        </p:nvSpPr>
        <p:spPr bwMode="auto">
          <a:xfrm>
            <a:off x="9407534" y="2339783"/>
            <a:ext cx="2263553" cy="423628"/>
          </a:xfrm>
        </p:spPr>
        <p:txBody>
          <a:bodyPr/>
          <a:lstStyle/>
          <a:p>
            <a:pPr>
              <a:defRPr/>
            </a:pPr>
            <a:r>
              <a:rPr b="1">
                <a:solidFill>
                  <a:srgbClr val="1C1D22"/>
                </a:solidFill>
              </a:rPr>
              <a:t>Решение инспектора</a:t>
            </a:r>
            <a:endParaRPr lang="ru-RU">
              <a:solidFill>
                <a:srgbClr val="F92571"/>
              </a:solidFill>
            </a:endParaRPr>
          </a:p>
        </p:txBody>
      </p:sp>
      <p:sp>
        <p:nvSpPr>
          <p:cNvPr id="925571275" name="Текст 8"/>
          <p:cNvSpPr>
            <a:spLocks noGrp="1"/>
          </p:cNvSpPr>
          <p:nvPr>
            <p:ph type="body" sz="quarter" idx="44"/>
          </p:nvPr>
        </p:nvSpPr>
        <p:spPr bwMode="auto">
          <a:xfrm>
            <a:off x="9407534" y="3128739"/>
            <a:ext cx="2263553" cy="2797928"/>
          </a:xfrm>
        </p:spPr>
        <p:txBody>
          <a:bodyPr/>
          <a:lstStyle/>
          <a:p>
            <a:pPr>
              <a:defRPr/>
            </a:pPr>
            <a:r>
              <a:rPr>
                <a:solidFill>
                  <a:srgbClr val="1C1D22"/>
                </a:solidFill>
              </a:rPr>
              <a:t>Ядро предлагает, инспектор подтверждает. Нарушение ставит только человек.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1261465021" name="Заголовок 13"/>
          <p:cNvSpPr>
            <a:spLocks noGrp="1"/>
          </p:cNvSpPr>
          <p:nvPr>
            <p:ph type="title"/>
          </p:nvPr>
        </p:nvSpPr>
        <p:spPr bwMode="auto">
          <a:xfrm>
            <a:off x="525817" y="421226"/>
            <a:ext cx="4786884" cy="376138"/>
          </a:xfrm>
        </p:spPr>
        <p:txBody>
          <a:bodyPr/>
          <a:lstStyle/>
          <a:p>
            <a:pPr>
              <a:defRPr/>
            </a:pPr>
            <a:r>
              <a:rPr>
                <a:solidFill/>
              </a:rPr>
              <a:t>ДОКАЗАТЕЛЬНАЯ ЦЕПОЧКА</a:t>
            </a:r>
            <a:endParaRPr lang="ru-RU"/>
          </a:p>
        </p:txBody>
      </p:sp>
      <p:sp>
        <p:nvSpPr>
          <p:cNvPr id="553633505" name="Текст 14"/>
          <p:cNvSpPr>
            <a:spLocks noGrp="1"/>
          </p:cNvSpPr>
          <p:nvPr>
            <p:ph type="body" sz="quarter" idx="49"/>
          </p:nvPr>
        </p:nvSpPr>
        <p:spPr bwMode="auto">
          <a:xfrm>
            <a:off x="520913" y="1772415"/>
            <a:ext cx="771003" cy="423628"/>
          </a:xfrm>
        </p:spPr>
        <p:txBody>
          <a:bodyPr/>
          <a:lstStyle/>
          <a:p>
            <a:pPr>
              <a:defRPr/>
            </a:pPr>
            <a:r>
              <a:rPr b="1">
                <a:solidFill>
                  <a:srgbClr val="FF0053"/>
                </a:solidFill>
              </a:rPr>
              <a:t>1</a:t>
            </a:r>
            <a:endParaRPr lang="ru-RU" b="1">
              <a:solidFill>
                <a:schemeClr val="accent5"/>
              </a:solidFill>
            </a:endParaRPr>
          </a:p>
        </p:txBody>
      </p:sp>
      <p:sp>
        <p:nvSpPr>
          <p:cNvPr id="709633004" name="Текст 15"/>
          <p:cNvSpPr>
            <a:spLocks noGrp="1"/>
          </p:cNvSpPr>
          <p:nvPr>
            <p:ph type="body" sz="quarter" idx="50"/>
          </p:nvPr>
        </p:nvSpPr>
        <p:spPr bwMode="auto">
          <a:xfrm>
            <a:off x="3449944" y="1766200"/>
            <a:ext cx="771003" cy="403756"/>
          </a:xfrm>
        </p:spPr>
        <p:txBody>
          <a:bodyPr/>
          <a:lstStyle/>
          <a:p>
            <a:pPr>
              <a:defRPr/>
            </a:pPr>
            <a:r>
              <a:rPr b="1">
                <a:solidFill>
                  <a:srgbClr val="FF0053"/>
                </a:solidFill>
              </a:rPr>
              <a:t>2</a:t>
            </a:r>
            <a:endParaRPr lang="ru-RU" b="1">
              <a:solidFill>
                <a:schemeClr val="accent5"/>
              </a:solidFill>
            </a:endParaRPr>
          </a:p>
        </p:txBody>
      </p:sp>
      <p:sp>
        <p:nvSpPr>
          <p:cNvPr id="1732712452" name="Текст 16"/>
          <p:cNvSpPr>
            <a:spLocks noGrp="1"/>
          </p:cNvSpPr>
          <p:nvPr>
            <p:ph type="body" sz="quarter" idx="51"/>
          </p:nvPr>
        </p:nvSpPr>
        <p:spPr bwMode="auto">
          <a:xfrm>
            <a:off x="6456363" y="1766043"/>
            <a:ext cx="771003" cy="403913"/>
          </a:xfrm>
        </p:spPr>
        <p:txBody>
          <a:bodyPr/>
          <a:lstStyle/>
          <a:p>
            <a:pPr>
              <a:defRPr/>
            </a:pPr>
            <a:r>
              <a:rPr b="1">
                <a:solidFill>
                  <a:srgbClr val="FF0053"/>
                </a:solidFill>
              </a:rPr>
              <a:t>3</a:t>
            </a:r>
            <a:endParaRPr lang="ru-RU" b="1">
              <a:solidFill>
                <a:schemeClr val="accent5"/>
              </a:solidFill>
            </a:endParaRPr>
          </a:p>
        </p:txBody>
      </p:sp>
      <p:sp>
        <p:nvSpPr>
          <p:cNvPr id="1635597112" name="Текст 17"/>
          <p:cNvSpPr>
            <a:spLocks noGrp="1"/>
          </p:cNvSpPr>
          <p:nvPr>
            <p:ph type="body" sz="quarter" idx="52"/>
          </p:nvPr>
        </p:nvSpPr>
        <p:spPr bwMode="auto">
          <a:xfrm>
            <a:off x="9407534" y="1772415"/>
            <a:ext cx="771003" cy="423628"/>
          </a:xfrm>
        </p:spPr>
        <p:txBody>
          <a:bodyPr/>
          <a:lstStyle/>
          <a:p>
            <a:pPr>
              <a:defRPr/>
            </a:pPr>
            <a:r>
              <a:rPr b="1">
                <a:solidFill>
                  <a:srgbClr val="FF0053"/>
                </a:solidFill>
              </a:rPr>
              <a:t>4</a:t>
            </a:r>
            <a:endParaRPr lang="ru-RU" b="1">
              <a:solidFill>
                <a:schemeClr val="accent5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0471956" name="Скругленный прямоугольник 11"/>
          <p:cNvSpPr/>
          <p:nvPr/>
        </p:nvSpPr>
        <p:spPr bwMode="auto">
          <a:xfrm>
            <a:off x="346075" y="324562"/>
            <a:ext cx="4722876" cy="620919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970980009" name="Номер слайда 12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r>
              <a:rPr>
                <a:solidFill/>
              </a:rPr>
              <a:t>13</a:t>
            </a:r>
            <a:endParaRPr lang="ru-RU">
              <a:solidFill>
                <a:schemeClr val="accent5"/>
              </a:solidFill>
            </a:endParaRPr>
          </a:p>
        </p:txBody>
      </p:sp>
      <p:sp>
        <p:nvSpPr>
          <p:cNvPr id="1845791128" name="Текст 1"/>
          <p:cNvSpPr>
            <a:spLocks noGrp="1"/>
          </p:cNvSpPr>
          <p:nvPr>
            <p:ph type="body" sz="quarter" idx="26"/>
          </p:nvPr>
        </p:nvSpPr>
        <p:spPr bwMode="auto">
          <a:xfrm>
            <a:off x="346075" y="1458075"/>
            <a:ext cx="2526079" cy="1476687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>
              <a:defRPr/>
            </a:pPr>
            <a:r>
              <a:rPr b="1">
                <a:solidFill>
                  <a:srgbClr val="1C1D22"/>
                </a:solidFill>
              </a:rPr>
              <a:t>Вход и паспорт</a:t>
            </a:r>
            <a:endParaRPr lang="ru-RU" b="0">
              <a:solidFill>
                <a:schemeClr val="accent5"/>
              </a:solidFill>
            </a:endParaRPr>
          </a:p>
        </p:txBody>
      </p:sp>
      <p:sp>
        <p:nvSpPr>
          <p:cNvPr id="175425605" name="Текст 2"/>
          <p:cNvSpPr>
            <a:spLocks noGrp="1"/>
          </p:cNvSpPr>
          <p:nvPr>
            <p:ph type="body" sz="quarter" idx="27"/>
          </p:nvPr>
        </p:nvSpPr>
        <p:spPr bwMode="auto">
          <a:xfrm>
            <a:off x="346075" y="1814077"/>
            <a:ext cx="2526079" cy="1120685"/>
          </a:xfrm>
        </p:spPr>
        <p:txBody>
          <a:bodyPr/>
          <a:lstStyle/>
          <a:p>
            <a:pPr>
              <a:defRPr/>
            </a:pPr>
            <a:r>
              <a:rPr>
                <a:solidFill>
                  <a:srgbClr val="1C1D22"/>
                </a:solidFill>
              </a:rPr>
              <a:t>PDF, DOCX, XML; архив и DWG: явный статус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567808411" name="Текст 3"/>
          <p:cNvSpPr>
            <a:spLocks noGrp="1"/>
          </p:cNvSpPr>
          <p:nvPr>
            <p:ph type="body" sz="quarter" idx="28"/>
          </p:nvPr>
        </p:nvSpPr>
        <p:spPr bwMode="auto">
          <a:xfrm>
            <a:off x="4832960" y="1458075"/>
            <a:ext cx="2526079" cy="1476687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>
              <a:defRPr/>
            </a:pPr>
            <a:r>
              <a:rPr b="1">
                <a:solidFill>
                  <a:srgbClr val="1C1D22"/>
                </a:solidFill>
              </a:rPr>
              <a:t>Извлечение</a:t>
            </a:r>
            <a:endParaRPr lang="ru-RU" b="0">
              <a:solidFill>
                <a:schemeClr val="accent5"/>
              </a:solidFill>
            </a:endParaRPr>
          </a:p>
        </p:txBody>
      </p:sp>
      <p:sp>
        <p:nvSpPr>
          <p:cNvPr id="1063055699" name="Текст 4"/>
          <p:cNvSpPr>
            <a:spLocks noGrp="1"/>
          </p:cNvSpPr>
          <p:nvPr>
            <p:ph type="body" sz="quarter" idx="29"/>
          </p:nvPr>
        </p:nvSpPr>
        <p:spPr bwMode="auto">
          <a:xfrm>
            <a:off x="4832960" y="1814077"/>
            <a:ext cx="2526079" cy="1120685"/>
          </a:xfrm>
        </p:spPr>
        <p:txBody>
          <a:bodyPr/>
          <a:lstStyle/>
          <a:p>
            <a:pPr>
              <a:defRPr/>
            </a:pPr>
            <a:r>
              <a:rPr>
                <a:solidFill>
                  <a:srgbClr val="1C1D22"/>
                </a:solidFill>
              </a:rPr>
              <a:t>Вектор + OCR в 2 чтения; лист, полигон, SHA-256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1501354303" name="Текст 5"/>
          <p:cNvSpPr>
            <a:spLocks noGrp="1"/>
          </p:cNvSpPr>
          <p:nvPr>
            <p:ph type="body" sz="quarter" idx="30"/>
          </p:nvPr>
        </p:nvSpPr>
        <p:spPr bwMode="auto">
          <a:xfrm>
            <a:off x="9330862" y="1458075"/>
            <a:ext cx="2526079" cy="1476687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>
              <a:defRPr/>
            </a:pPr>
            <a:r>
              <a:rPr b="1">
                <a:solidFill>
                  <a:srgbClr val="1C1D22"/>
                </a:solidFill>
              </a:rPr>
              <a:t>Протокол</a:t>
            </a:r>
            <a:endParaRPr lang="ru-RU" b="0">
              <a:solidFill>
                <a:schemeClr val="accent5"/>
              </a:solidFill>
            </a:endParaRPr>
          </a:p>
        </p:txBody>
      </p:sp>
      <p:sp>
        <p:nvSpPr>
          <p:cNvPr id="1321846474" name="Текст 6"/>
          <p:cNvSpPr>
            <a:spLocks noGrp="1"/>
          </p:cNvSpPr>
          <p:nvPr>
            <p:ph type="body" sz="quarter" idx="31"/>
          </p:nvPr>
        </p:nvSpPr>
        <p:spPr bwMode="auto">
          <a:xfrm>
            <a:off x="9330862" y="1814077"/>
            <a:ext cx="2526079" cy="1120685"/>
          </a:xfrm>
        </p:spPr>
        <p:txBody>
          <a:bodyPr/>
          <a:lstStyle/>
          <a:p>
            <a:pPr>
              <a:defRPr/>
            </a:pPr>
            <a:r>
              <a:rPr>
                <a:solidFill>
                  <a:srgbClr val="1C1D22"/>
                </a:solidFill>
              </a:rPr>
              <a:t>Решает инспектор; протокол в 4 форматах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21704065" name="Текст 7"/>
          <p:cNvSpPr>
            <a:spLocks noGrp="1"/>
          </p:cNvSpPr>
          <p:nvPr>
            <p:ph type="body" sz="quarter" idx="32"/>
          </p:nvPr>
        </p:nvSpPr>
        <p:spPr bwMode="auto">
          <a:xfrm>
            <a:off x="2593517" y="4825338"/>
            <a:ext cx="2526079" cy="1476687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>
              <a:defRPr/>
            </a:pPr>
            <a:r>
              <a:rPr b="1">
                <a:solidFill>
                  <a:srgbClr val="1C1D22"/>
                </a:solidFill>
              </a:rPr>
              <a:t>Связка и эталон</a:t>
            </a:r>
            <a:endParaRPr lang="ru-RU" b="0">
              <a:solidFill>
                <a:schemeClr val="accent5"/>
              </a:solidFill>
            </a:endParaRPr>
          </a:p>
        </p:txBody>
      </p:sp>
      <p:sp>
        <p:nvSpPr>
          <p:cNvPr id="852980671" name="Текст 8"/>
          <p:cNvSpPr>
            <a:spLocks noGrp="1"/>
          </p:cNvSpPr>
          <p:nvPr>
            <p:ph type="body" sz="quarter" idx="33"/>
          </p:nvPr>
        </p:nvSpPr>
        <p:spPr bwMode="auto">
          <a:xfrm>
            <a:off x="2593517" y="5181340"/>
            <a:ext cx="2526079" cy="1120685"/>
          </a:xfrm>
        </p:spPr>
        <p:txBody>
          <a:bodyPr/>
          <a:lstStyle/>
          <a:p>
            <a:pPr>
              <a:defRPr/>
            </a:pPr>
            <a:r>
              <a:rPr>
                <a:solidFill>
                  <a:srgbClr val="1C1D22"/>
                </a:solidFill>
              </a:rPr>
              <a:t>Голова редакции по шифру; ПД — эталон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58284361" name="Текст 9"/>
          <p:cNvSpPr>
            <a:spLocks noGrp="1"/>
          </p:cNvSpPr>
          <p:nvPr>
            <p:ph type="body" sz="quarter" idx="34"/>
          </p:nvPr>
        </p:nvSpPr>
        <p:spPr bwMode="auto">
          <a:xfrm>
            <a:off x="7080402" y="4825338"/>
            <a:ext cx="2526079" cy="1476687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>
              <a:defRPr/>
            </a:pPr>
            <a:r>
              <a:rPr b="1">
                <a:solidFill>
                  <a:srgbClr val="1C1D22"/>
                </a:solidFill>
              </a:rPr>
              <a:t>Компаратор</a:t>
            </a:r>
            <a:endParaRPr lang="ru-RU" b="0">
              <a:solidFill>
                <a:schemeClr val="accent5"/>
              </a:solidFill>
            </a:endParaRPr>
          </a:p>
        </p:txBody>
      </p:sp>
      <p:sp>
        <p:nvSpPr>
          <p:cNvPr id="1837104852" name="Текст 10"/>
          <p:cNvSpPr>
            <a:spLocks noGrp="1"/>
          </p:cNvSpPr>
          <p:nvPr>
            <p:ph type="body" sz="quarter" idx="35"/>
          </p:nvPr>
        </p:nvSpPr>
        <p:spPr bwMode="auto">
          <a:xfrm>
            <a:off x="7080402" y="5181340"/>
            <a:ext cx="2526079" cy="1120685"/>
          </a:xfrm>
        </p:spPr>
        <p:txBody>
          <a:bodyPr/>
          <a:lstStyle/>
          <a:p>
            <a:pPr>
              <a:defRPr/>
            </a:pPr>
            <a:r>
              <a:rPr>
                <a:solidFill>
                  <a:srgbClr val="1C1D22"/>
                </a:solidFill>
              </a:rPr>
              <a:t>12 операторов; нет экстрактора ≠ нарушение</a:t>
            </a:r>
            <a:endParaRPr lang="ru-RU">
              <a:solidFill>
                <a:schemeClr val="tx1"/>
              </a:solidFill>
            </a:endParaRPr>
          </a:p>
        </p:txBody>
      </p:sp>
      <p:cxnSp>
        <p:nvCxnSpPr>
          <p:cNvPr id="1731368653" name="Прямая соединительная линия 33"/>
          <p:cNvCxnSpPr/>
          <p:nvPr/>
        </p:nvCxnSpPr>
        <p:spPr bwMode="auto">
          <a:xfrm>
            <a:off x="2065940" y="3860224"/>
            <a:ext cx="1332546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4670215" name="Прямая соединительная линия 34"/>
          <p:cNvCxnSpPr/>
          <p:nvPr/>
        </p:nvCxnSpPr>
        <p:spPr bwMode="auto">
          <a:xfrm>
            <a:off x="4312137" y="3862139"/>
            <a:ext cx="1332546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144373" name="Прямая соединительная линия 35"/>
          <p:cNvCxnSpPr/>
          <p:nvPr/>
        </p:nvCxnSpPr>
        <p:spPr bwMode="auto">
          <a:xfrm>
            <a:off x="6558334" y="3862139"/>
            <a:ext cx="1332546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4664500" name="Прямая соединительная линия 36"/>
          <p:cNvCxnSpPr/>
          <p:nvPr/>
        </p:nvCxnSpPr>
        <p:spPr bwMode="auto">
          <a:xfrm>
            <a:off x="8780467" y="3862139"/>
            <a:ext cx="1332545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5829465" name="Прямая соединительная линия 37"/>
          <p:cNvCxnSpPr/>
          <p:nvPr/>
        </p:nvCxnSpPr>
        <p:spPr bwMode="auto">
          <a:xfrm>
            <a:off x="1609114" y="2934762"/>
            <a:ext cx="1" cy="57328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2336023" name="Прямая соединительная линия 38"/>
          <p:cNvCxnSpPr/>
          <p:nvPr/>
        </p:nvCxnSpPr>
        <p:spPr bwMode="auto">
          <a:xfrm>
            <a:off x="3855312" y="4216228"/>
            <a:ext cx="1245" cy="575062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6998851" name="Прямая соединительная линия 39"/>
          <p:cNvCxnSpPr/>
          <p:nvPr/>
        </p:nvCxnSpPr>
        <p:spPr bwMode="auto">
          <a:xfrm>
            <a:off x="6096000" y="2934762"/>
            <a:ext cx="5509" cy="57328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7937511" name="Прямая соединительная линия 40"/>
          <p:cNvCxnSpPr/>
          <p:nvPr/>
        </p:nvCxnSpPr>
        <p:spPr bwMode="auto">
          <a:xfrm flipH="1">
            <a:off x="8343442" y="4216228"/>
            <a:ext cx="4264" cy="575062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7810320" name="Прямая соединительная линия 41"/>
          <p:cNvCxnSpPr/>
          <p:nvPr/>
        </p:nvCxnSpPr>
        <p:spPr bwMode="auto">
          <a:xfrm>
            <a:off x="10593901" y="2934762"/>
            <a:ext cx="1" cy="57328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8751272" name="Скругленный прямоугольник 42"/>
          <p:cNvSpPr/>
          <p:nvPr/>
        </p:nvSpPr>
        <p:spPr bwMode="auto">
          <a:xfrm>
            <a:off x="1191126" y="3508049"/>
            <a:ext cx="874814" cy="708179"/>
          </a:xfrm>
          <a:prstGeom prst="roundRect">
            <a:avLst>
              <a:gd name="adj" fmla="val 16667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>
              <a:defRPr/>
            </a:pPr>
            <a:r>
              <a:rPr lang="ru-RU" sz="2400" b="1">
                <a:solidFill/>
              </a:rPr>
              <a:t>1</a:t>
            </a:r>
            <a:endParaRPr/>
          </a:p>
        </p:txBody>
      </p:sp>
      <p:sp>
        <p:nvSpPr>
          <p:cNvPr id="812859897" name="Скругленный прямоугольник 43"/>
          <p:cNvSpPr/>
          <p:nvPr/>
        </p:nvSpPr>
        <p:spPr bwMode="auto">
          <a:xfrm>
            <a:off x="3412397" y="3506136"/>
            <a:ext cx="874814" cy="708179"/>
          </a:xfrm>
          <a:prstGeom prst="roundRect">
            <a:avLst>
              <a:gd name="adj" fmla="val 16667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>
              <a:defRPr/>
            </a:pPr>
            <a:r>
              <a:rPr lang="ru-RU" sz="2400" b="1">
                <a:solidFill/>
              </a:rPr>
              <a:t>2</a:t>
            </a:r>
            <a:endParaRPr/>
          </a:p>
        </p:txBody>
      </p:sp>
      <p:sp>
        <p:nvSpPr>
          <p:cNvPr id="108934526" name="Скругленный прямоугольник 44"/>
          <p:cNvSpPr/>
          <p:nvPr/>
        </p:nvSpPr>
        <p:spPr bwMode="auto">
          <a:xfrm>
            <a:off x="5658594" y="3516255"/>
            <a:ext cx="874814" cy="708179"/>
          </a:xfrm>
          <a:prstGeom prst="roundRect">
            <a:avLst>
              <a:gd name="adj" fmla="val 16667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>
              <a:defRPr/>
            </a:pPr>
            <a:r>
              <a:rPr lang="ru-RU" sz="2400" b="1">
                <a:solidFill/>
              </a:rPr>
              <a:t>3</a:t>
            </a:r>
            <a:endParaRPr/>
          </a:p>
        </p:txBody>
      </p:sp>
      <p:sp>
        <p:nvSpPr>
          <p:cNvPr id="1741896490" name="Скругленный прямоугольник 52"/>
          <p:cNvSpPr/>
          <p:nvPr/>
        </p:nvSpPr>
        <p:spPr bwMode="auto">
          <a:xfrm>
            <a:off x="7889752" y="3506134"/>
            <a:ext cx="874814" cy="708179"/>
          </a:xfrm>
          <a:prstGeom prst="roundRect">
            <a:avLst>
              <a:gd name="adj" fmla="val 16667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>
              <a:defRPr/>
            </a:pPr>
            <a:r>
              <a:rPr lang="ru-RU" sz="2400" b="1">
                <a:solidFill/>
              </a:rPr>
              <a:t>4</a:t>
            </a:r>
            <a:endParaRPr/>
          </a:p>
        </p:txBody>
      </p:sp>
      <p:sp>
        <p:nvSpPr>
          <p:cNvPr id="1007682587" name="Скругленный прямоугольник 53"/>
          <p:cNvSpPr/>
          <p:nvPr/>
        </p:nvSpPr>
        <p:spPr bwMode="auto">
          <a:xfrm>
            <a:off x="10113011" y="3538625"/>
            <a:ext cx="874814" cy="708179"/>
          </a:xfrm>
          <a:prstGeom prst="roundRect">
            <a:avLst>
              <a:gd name="adj" fmla="val 16667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>
              <a:defRPr/>
            </a:pPr>
            <a:r>
              <a:rPr lang="ru-RU" sz="2400" b="1">
                <a:solidFill/>
              </a:rPr>
              <a:t>5</a:t>
            </a:r>
            <a:endParaRPr/>
          </a:p>
        </p:txBody>
      </p:sp>
      <p:sp>
        <p:nvSpPr>
          <p:cNvPr id="1475492823" name="Заголовок 13"/>
          <p:cNvSpPr>
            <a:spLocks noGrp="1"/>
          </p:cNvSpPr>
          <p:nvPr>
            <p:ph type="title"/>
          </p:nvPr>
        </p:nvSpPr>
        <p:spPr bwMode="auto">
          <a:xfrm>
            <a:off x="525817" y="421226"/>
            <a:ext cx="4357116" cy="376138"/>
          </a:xfrm>
        </p:spPr>
        <p:txBody>
          <a:bodyPr/>
          <a:lstStyle/>
          <a:p>
            <a:pPr>
              <a:defRPr/>
            </a:pPr>
            <a:r>
              <a:rPr>
                <a:solidFill/>
              </a:rPr>
              <a:t>АРХИТЕКТУРА РЕШЕНИЯ</a:t>
            </a:r>
            <a:endParaRPr lang="ru-RU"/>
          </a:p>
        </p:txBody>
      </p:sp>
      <p:sp>
        <p:nvSpPr>
          <p:cNvPr id="1473606708" name="Скругленный прямоугольник 13"/>
          <p:cNvSpPr/>
          <p:nvPr/>
        </p:nvSpPr>
        <p:spPr bwMode="auto">
          <a:xfrm>
            <a:off x="186480" y="1370651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>
              <a:defRPr/>
            </a:pPr>
            <a:endParaRPr lang="ru-RU" sz="2400" b="1"/>
          </a:p>
        </p:txBody>
      </p:sp>
      <p:sp>
        <p:nvSpPr>
          <p:cNvPr id="586179979" name="Скругленный прямоугольник 15"/>
          <p:cNvSpPr/>
          <p:nvPr/>
        </p:nvSpPr>
        <p:spPr bwMode="auto">
          <a:xfrm>
            <a:off x="4644180" y="1370651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>
              <a:defRPr/>
            </a:pPr>
            <a:endParaRPr lang="ru-RU" sz="2400" b="1"/>
          </a:p>
        </p:txBody>
      </p:sp>
      <p:sp>
        <p:nvSpPr>
          <p:cNvPr id="2105368717" name="Скругленный прямоугольник 16"/>
          <p:cNvSpPr/>
          <p:nvPr/>
        </p:nvSpPr>
        <p:spPr bwMode="auto">
          <a:xfrm>
            <a:off x="9101880" y="1370651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>
              <a:defRPr/>
            </a:pPr>
            <a:endParaRPr lang="ru-RU" sz="2400" b="1"/>
          </a:p>
        </p:txBody>
      </p:sp>
      <p:sp>
        <p:nvSpPr>
          <p:cNvPr id="1293685711" name="Скругленный прямоугольник 17"/>
          <p:cNvSpPr/>
          <p:nvPr/>
        </p:nvSpPr>
        <p:spPr bwMode="auto">
          <a:xfrm>
            <a:off x="2471878" y="4825338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>
              <a:defRPr/>
            </a:pPr>
            <a:endParaRPr lang="ru-RU" sz="2400" b="1"/>
          </a:p>
        </p:txBody>
      </p:sp>
      <p:sp>
        <p:nvSpPr>
          <p:cNvPr id="1624313899" name="Скругленный прямоугольник 18"/>
          <p:cNvSpPr/>
          <p:nvPr/>
        </p:nvSpPr>
        <p:spPr bwMode="auto">
          <a:xfrm>
            <a:off x="6948708" y="4791290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>
              <a:defRPr/>
            </a:pPr>
            <a:endParaRPr lang="ru-RU" sz="2400" b="1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1585286" name="Скругленный прямоугольник 22"/>
          <p:cNvSpPr/>
          <p:nvPr/>
        </p:nvSpPr>
        <p:spPr bwMode="auto">
          <a:xfrm>
            <a:off x="346075" y="324562"/>
            <a:ext cx="6227064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859240169" name="Номер слайда 20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r>
              <a:rPr>
                <a:solidFill/>
              </a:rPr>
              <a:t>14</a:t>
            </a:r>
            <a:endParaRPr lang="ru-RU">
              <a:solidFill>
                <a:schemeClr val="accent5"/>
              </a:solidFill>
            </a:endParaRPr>
          </a:p>
        </p:txBody>
      </p:sp>
      <p:sp>
        <p:nvSpPr>
          <p:cNvPr id="1268325229" name="Текст 1"/>
          <p:cNvSpPr>
            <a:spLocks noGrp="1"/>
          </p:cNvSpPr>
          <p:nvPr>
            <p:ph type="body" sz="quarter" idx="37"/>
          </p:nvPr>
        </p:nvSpPr>
        <p:spPr bwMode="auto">
          <a:xfrm>
            <a:off x="1615961" y="1428776"/>
            <a:ext cx="3866856" cy="423628"/>
          </a:xfrm>
        </p:spPr>
        <p:txBody>
          <a:bodyPr/>
          <a:lstStyle/>
          <a:p>
            <a:pPr>
              <a:defRPr/>
            </a:pPr>
            <a:r>
              <a:rPr>
                <a:solidFill/>
              </a:rPr>
              <a:t>Эталон заказчика</a:t>
            </a:r>
            <a:endParaRPr lang="ru-RU">
              <a:solidFill>
                <a:srgbClr val="F92571"/>
              </a:solidFill>
            </a:endParaRPr>
          </a:p>
        </p:txBody>
      </p:sp>
      <p:sp>
        <p:nvSpPr>
          <p:cNvPr id="1627499976" name="Текст 2"/>
          <p:cNvSpPr>
            <a:spLocks noGrp="1"/>
          </p:cNvSpPr>
          <p:nvPr>
            <p:ph type="body" sz="quarter" idx="38"/>
          </p:nvPr>
        </p:nvSpPr>
        <p:spPr bwMode="auto">
          <a:xfrm>
            <a:off x="1615964" y="1996388"/>
            <a:ext cx="3866856" cy="672075"/>
          </a:xfrm>
        </p:spPr>
        <p:txBody>
          <a:bodyPr/>
          <a:lstStyle/>
          <a:p>
            <a:pPr>
              <a:defRPr/>
            </a:pPr>
            <a:r>
              <a:rPr>
                <a:solidFill/>
              </a:rPr>
              <a:t>Помещение 140: вытяжка есть в ПД (с. 88), отсутствует в РД (с. 18)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1915709516" name="Текст 3"/>
          <p:cNvSpPr>
            <a:spLocks noGrp="1"/>
          </p:cNvSpPr>
          <p:nvPr>
            <p:ph type="body" sz="quarter" idx="39"/>
          </p:nvPr>
        </p:nvSpPr>
        <p:spPr bwMode="auto">
          <a:xfrm>
            <a:off x="1596604" y="3032761"/>
            <a:ext cx="3866856" cy="403756"/>
          </a:xfrm>
        </p:spPr>
        <p:txBody>
          <a:bodyPr/>
          <a:lstStyle/>
          <a:p>
            <a:pPr>
              <a:defRPr/>
            </a:pPr>
            <a:r>
              <a:rPr>
                <a:solidFill/>
              </a:rPr>
              <a:t>Что прочитано</a:t>
            </a:r>
            <a:endParaRPr lang="ru-RU">
              <a:solidFill>
                <a:srgbClr val="F92571"/>
              </a:solidFill>
            </a:endParaRPr>
          </a:p>
        </p:txBody>
      </p:sp>
      <p:sp>
        <p:nvSpPr>
          <p:cNvPr id="1449357136" name="Текст 4"/>
          <p:cNvSpPr>
            <a:spLocks noGrp="1"/>
          </p:cNvSpPr>
          <p:nvPr>
            <p:ph type="body" sz="quarter" idx="40"/>
          </p:nvPr>
        </p:nvSpPr>
        <p:spPr bwMode="auto">
          <a:xfrm>
            <a:off x="1596604" y="3580500"/>
            <a:ext cx="3866856" cy="672075"/>
          </a:xfrm>
        </p:spPr>
        <p:txBody>
          <a:bodyPr/>
          <a:lstStyle/>
          <a:p>
            <a:pPr>
              <a:defRPr/>
            </a:pPr>
            <a:r>
              <a:rPr>
                <a:solidFill/>
              </a:rPr>
              <a:t>46 томов ПД и 4 РД; шифр в штампе пуст у всех 50 файлов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1122710065" name="Текст 5"/>
          <p:cNvSpPr>
            <a:spLocks noGrp="1"/>
          </p:cNvSpPr>
          <p:nvPr>
            <p:ph type="body" sz="quarter" idx="41"/>
          </p:nvPr>
        </p:nvSpPr>
        <p:spPr bwMode="auto">
          <a:xfrm>
            <a:off x="1596604" y="4616873"/>
            <a:ext cx="3866856" cy="403913"/>
          </a:xfrm>
        </p:spPr>
        <p:txBody>
          <a:bodyPr/>
          <a:lstStyle/>
          <a:p>
            <a:pPr>
              <a:defRPr/>
            </a:pPr>
            <a:r>
              <a:rPr>
                <a:solidFill/>
              </a:rPr>
              <a:t>Где остановка</a:t>
            </a:r>
            <a:endParaRPr lang="ru-RU">
              <a:solidFill>
                <a:srgbClr val="F92571"/>
              </a:solidFill>
            </a:endParaRPr>
          </a:p>
        </p:txBody>
      </p:sp>
      <p:sp>
        <p:nvSpPr>
          <p:cNvPr id="1655102634" name="Текст 6"/>
          <p:cNvSpPr>
            <a:spLocks noGrp="1"/>
          </p:cNvSpPr>
          <p:nvPr>
            <p:ph type="body" sz="quarter" idx="42"/>
          </p:nvPr>
        </p:nvSpPr>
        <p:spPr bwMode="auto">
          <a:xfrm>
            <a:off x="1596604" y="5164612"/>
            <a:ext cx="3866856" cy="672075"/>
          </a:xfrm>
        </p:spPr>
        <p:txBody>
          <a:bodyPr/>
          <a:lstStyle/>
          <a:p>
            <a:pPr>
              <a:defRPr/>
            </a:pPr>
            <a:r>
              <a:rPr>
                <a:solidFill/>
              </a:rPr>
              <a:t>«PD: якорь или число не найдены» → COMPARISON_IMPOSSIBLE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932407529" name="Текст 7"/>
          <p:cNvSpPr>
            <a:spLocks noGrp="1"/>
          </p:cNvSpPr>
          <p:nvPr>
            <p:ph type="body" sz="quarter" idx="43"/>
          </p:nvPr>
        </p:nvSpPr>
        <p:spPr bwMode="auto">
          <a:xfrm>
            <a:off x="7289068" y="1428776"/>
            <a:ext cx="3866856" cy="423628"/>
          </a:xfrm>
        </p:spPr>
        <p:txBody>
          <a:bodyPr/>
          <a:lstStyle/>
          <a:p>
            <a:pPr>
              <a:defRPr/>
            </a:pPr>
            <a:r>
              <a:rPr>
                <a:solidFill/>
              </a:rPr>
              <a:t>Чего нет в ответе</a:t>
            </a:r>
            <a:endParaRPr lang="ru-RU">
              <a:solidFill>
                <a:srgbClr val="F92571"/>
              </a:solidFill>
            </a:endParaRPr>
          </a:p>
        </p:txBody>
      </p:sp>
      <p:sp>
        <p:nvSpPr>
          <p:cNvPr id="1267452843" name="Текст 8"/>
          <p:cNvSpPr>
            <a:spLocks noGrp="1"/>
          </p:cNvSpPr>
          <p:nvPr>
            <p:ph type="body" sz="quarter" idx="44"/>
          </p:nvPr>
        </p:nvSpPr>
        <p:spPr bwMode="auto">
          <a:xfrm>
            <a:off x="7289071" y="1996388"/>
            <a:ext cx="3866856" cy="672075"/>
          </a:xfrm>
        </p:spPr>
        <p:txBody>
          <a:bodyPr/>
          <a:lstStyle/>
          <a:p>
            <a:pPr>
              <a:defRPr/>
            </a:pPr>
            <a:r>
              <a:rPr>
                <a:solidFill/>
              </a:rPr>
              <a:t>Нет вывода «нарушений нет»: отказ с причиной; ни одной строки VIOLATION_PRESENT без разметки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1645597890" name="Текст 9"/>
          <p:cNvSpPr>
            <a:spLocks noGrp="1"/>
          </p:cNvSpPr>
          <p:nvPr>
            <p:ph type="body" sz="quarter" idx="45"/>
          </p:nvPr>
        </p:nvSpPr>
        <p:spPr bwMode="auto">
          <a:xfrm>
            <a:off x="7269712" y="3032761"/>
            <a:ext cx="3866856" cy="403756"/>
          </a:xfrm>
        </p:spPr>
        <p:txBody>
          <a:bodyPr/>
          <a:lstStyle/>
          <a:p>
            <a:pPr>
              <a:defRPr/>
            </a:pPr>
            <a:r>
              <a:rPr>
                <a:solidFill/>
              </a:rPr>
              <a:t>Счёт по gold</a:t>
            </a:r>
            <a:endParaRPr lang="ru-RU">
              <a:solidFill>
                <a:srgbClr val="F92571"/>
              </a:solidFill>
            </a:endParaRPr>
          </a:p>
        </p:txBody>
      </p:sp>
      <p:sp>
        <p:nvSpPr>
          <p:cNvPr id="156986459" name="Текст 10"/>
          <p:cNvSpPr>
            <a:spLocks noGrp="1"/>
          </p:cNvSpPr>
          <p:nvPr>
            <p:ph type="body" sz="quarter" idx="46"/>
          </p:nvPr>
        </p:nvSpPr>
        <p:spPr bwMode="auto">
          <a:xfrm>
            <a:off x="7269712" y="3580500"/>
            <a:ext cx="3866856" cy="672075"/>
          </a:xfrm>
        </p:spPr>
        <p:txBody>
          <a:bodyPr/>
          <a:lstStyle/>
          <a:p>
            <a:pPr>
              <a:defRPr/>
            </a:pPr>
            <a:r>
              <a:rPr>
                <a:solidFill/>
              </a:rPr>
              <a:t>Матрица 0/6, свободный поиск 0/4; Wilson 95% CI для recall [0; 0,39]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1223180693" name="Текст 11"/>
          <p:cNvSpPr>
            <a:spLocks noGrp="1"/>
          </p:cNvSpPr>
          <p:nvPr>
            <p:ph type="body" sz="quarter" idx="47"/>
          </p:nvPr>
        </p:nvSpPr>
        <p:spPr bwMode="auto">
          <a:xfrm>
            <a:off x="7269712" y="4616873"/>
            <a:ext cx="3866856" cy="403913"/>
          </a:xfrm>
        </p:spPr>
        <p:txBody>
          <a:bodyPr/>
          <a:lstStyle/>
          <a:p>
            <a:pPr>
              <a:defRPr/>
            </a:pPr>
            <a:r>
              <a:rPr>
                <a:solidFill/>
              </a:rPr>
              <a:t>Следующий шаг</a:t>
            </a:r>
            <a:endParaRPr lang="ru-RU">
              <a:solidFill>
                <a:srgbClr val="F92571"/>
              </a:solidFill>
            </a:endParaRPr>
          </a:p>
        </p:txBody>
      </p:sp>
      <p:sp>
        <p:nvSpPr>
          <p:cNvPr id="1522535976" name="Текст 12"/>
          <p:cNvSpPr>
            <a:spLocks noGrp="1"/>
          </p:cNvSpPr>
          <p:nvPr>
            <p:ph type="body" sz="quarter" idx="48"/>
          </p:nvPr>
        </p:nvSpPr>
        <p:spPr bwMode="auto">
          <a:xfrm>
            <a:off x="7269712" y="5164612"/>
            <a:ext cx="3866856" cy="672075"/>
          </a:xfrm>
        </p:spPr>
        <p:txBody>
          <a:bodyPr/>
          <a:lstStyle/>
          <a:p>
            <a:pPr>
              <a:defRPr/>
            </a:pPr>
            <a:r>
              <a:rPr>
                <a:solidFill/>
              </a:rPr>
              <a:t>Якорь и число IOS4 на листах ОВ; пороги по gold не подбираем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1620297821" name="Заголовок 13"/>
          <p:cNvSpPr>
            <a:spLocks noGrp="1"/>
          </p:cNvSpPr>
          <p:nvPr>
            <p:ph type="title"/>
          </p:nvPr>
        </p:nvSpPr>
        <p:spPr bwMode="auto">
          <a:xfrm>
            <a:off x="525817" y="421226"/>
            <a:ext cx="5861304" cy="376138"/>
          </a:xfrm>
        </p:spPr>
        <p:txBody>
          <a:bodyPr/>
          <a:lstStyle/>
          <a:p>
            <a:pPr>
              <a:defRPr/>
            </a:pPr>
            <a:r>
              <a:rPr>
                <a:solidFill/>
              </a:rPr>
              <a:t>РАЗБОР КЕЙСА TRAIN-0006 · IOS4-078</a:t>
            </a:r>
            <a:endParaRPr lang="ru-RU"/>
          </a:p>
        </p:txBody>
      </p:sp>
      <p:sp>
        <p:nvSpPr>
          <p:cNvPr id="1057968063" name="Текст 14"/>
          <p:cNvSpPr>
            <a:spLocks noGrp="1"/>
          </p:cNvSpPr>
          <p:nvPr>
            <p:ph type="body" sz="quarter" idx="49"/>
          </p:nvPr>
        </p:nvSpPr>
        <p:spPr bwMode="auto">
          <a:xfrm>
            <a:off x="520913" y="1394052"/>
            <a:ext cx="771003" cy="423628"/>
          </a:xfrm>
        </p:spPr>
        <p:txBody>
          <a:bodyPr/>
          <a:lstStyle/>
          <a:p>
            <a:pPr>
              <a:defRPr/>
            </a:pPr>
            <a:r>
              <a:rPr>
                <a:solidFill/>
              </a:rPr>
              <a:t>1</a:t>
            </a:r>
            <a:endParaRPr lang="ru-RU" b="1">
              <a:solidFill>
                <a:schemeClr val="accent5"/>
              </a:solidFill>
            </a:endParaRPr>
          </a:p>
        </p:txBody>
      </p:sp>
      <p:sp>
        <p:nvSpPr>
          <p:cNvPr id="1746298688" name="Текст 15"/>
          <p:cNvSpPr>
            <a:spLocks noGrp="1"/>
          </p:cNvSpPr>
          <p:nvPr>
            <p:ph type="body" sz="quarter" idx="50"/>
          </p:nvPr>
        </p:nvSpPr>
        <p:spPr bwMode="auto">
          <a:xfrm>
            <a:off x="501557" y="2998036"/>
            <a:ext cx="771003" cy="403756"/>
          </a:xfrm>
        </p:spPr>
        <p:txBody>
          <a:bodyPr/>
          <a:lstStyle/>
          <a:p>
            <a:pPr>
              <a:defRPr/>
            </a:pPr>
            <a:r>
              <a:rPr>
                <a:solidFill/>
              </a:rPr>
              <a:t>2</a:t>
            </a:r>
            <a:endParaRPr lang="ru-RU" b="1">
              <a:solidFill>
                <a:schemeClr val="accent5"/>
              </a:solidFill>
            </a:endParaRPr>
          </a:p>
        </p:txBody>
      </p:sp>
      <p:sp>
        <p:nvSpPr>
          <p:cNvPr id="831414996" name="Текст 16"/>
          <p:cNvSpPr>
            <a:spLocks noGrp="1"/>
          </p:cNvSpPr>
          <p:nvPr>
            <p:ph type="body" sz="quarter" idx="51"/>
          </p:nvPr>
        </p:nvSpPr>
        <p:spPr bwMode="auto">
          <a:xfrm>
            <a:off x="501557" y="4582148"/>
            <a:ext cx="771003" cy="403913"/>
          </a:xfrm>
        </p:spPr>
        <p:txBody>
          <a:bodyPr/>
          <a:lstStyle/>
          <a:p>
            <a:pPr>
              <a:defRPr/>
            </a:pPr>
            <a:r>
              <a:rPr>
                <a:solidFill/>
              </a:rPr>
              <a:t>3</a:t>
            </a:r>
            <a:endParaRPr lang="ru-RU" b="1">
              <a:solidFill>
                <a:schemeClr val="accent5"/>
              </a:solidFill>
            </a:endParaRPr>
          </a:p>
        </p:txBody>
      </p:sp>
      <p:sp>
        <p:nvSpPr>
          <p:cNvPr id="917831360" name="Текст 17"/>
          <p:cNvSpPr>
            <a:spLocks noGrp="1"/>
          </p:cNvSpPr>
          <p:nvPr>
            <p:ph type="body" sz="quarter" idx="52"/>
          </p:nvPr>
        </p:nvSpPr>
        <p:spPr bwMode="auto">
          <a:xfrm>
            <a:off x="6194020" y="1394052"/>
            <a:ext cx="771003" cy="423628"/>
          </a:xfrm>
        </p:spPr>
        <p:txBody>
          <a:bodyPr/>
          <a:lstStyle/>
          <a:p>
            <a:pPr>
              <a:defRPr/>
            </a:pPr>
            <a:r>
              <a:rPr>
                <a:solidFill/>
              </a:rPr>
              <a:t>4</a:t>
            </a:r>
            <a:endParaRPr lang="ru-RU" b="1">
              <a:solidFill>
                <a:schemeClr val="accent5"/>
              </a:solidFill>
            </a:endParaRPr>
          </a:p>
        </p:txBody>
      </p:sp>
      <p:sp>
        <p:nvSpPr>
          <p:cNvPr id="642989749" name="Текст 18"/>
          <p:cNvSpPr>
            <a:spLocks noGrp="1"/>
          </p:cNvSpPr>
          <p:nvPr>
            <p:ph type="body" sz="quarter" idx="53"/>
          </p:nvPr>
        </p:nvSpPr>
        <p:spPr bwMode="auto">
          <a:xfrm>
            <a:off x="6174664" y="2998036"/>
            <a:ext cx="771003" cy="403756"/>
          </a:xfrm>
        </p:spPr>
        <p:txBody>
          <a:bodyPr/>
          <a:lstStyle/>
          <a:p>
            <a:pPr>
              <a:defRPr/>
            </a:pPr>
            <a:r>
              <a:rPr>
                <a:solidFill/>
              </a:rPr>
              <a:t>5</a:t>
            </a:r>
            <a:endParaRPr lang="ru-RU" b="1">
              <a:solidFill>
                <a:schemeClr val="accent5"/>
              </a:solidFill>
            </a:endParaRPr>
          </a:p>
        </p:txBody>
      </p:sp>
      <p:sp>
        <p:nvSpPr>
          <p:cNvPr id="906169420" name="Текст 19"/>
          <p:cNvSpPr>
            <a:spLocks noGrp="1"/>
          </p:cNvSpPr>
          <p:nvPr>
            <p:ph type="body" sz="quarter" idx="54"/>
          </p:nvPr>
        </p:nvSpPr>
        <p:spPr bwMode="auto">
          <a:xfrm>
            <a:off x="6174664" y="4582148"/>
            <a:ext cx="771003" cy="403913"/>
          </a:xfrm>
        </p:spPr>
        <p:txBody>
          <a:bodyPr/>
          <a:lstStyle/>
          <a:p>
            <a:pPr>
              <a:defRPr/>
            </a:pPr>
            <a:r>
              <a:rPr>
                <a:solidFill/>
              </a:rPr>
              <a:t>6</a:t>
            </a:r>
            <a:endParaRPr lang="ru-RU" b="1">
              <a:solidFill>
                <a:schemeClr val="accent5"/>
              </a:solidFill>
            </a:endParaRPr>
          </a:p>
        </p:txBody>
      </p:sp>
      <p:sp>
        <p:nvSpPr>
          <p:cNvPr id="1915709517" name="TextBox 1915709516"/>
          <p:cNvSpPr txBox="1"/>
          <p:nvPr/>
        </p:nvSpPr>
        <p:spPr>
          <a:xfrm>
            <a:off x="521207" y="6419088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1">
                <a:solidFill>
                  <a:srgbClr val="4B5563"/>
                </a:solidFill>
                <a:latin typeface="Montserrat"/>
              </a:rPr>
              <a:t>Объект Тюменская-5, TRAIN_PUBLIC, in-sample; прогон 28.09.2026 (docs/GOLD_DIAGNOSIS.md). Не порог ТЗ.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268687" name="Заголовок 5"/>
          <p:cNvSpPr>
            <a:spLocks noGrp="1"/>
          </p:cNvSpPr>
          <p:nvPr>
            <p:ph type="title"/>
          </p:nvPr>
        </p:nvSpPr>
        <p:spPr bwMode="auto">
          <a:xfrm>
            <a:off x="533490" y="370426"/>
            <a:ext cx="5562510" cy="442374"/>
          </a:xfrm>
        </p:spPr>
        <p:txBody>
          <a:bodyPr/>
          <a:lstStyle/>
          <a:p>
            <a:pPr>
              <a:defRPr/>
            </a:pPr>
            <a:r>
              <a:rPr>
                <a:solidFill/>
              </a:rPr>
              <a:t>ПОДВОДНЫЕ КАМНИ: ДАННЫЕ</a:t>
            </a:r>
            <a:endParaRPr lang="ru-RU" sz="2000">
              <a:solidFill>
                <a:schemeClr val="accent5"/>
              </a:solidFill>
            </a:endParaRPr>
          </a:p>
        </p:txBody>
      </p:sp>
      <p:sp>
        <p:nvSpPr>
          <p:cNvPr id="1484418242" name="Текст 7"/>
          <p:cNvSpPr>
            <a:spLocks noGrp="1"/>
          </p:cNvSpPr>
          <p:nvPr>
            <p:ph type="body" sz="quarter" idx="15"/>
          </p:nvPr>
        </p:nvSpPr>
        <p:spPr bwMode="auto">
          <a:xfrm>
            <a:off x="521133" y="1695025"/>
            <a:ext cx="4902200" cy="712587"/>
          </a:xfrm>
        </p:spPr>
        <p:txBody>
          <a:bodyPr/>
          <a:lstStyle/>
          <a:p>
            <a:pPr>
              <a:defRPr/>
            </a:pPr>
            <a:r>
              <a:rPr>
                <a:solidFill/>
              </a:rPr>
              <a:t>Сканы без текстового слоя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2022034793" name="Текст 8"/>
          <p:cNvSpPr>
            <a:spLocks noGrp="1"/>
          </p:cNvSpPr>
          <p:nvPr>
            <p:ph type="body" sz="quarter" idx="16"/>
          </p:nvPr>
        </p:nvSpPr>
        <p:spPr bwMode="auto">
          <a:xfrm>
            <a:off x="521133" y="2552035"/>
            <a:ext cx="4902200" cy="712587"/>
          </a:xfrm>
        </p:spPr>
        <p:txBody>
          <a:bodyPr/>
          <a:lstStyle/>
          <a:p>
            <a:pPr>
              <a:defRPr/>
            </a:pPr>
            <a:r>
              <a:rPr>
                <a:solidFill/>
              </a:rPr>
              <a:t>Штампы и печати поверх текста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131907780" name="Текст 9"/>
          <p:cNvSpPr>
            <a:spLocks noGrp="1"/>
          </p:cNvSpPr>
          <p:nvPr>
            <p:ph type="body" sz="quarter" idx="17"/>
          </p:nvPr>
        </p:nvSpPr>
        <p:spPr bwMode="auto">
          <a:xfrm>
            <a:off x="521133" y="3409044"/>
            <a:ext cx="4902200" cy="712587"/>
          </a:xfrm>
        </p:spPr>
        <p:txBody>
          <a:bodyPr/>
          <a:lstStyle/>
          <a:p>
            <a:pPr>
              <a:defRPr/>
            </a:pPr>
            <a:r>
              <a:rPr>
                <a:solidFill/>
              </a:rPr>
              <a:t>Скан повёрнут, обрезан, низкое DPI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1043334351" name="Текст 10"/>
          <p:cNvSpPr>
            <a:spLocks noGrp="1"/>
          </p:cNvSpPr>
          <p:nvPr>
            <p:ph type="body" sz="quarter" idx="18"/>
          </p:nvPr>
        </p:nvSpPr>
        <p:spPr bwMode="auto">
          <a:xfrm>
            <a:off x="521133" y="4266053"/>
            <a:ext cx="4902200" cy="712587"/>
          </a:xfrm>
        </p:spPr>
        <p:txBody>
          <a:bodyPr/>
          <a:lstStyle/>
          <a:p>
            <a:pPr>
              <a:defRPr/>
            </a:pPr>
            <a:r>
              <a:rPr>
                <a:solidFill/>
              </a:rPr>
              <a:t>Таблицы без явных границ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1730022883" name="Текст 11"/>
          <p:cNvSpPr>
            <a:spLocks noGrp="1"/>
          </p:cNvSpPr>
          <p:nvPr>
            <p:ph type="body" sz="quarter" idx="19"/>
          </p:nvPr>
        </p:nvSpPr>
        <p:spPr bwMode="auto">
          <a:xfrm>
            <a:off x="521133" y="5123063"/>
            <a:ext cx="4902200" cy="712587"/>
          </a:xfrm>
        </p:spPr>
        <p:txBody>
          <a:bodyPr/>
          <a:lstStyle/>
          <a:p>
            <a:pPr>
              <a:defRPr/>
            </a:pPr>
            <a:r>
              <a:rPr>
                <a:solidFill/>
              </a:rPr>
              <a:t>Один параметр называется по-разному в ПД, РД и ИД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1785097449" name="Номер слайда 20"/>
          <p:cNvSpPr>
            <a:spLocks noGrp="1"/>
          </p:cNvSpPr>
          <p:nvPr>
            <p:ph type="sldNum" sz="quarter" idx="4294967295"/>
          </p:nvPr>
        </p:nvSpPr>
        <p:spPr bwMode="auto">
          <a:xfrm>
            <a:off x="11441475" y="6356350"/>
            <a:ext cx="558800" cy="365125"/>
          </a:xfrm>
        </p:spPr>
        <p:txBody>
          <a:bodyPr/>
          <a:lstStyle/>
          <a:p>
            <a:pPr>
              <a:defRPr/>
            </a:pPr>
            <a:r>
              <a:rPr>
                <a:solidFill/>
              </a:rPr>
              <a:t>15</a:t>
            </a:r>
            <a:endParaRPr lang="ru-RU">
              <a:solidFill>
                <a:schemeClr val="accent5"/>
              </a:solidFill>
            </a:endParaRPr>
          </a:p>
        </p:txBody>
      </p:sp>
      <p:cxnSp>
        <p:nvCxnSpPr>
          <p:cNvPr id="941653181" name="Прямая соединительная линия 1"/>
          <p:cNvCxnSpPr/>
          <p:nvPr/>
        </p:nvCxnSpPr>
        <p:spPr bwMode="auto">
          <a:xfrm>
            <a:off x="521133" y="1604660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55020351" name="Прямая соединительная линия 3"/>
          <p:cNvCxnSpPr/>
          <p:nvPr/>
        </p:nvCxnSpPr>
        <p:spPr bwMode="auto">
          <a:xfrm>
            <a:off x="521133" y="2465535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98580274" name="Прямая соединительная линия 12"/>
          <p:cNvCxnSpPr/>
          <p:nvPr/>
        </p:nvCxnSpPr>
        <p:spPr bwMode="auto">
          <a:xfrm>
            <a:off x="521133" y="3342865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98046321" name="Прямая соединительная линия 13"/>
          <p:cNvCxnSpPr/>
          <p:nvPr/>
        </p:nvCxnSpPr>
        <p:spPr bwMode="auto">
          <a:xfrm>
            <a:off x="521133" y="4183125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96696805" name="Прямая соединительная линия 14"/>
          <p:cNvCxnSpPr/>
          <p:nvPr/>
        </p:nvCxnSpPr>
        <p:spPr bwMode="auto">
          <a:xfrm>
            <a:off x="521133" y="5048098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98580275" name="TextBox 2098580274"/>
          <p:cNvSpPr txBox="1"/>
          <p:nvPr/>
        </p:nvSpPr>
        <p:spPr>
          <a:xfrm>
            <a:off x="521207" y="1207008"/>
            <a:ext cx="49011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FF0053"/>
                </a:solidFill>
                <a:latin typeface="Montserrat"/>
              </a:rPr>
              <a:t>ЧТО МЕШАЕТ</a:t>
            </a:r>
          </a:p>
        </p:txBody>
      </p:sp>
      <p:sp>
        <p:nvSpPr>
          <p:cNvPr id="2098580276" name="TextBox 2098580275"/>
          <p:cNvSpPr txBox="1"/>
          <p:nvPr/>
        </p:nvSpPr>
        <p:spPr>
          <a:xfrm>
            <a:off x="5989320" y="1207008"/>
            <a:ext cx="5806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FF0053"/>
                </a:solidFill>
                <a:latin typeface="Montserrat"/>
              </a:rPr>
              <a:t>НАШИ ОТВЕТЫ</a:t>
            </a:r>
          </a:p>
        </p:txBody>
      </p:sp>
      <p:sp>
        <p:nvSpPr>
          <p:cNvPr id="2098580277" name="TextBox 2098580276"/>
          <p:cNvSpPr txBox="1"/>
          <p:nvPr/>
        </p:nvSpPr>
        <p:spPr>
          <a:xfrm>
            <a:off x="5989320" y="1691640"/>
            <a:ext cx="58064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1C1D22"/>
                </a:solidFill>
                <a:latin typeface="Montserrat"/>
              </a:rPr>
              <a:t>Вектор pypdfium2; сканы: кроп + PP-OCRv5</a:t>
            </a:r>
          </a:p>
        </p:txBody>
      </p:sp>
      <p:sp>
        <p:nvSpPr>
          <p:cNvPr id="2098580278" name="TextBox 2098580277"/>
          <p:cNvSpPr txBox="1"/>
          <p:nvPr/>
        </p:nvSpPr>
        <p:spPr>
          <a:xfrm>
            <a:off x="5989320" y="2551176"/>
            <a:ext cx="58064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1C1D22"/>
                </a:solidFill>
                <a:latin typeface="Montserrat"/>
              </a:rPr>
              <a:t>Второе чтение Tesseract 5.5; несогласие → ABSTAIN</a:t>
            </a:r>
          </a:p>
        </p:txBody>
      </p:sp>
      <p:sp>
        <p:nvSpPr>
          <p:cNvPr id="2098580279" name="TextBox 2098580278"/>
          <p:cNvSpPr txBox="1"/>
          <p:nvPr/>
        </p:nvSpPr>
        <p:spPr>
          <a:xfrm>
            <a:off x="5989320" y="3410712"/>
            <a:ext cx="58064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1C1D22"/>
                </a:solidFill>
                <a:latin typeface="Montserrat"/>
              </a:rPr>
              <a:t>Учёт /Rotate; цветная печать выбеливается</a:t>
            </a:r>
          </a:p>
        </p:txBody>
      </p:sp>
      <p:sp>
        <p:nvSpPr>
          <p:cNvPr id="2098580280" name="TextBox 2098580279"/>
          <p:cNvSpPr txBox="1"/>
          <p:nvPr/>
        </p:nvSpPr>
        <p:spPr>
          <a:xfrm>
            <a:off x="5989320" y="4270248"/>
            <a:ext cx="58064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1C1D22"/>
                </a:solidFill>
                <a:latin typeface="Montserrat"/>
              </a:rPr>
              <a:t>Таблицы: отдельный контур, пока не заявляем</a:t>
            </a:r>
          </a:p>
        </p:txBody>
      </p:sp>
      <p:sp>
        <p:nvSpPr>
          <p:cNvPr id="2098580281" name="TextBox 2098580280"/>
          <p:cNvSpPr txBox="1"/>
          <p:nvPr/>
        </p:nvSpPr>
        <p:spPr>
          <a:xfrm>
            <a:off x="5989320" y="5120640"/>
            <a:ext cx="58064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1C1D22"/>
                </a:solidFill>
                <a:latin typeface="Montserrat"/>
              </a:rPr>
              <a:t>Якоря правила в матрице; латиница B→В, P→П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11268687" name="Заголовок 5"/>
          <p:cNvSpPr>
            <a:spLocks noGrp="1"/>
          </p:cNvSpPr>
          <p:nvPr>
            <p:ph type="title"/>
          </p:nvPr>
        </p:nvSpPr>
        <p:spPr bwMode="auto">
          <a:xfrm>
            <a:off x="533490" y="370426"/>
            <a:ext cx="5562510" cy="442374"/>
          </a:xfrm>
        </p:spPr>
        <p:txBody>
          <a:bodyPr/>
          <a:lstStyle/>
          <a:p>
            <a:pPr>
              <a:defRPr/>
            </a:pPr>
            <a:r>
              <a:rPr>
                <a:solidFill>
                  <a:srgbClr val="FFFFFF"/>
                </a:solidFill>
              </a:rPr>
              <a:t>ПОДВОДНЫЕ КАМНИ: ЛОГИКА</a:t>
            </a:r>
            <a:endParaRPr lang="ru-RU" sz="2000">
              <a:solidFill>
                <a:schemeClr val="accent5"/>
              </a:solidFill>
            </a:endParaRPr>
          </a:p>
        </p:txBody>
      </p:sp>
      <p:sp>
        <p:nvSpPr>
          <p:cNvPr id="1484418242" name="Текст 7"/>
          <p:cNvSpPr>
            <a:spLocks noGrp="1"/>
          </p:cNvSpPr>
          <p:nvPr>
            <p:ph type="body" sz="quarter" idx="15"/>
          </p:nvPr>
        </p:nvSpPr>
        <p:spPr bwMode="auto">
          <a:xfrm>
            <a:off x="521133" y="1695025"/>
            <a:ext cx="4902200" cy="712587"/>
          </a:xfrm>
        </p:spPr>
        <p:txBody>
          <a:bodyPr/>
          <a:lstStyle/>
          <a:p>
            <a:pPr>
              <a:defRPr/>
            </a:pPr>
            <a:r>
              <a:rPr>
                <a:solidFill>
                  <a:srgbClr val="FFFFFF"/>
                </a:solidFill>
              </a:rPr>
              <a:t>Несколько голов редакции, пустой шифр в штампе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2022034793" name="Текст 8"/>
          <p:cNvSpPr>
            <a:spLocks noGrp="1"/>
          </p:cNvSpPr>
          <p:nvPr>
            <p:ph type="body" sz="quarter" idx="16"/>
          </p:nvPr>
        </p:nvSpPr>
        <p:spPr bwMode="auto">
          <a:xfrm>
            <a:off x="521133" y="2552035"/>
            <a:ext cx="4902200" cy="712587"/>
          </a:xfrm>
        </p:spPr>
        <p:txBody>
          <a:bodyPr/>
          <a:lstStyle/>
          <a:p>
            <a:pPr>
              <a:defRPr/>
            </a:pPr>
            <a:r>
              <a:rPr>
                <a:solidFill>
                  <a:srgbClr val="FFFFFF"/>
                </a:solidFill>
              </a:rPr>
              <a:t>Неутверждённая или устаревшая редакция как эталон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131907780" name="Текст 9"/>
          <p:cNvSpPr>
            <a:spLocks noGrp="1"/>
          </p:cNvSpPr>
          <p:nvPr>
            <p:ph type="body" sz="quarter" idx="17"/>
          </p:nvPr>
        </p:nvSpPr>
        <p:spPr bwMode="auto">
          <a:xfrm>
            <a:off x="521133" y="3409044"/>
            <a:ext cx="4902200" cy="712587"/>
          </a:xfrm>
        </p:spPr>
        <p:txBody>
          <a:bodyPr/>
          <a:lstStyle/>
          <a:p>
            <a:pPr>
              <a:defRPr/>
            </a:pPr>
            <a:r>
              <a:rPr>
                <a:solidFill>
                  <a:srgbClr val="FFFFFF"/>
                </a:solidFill>
              </a:rPr>
              <a:t>Параметр отсутствует в документе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1043334351" name="Текст 10"/>
          <p:cNvSpPr>
            <a:spLocks noGrp="1"/>
          </p:cNvSpPr>
          <p:nvPr>
            <p:ph type="body" sz="quarter" idx="18"/>
          </p:nvPr>
        </p:nvSpPr>
        <p:spPr bwMode="auto">
          <a:xfrm>
            <a:off x="521133" y="4266053"/>
            <a:ext cx="4902200" cy="712587"/>
          </a:xfrm>
        </p:spPr>
        <p:txBody>
          <a:bodyPr/>
          <a:lstStyle/>
          <a:p>
            <a:pPr>
              <a:defRPr/>
            </a:pPr>
            <a:r>
              <a:rPr>
                <a:solidFill>
                  <a:srgbClr val="FFFFFF"/>
                </a:solidFill>
              </a:rPr>
              <a:t>Документ не читается в принципе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1730022883" name="Текст 11"/>
          <p:cNvSpPr>
            <a:spLocks noGrp="1"/>
          </p:cNvSpPr>
          <p:nvPr>
            <p:ph type="body" sz="quarter" idx="19"/>
          </p:nvPr>
        </p:nvSpPr>
        <p:spPr bwMode="auto">
          <a:xfrm>
            <a:off x="521133" y="5123063"/>
            <a:ext cx="4902200" cy="712587"/>
          </a:xfrm>
        </p:spPr>
        <p:txBody>
          <a:bodyPr/>
          <a:lstStyle/>
          <a:p>
            <a:pPr>
              <a:defRPr/>
            </a:pPr>
            <a:r>
              <a:rPr>
                <a:solidFill>
                  <a:srgbClr val="FFFFFF"/>
                </a:solidFill>
              </a:rPr>
              <a:t>Интеграция с ИАИС «РиН»: внешний контур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1785097449" name="Номер слайда 20"/>
          <p:cNvSpPr>
            <a:spLocks noGrp="1"/>
          </p:cNvSpPr>
          <p:nvPr>
            <p:ph type="sldNum" sz="quarter" idx="4294967295"/>
          </p:nvPr>
        </p:nvSpPr>
        <p:spPr bwMode="auto">
          <a:xfrm>
            <a:off x="11441475" y="6356350"/>
            <a:ext cx="558800" cy="365125"/>
          </a:xfrm>
        </p:spPr>
        <p:txBody>
          <a:bodyPr/>
          <a:lstStyle/>
          <a:p>
            <a:pPr>
              <a:defRPr/>
            </a:pPr>
            <a:r>
              <a:rPr>
                <a:solidFill/>
              </a:rPr>
              <a:t>16</a:t>
            </a:r>
            <a:endParaRPr lang="ru-RU">
              <a:solidFill>
                <a:schemeClr val="accent5"/>
              </a:solidFill>
            </a:endParaRPr>
          </a:p>
        </p:txBody>
      </p:sp>
      <p:cxnSp>
        <p:nvCxnSpPr>
          <p:cNvPr id="941653181" name="Прямая соединительная линия 1"/>
          <p:cNvCxnSpPr/>
          <p:nvPr/>
        </p:nvCxnSpPr>
        <p:spPr bwMode="auto">
          <a:xfrm>
            <a:off x="521133" y="1604660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55020351" name="Прямая соединительная линия 3"/>
          <p:cNvCxnSpPr/>
          <p:nvPr/>
        </p:nvCxnSpPr>
        <p:spPr bwMode="auto">
          <a:xfrm>
            <a:off x="521133" y="2465535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98580274" name="Прямая соединительная линия 12"/>
          <p:cNvCxnSpPr/>
          <p:nvPr/>
        </p:nvCxnSpPr>
        <p:spPr bwMode="auto">
          <a:xfrm>
            <a:off x="521133" y="3342865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98046321" name="Прямая соединительная линия 13"/>
          <p:cNvCxnSpPr/>
          <p:nvPr/>
        </p:nvCxnSpPr>
        <p:spPr bwMode="auto">
          <a:xfrm>
            <a:off x="521133" y="4183125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96696805" name="Прямая соединительная линия 14"/>
          <p:cNvCxnSpPr/>
          <p:nvPr/>
        </p:nvCxnSpPr>
        <p:spPr bwMode="auto">
          <a:xfrm>
            <a:off x="521133" y="5048098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98580282" name="TextBox 2098580281"/>
          <p:cNvSpPr txBox="1"/>
          <p:nvPr/>
        </p:nvSpPr>
        <p:spPr>
          <a:xfrm>
            <a:off x="521207" y="1207008"/>
            <a:ext cx="49011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FF0053"/>
                </a:solidFill>
                <a:latin typeface="Montserrat"/>
              </a:rPr>
              <a:t>ЧТО МЕШАЕТ</a:t>
            </a:r>
          </a:p>
        </p:txBody>
      </p:sp>
      <p:sp>
        <p:nvSpPr>
          <p:cNvPr id="2098580283" name="TextBox 2098580282"/>
          <p:cNvSpPr txBox="1"/>
          <p:nvPr/>
        </p:nvSpPr>
        <p:spPr>
          <a:xfrm>
            <a:off x="5989320" y="1207008"/>
            <a:ext cx="5806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FF0053"/>
                </a:solidFill>
                <a:latin typeface="Montserrat"/>
              </a:rPr>
              <a:t>НАШИ ОТВЕТЫ</a:t>
            </a:r>
          </a:p>
        </p:txBody>
      </p:sp>
      <p:sp>
        <p:nvSpPr>
          <p:cNvPr id="2098580284" name="TextBox 2098580283"/>
          <p:cNvSpPr txBox="1"/>
          <p:nvPr/>
        </p:nvSpPr>
        <p:spPr>
          <a:xfrm>
            <a:off x="5989320" y="1691640"/>
            <a:ext cx="58064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FFFFFF"/>
                </a:solidFill>
                <a:latin typeface="Montserrat"/>
              </a:rPr>
              <a:t>Голова по шифру; две головы → CLARIFICATION_REQUIRED</a:t>
            </a:r>
          </a:p>
        </p:txBody>
      </p:sp>
      <p:sp>
        <p:nvSpPr>
          <p:cNvPr id="2098580285" name="TextBox 2098580284"/>
          <p:cNvSpPr txBox="1"/>
          <p:nvPr/>
        </p:nvSpPr>
        <p:spPr>
          <a:xfrm>
            <a:off x="5989320" y="2551176"/>
            <a:ext cx="58064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FFFFFF"/>
                </a:solidFill>
                <a:latin typeface="Montserrat"/>
              </a:rPr>
              <a:t>«не утв.» не эталон; SOLE_HEAD, штамп не переписываем</a:t>
            </a:r>
          </a:p>
        </p:txBody>
      </p:sp>
      <p:sp>
        <p:nvSpPr>
          <p:cNvPr id="2098580286" name="TextBox 2098580285"/>
          <p:cNvSpPr txBox="1"/>
          <p:nvPr/>
        </p:nvSpPr>
        <p:spPr>
          <a:xfrm>
            <a:off x="5989320" y="3410712"/>
            <a:ext cx="58064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FFFFFF"/>
                </a:solidFill>
                <a:latin typeface="Montserrat"/>
              </a:rPr>
              <a:t>MISSING_EVIDENCE / NOT_APPLICABLE: не нарушение</a:t>
            </a:r>
          </a:p>
        </p:txBody>
      </p:sp>
      <p:sp>
        <p:nvSpPr>
          <p:cNvPr id="2098580287" name="TextBox 2098580286"/>
          <p:cNvSpPr txBox="1"/>
          <p:nvPr/>
        </p:nvSpPr>
        <p:spPr>
          <a:xfrm>
            <a:off x="5989320" y="4270248"/>
            <a:ext cx="58064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FFFFFF"/>
                </a:solidFill>
                <a:latin typeface="Montserrat"/>
              </a:rPr>
              <a:t>LOW_QUALITY / ABSTAIN вместо угаданного вердикта</a:t>
            </a:r>
          </a:p>
        </p:txBody>
      </p:sp>
      <p:sp>
        <p:nvSpPr>
          <p:cNvPr id="2098580288" name="TextBox 2098580287"/>
          <p:cNvSpPr txBox="1"/>
          <p:nvPr/>
        </p:nvSpPr>
        <p:spPr>
          <a:xfrm>
            <a:off x="5989320" y="5120640"/>
            <a:ext cx="58064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FFFFFF"/>
                </a:solidFill>
                <a:latin typeface="Montserrat"/>
              </a:rPr>
              <a:t>Outbox в брокер; confirm брокера ≠ ACK РиН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41726418" name="Скругленный прямоугольник 3"/>
          <p:cNvSpPr/>
          <p:nvPr/>
        </p:nvSpPr>
        <p:spPr bwMode="auto">
          <a:xfrm>
            <a:off x="325170" y="1304256"/>
            <a:ext cx="11541659" cy="5052102"/>
          </a:xfrm>
          <a:prstGeom prst="roundRect">
            <a:avLst>
              <a:gd name="adj" fmla="val 6926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224299941" name="Номер слайда 20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r>
              <a:rPr>
                <a:solidFill/>
              </a:rPr>
              <a:t>17</a:t>
            </a:r>
            <a:endParaRPr lang="ru-RU">
              <a:solidFill>
                <a:schemeClr val="bg1"/>
              </a:solidFill>
            </a:endParaRPr>
          </a:p>
        </p:txBody>
      </p:sp>
      <p:sp>
        <p:nvSpPr>
          <p:cNvPr id="817660197" name="Заголовок 1"/>
          <p:cNvSpPr>
            <a:spLocks noGrp="1"/>
          </p:cNvSpPr>
          <p:nvPr>
            <p:ph type="title"/>
          </p:nvPr>
        </p:nvSpPr>
        <p:spPr bwMode="auto">
          <a:xfrm>
            <a:off x="533104" y="414049"/>
            <a:ext cx="5994696" cy="552061"/>
          </a:xfrm>
        </p:spPr>
        <p:txBody>
          <a:bodyPr/>
          <a:lstStyle/>
          <a:p>
            <a:pPr>
              <a:defRPr/>
            </a:pPr>
            <a:r>
              <a:rPr>
                <a:solidFill>
                  <a:srgbClr val="FFFFFF"/>
                </a:solidFill>
              </a:rPr>
              <a:t>ОПОРА НА SOTA-2026</a:t>
            </a:r>
            <a:endParaRPr lang="ru-RU" sz="3600">
              <a:solidFill>
                <a:schemeClr val="bg1"/>
              </a:solidFill>
            </a:endParaRPr>
          </a:p>
        </p:txBody>
      </p:sp>
      <p:graphicFrame>
        <p:nvGraphicFramePr>
          <p:cNvPr id="2041726419" name="Table 2041726418"/>
          <p:cNvGraphicFramePr>
            <a:graphicFrameLocks noGrp="1"/>
          </p:cNvGraphicFramePr>
          <p:nvPr/>
        </p:nvGraphicFramePr>
        <p:xfrm>
          <a:off x="621792" y="1554480"/>
          <a:ext cx="1078992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3017520"/>
                <a:gridCol w="1737360"/>
                <a:gridCol w="4297680"/>
              </a:tblGrid>
              <a:tr h="54864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Слой</a:t>
                      </a:r>
                    </a:p>
                  </a:txBody>
                  <a:tcPr marL="54864" marR="54864" marT="27432" marB="27432">
                    <a:solidFill>
                      <a:srgbClr val="5209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Берём</a:t>
                      </a:r>
                    </a:p>
                  </a:txBody>
                  <a:tcPr marL="54864" marR="54864" marT="27432" marB="27432">
                    <a:solidFill>
                      <a:srgbClr val="5209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Лицензия</a:t>
                      </a:r>
                    </a:p>
                  </a:txBody>
                  <a:tcPr marL="54864" marR="54864" marT="27432" marB="27432">
                    <a:solidFill>
                      <a:srgbClr val="5209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Почему</a:t>
                      </a:r>
                    </a:p>
                  </a:txBody>
                  <a:tcPr marL="54864" marR="54864" marT="27432" marB="27432">
                    <a:solidFill>
                      <a:srgbClr val="520977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C1D22"/>
                          </a:solidFill>
                          <a:latin typeface="Montserrat"/>
                        </a:rPr>
                        <a:t>Векторный PDF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C1D22"/>
                          </a:solidFill>
                          <a:latin typeface="Montserrat"/>
                        </a:rPr>
                        <a:t>pypdfium2 + pdfminer.six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C1D22"/>
                          </a:solidFill>
                          <a:latin typeface="Montserrat"/>
                        </a:rPr>
                        <a:t>BSD-3/Apache-2.0 · MIT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C1D22"/>
                          </a:solidFill>
                          <a:latin typeface="Montserrat"/>
                        </a:rPr>
                        <a:t>Текст и геометрия без OCR, основной путь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C1D22"/>
                          </a:solidFill>
                          <a:latin typeface="Montserrat"/>
                        </a:rPr>
                        <a:t>OCR кропа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C1D22"/>
                          </a:solidFill>
                          <a:latin typeface="Montserrat"/>
                        </a:rPr>
                        <a:t>PP-OCRv5 eslav mobile (ONNX)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C1D22"/>
                          </a:solidFill>
                          <a:latin typeface="Montserrat"/>
                        </a:rPr>
                        <a:t>Apache-2.0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C1D22"/>
                          </a:solidFill>
                          <a:latin typeface="Montserrat"/>
                        </a:rPr>
                        <a:t>SILVER n=5 935: mean CA 0,794 против 0,777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C1D22"/>
                          </a:solidFill>
                          <a:latin typeface="Montserrat"/>
                        </a:rPr>
                        <a:t>Второе чтение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C1D22"/>
                          </a:solidFill>
                          <a:latin typeface="Montserrat"/>
                        </a:rPr>
                        <a:t>Tesseract 5.5 rus+eng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C1D22"/>
                          </a:solidFill>
                          <a:latin typeface="Montserrat"/>
                        </a:rPr>
                        <a:t>Apache-2.0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C1D22"/>
                          </a:solidFill>
                          <a:latin typeface="Montserrat"/>
                        </a:rPr>
                        <a:t>Согласие двух чтений или ABSTAIN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C1D22"/>
                          </a:solidFill>
                          <a:latin typeface="Montserrat"/>
                        </a:rPr>
                        <a:t>Правила и вердикт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C1D22"/>
                          </a:solidFill>
                          <a:latin typeface="Montserrat"/>
                        </a:rPr>
                        <a:t>Детерминированное ядро + инспектор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C1D22"/>
                          </a:solidFill>
                          <a:latin typeface="Montserrat"/>
                        </a:rPr>
                        <a:t>Наш код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C1D22"/>
                          </a:solidFill>
                          <a:latin typeface="Montserrat"/>
                        </a:rPr>
                        <a:t>Статус не пишет модель (ADR-0001)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C1D22"/>
                          </a:solidFill>
                          <a:latin typeface="Montserrat"/>
                        </a:rPr>
                        <a:t>Не берём</a:t>
                      </a:r>
                    </a:p>
                  </a:txBody>
                  <a:tcPr marL="54864" marR="54864" marT="27432" marB="27432">
                    <a:solidFill>
                      <a:srgbClr val="FFD6E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C1D22"/>
                          </a:solidFill>
                          <a:latin typeface="Montserrat"/>
                        </a:rPr>
                        <a:t>Облачные LLM/OCR/VLM, PyMuPDF (AGPL), Marker/Surya (ограничения весов)</a:t>
                      </a:r>
                    </a:p>
                  </a:txBody>
                  <a:tcPr marL="54864" marR="54864" marT="27432" marB="27432">
                    <a:solidFill>
                      <a:srgbClr val="FFD6E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C1D22"/>
                          </a:solidFill>
                          <a:latin typeface="Montserrat"/>
                        </a:rPr>
                        <a:t>—</a:t>
                      </a:r>
                    </a:p>
                  </a:txBody>
                  <a:tcPr marL="54864" marR="54864" marT="27432" marB="27432">
                    <a:solidFill>
                      <a:srgbClr val="FFD6E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C1D22"/>
                          </a:solidFill>
                          <a:latin typeface="Montserrat"/>
                        </a:rPr>
                        <a:t>Запрет ответа 23, лицензии</a:t>
                      </a:r>
                    </a:p>
                  </a:txBody>
                  <a:tcPr marL="54864" marR="54864" marT="27432" marB="27432">
                    <a:solidFill>
                      <a:srgbClr val="FFD6E3"/>
                    </a:solidFill>
                  </a:tcPr>
                </a:tc>
              </a:tr>
            </a:tbl>
          </a:graphicData>
        </a:graphic>
      </p:graphicFrame>
      <p:sp>
        <p:nvSpPr>
          <p:cNvPr id="2041726420" name="TextBox 2041726419"/>
          <p:cNvSpPr txBox="1"/>
          <p:nvPr/>
        </p:nvSpPr>
        <p:spPr>
          <a:xfrm>
            <a:off x="621792" y="507492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1">
                <a:solidFill>
                  <a:srgbClr val="4B5563"/>
                </a:solidFill>
                <a:latin typeface="Montserrat"/>
              </a:rPr>
              <a:t>Публичные бенчмарки не переносятся на порог ТЗ. Свои числа только с n и 95% CI Уилсона.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401585286" name="Скругленный прямоугольник 22"/>
          <p:cNvSpPr/>
          <p:nvPr/>
        </p:nvSpPr>
        <p:spPr bwMode="auto">
          <a:xfrm>
            <a:off x="346075" y="324562"/>
            <a:ext cx="6227064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859240169" name="Номер слайда 20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r>
              <a:rPr>
                <a:solidFill/>
              </a:rPr>
              <a:t>18</a:t>
            </a:r>
            <a:endParaRPr lang="ru-RU">
              <a:solidFill>
                <a:schemeClr val="accent5"/>
              </a:solidFill>
            </a:endParaRPr>
          </a:p>
        </p:txBody>
      </p:sp>
      <p:sp>
        <p:nvSpPr>
          <p:cNvPr id="1268325229" name="Текст 1"/>
          <p:cNvSpPr>
            <a:spLocks noGrp="1"/>
          </p:cNvSpPr>
          <p:nvPr>
            <p:ph type="body" sz="quarter" idx="37"/>
          </p:nvPr>
        </p:nvSpPr>
        <p:spPr bwMode="auto">
          <a:xfrm>
            <a:off x="1615961" y="1428776"/>
            <a:ext cx="3866856" cy="423628"/>
          </a:xfrm>
        </p:spPr>
        <p:txBody>
          <a:bodyPr/>
          <a:lstStyle/>
          <a:p>
            <a:pPr>
              <a:defRPr/>
            </a:pPr>
            <a:r>
              <a:rPr>
                <a:solidFill/>
              </a:rPr>
              <a:t>Печатный OCR на плато</a:t>
            </a:r>
            <a:endParaRPr lang="ru-RU">
              <a:solidFill>
                <a:srgbClr val="F92571"/>
              </a:solidFill>
            </a:endParaRPr>
          </a:p>
        </p:txBody>
      </p:sp>
      <p:sp>
        <p:nvSpPr>
          <p:cNvPr id="1627499976" name="Текст 2"/>
          <p:cNvSpPr>
            <a:spLocks noGrp="1"/>
          </p:cNvSpPr>
          <p:nvPr>
            <p:ph type="body" sz="quarter" idx="38"/>
          </p:nvPr>
        </p:nvSpPr>
        <p:spPr bwMode="auto">
          <a:xfrm>
            <a:off x="1615964" y="1996388"/>
            <a:ext cx="3866856" cy="672075"/>
          </a:xfrm>
        </p:spPr>
        <p:txBody>
          <a:bodyPr/>
          <a:lstStyle/>
          <a:p>
            <a:pPr>
              <a:defRPr/>
            </a:pPr>
            <a:r>
              <a:rPr>
                <a:solidFill/>
              </a:rPr>
              <a:t>GLM-OCR 94,6, OmniDocBench ≈96 → ставка на двойное чтение, не на «новый OCR»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1915709516" name="Текст 3"/>
          <p:cNvSpPr>
            <a:spLocks noGrp="1"/>
          </p:cNvSpPr>
          <p:nvPr>
            <p:ph type="body" sz="quarter" idx="39"/>
          </p:nvPr>
        </p:nvSpPr>
        <p:spPr bwMode="auto">
          <a:xfrm>
            <a:off x="1596604" y="3032761"/>
            <a:ext cx="3866856" cy="403756"/>
          </a:xfrm>
        </p:spPr>
        <p:txBody>
          <a:bodyPr/>
          <a:lstStyle/>
          <a:p>
            <a:pPr>
              <a:defRPr/>
            </a:pPr>
            <a:r>
              <a:rPr>
                <a:solidFill/>
              </a:rPr>
              <a:t>Доказательство слабо</a:t>
            </a:r>
            <a:endParaRPr lang="ru-RU">
              <a:solidFill>
                <a:srgbClr val="F92571"/>
              </a:solidFill>
            </a:endParaRPr>
          </a:p>
        </p:txBody>
      </p:sp>
      <p:sp>
        <p:nvSpPr>
          <p:cNvPr id="1449357136" name="Текст 4"/>
          <p:cNvSpPr>
            <a:spLocks noGrp="1"/>
          </p:cNvSpPr>
          <p:nvPr>
            <p:ph type="body" sz="quarter" idx="40"/>
          </p:nvPr>
        </p:nvSpPr>
        <p:spPr bwMode="auto">
          <a:xfrm>
            <a:off x="1596604" y="3580500"/>
            <a:ext cx="3866856" cy="672075"/>
          </a:xfrm>
        </p:spPr>
        <p:txBody>
          <a:bodyPr/>
          <a:lstStyle/>
          <a:p>
            <a:pPr>
              <a:defRPr/>
            </a:pPr>
            <a:r>
              <a:rPr>
                <a:solidFill/>
              </a:rPr>
              <a:t>DocTrace, Visual Evidence Retrieval: ответ без места непригоден → полигон в evidence_group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1122710065" name="Текст 5"/>
          <p:cNvSpPr>
            <a:spLocks noGrp="1"/>
          </p:cNvSpPr>
          <p:nvPr>
            <p:ph type="body" sz="quarter" idx="41"/>
          </p:nvPr>
        </p:nvSpPr>
        <p:spPr bwMode="auto">
          <a:xfrm>
            <a:off x="1596604" y="4616873"/>
            <a:ext cx="3866856" cy="403913"/>
          </a:xfrm>
        </p:spPr>
        <p:txBody>
          <a:bodyPr/>
          <a:lstStyle/>
          <a:p>
            <a:pPr>
              <a:defRPr/>
            </a:pPr>
            <a:r>
              <a:rPr>
                <a:solidFill/>
              </a:rPr>
              <a:t>Подсчёт у VLM слаб</a:t>
            </a:r>
            <a:endParaRPr lang="ru-RU">
              <a:solidFill>
                <a:srgbClr val="F92571"/>
              </a:solidFill>
            </a:endParaRPr>
          </a:p>
        </p:txBody>
      </p:sp>
      <p:sp>
        <p:nvSpPr>
          <p:cNvPr id="1655102634" name="Текст 6"/>
          <p:cNvSpPr>
            <a:spLocks noGrp="1"/>
          </p:cNvSpPr>
          <p:nvPr>
            <p:ph type="body" sz="quarter" idx="42"/>
          </p:nvPr>
        </p:nvSpPr>
        <p:spPr bwMode="auto">
          <a:xfrm>
            <a:off x="1596604" y="5164612"/>
            <a:ext cx="3866856" cy="672075"/>
          </a:xfrm>
        </p:spPr>
        <p:txBody>
          <a:bodyPr/>
          <a:lstStyle/>
          <a:p>
            <a:pPr>
              <a:defRPr/>
            </a:pPr>
            <a:r>
              <a:rPr>
                <a:solidFill/>
              </a:rPr>
              <a:t>ABACUS, «The Count Is There…» → 14 правил подсчёта честно extractor_missing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932407529" name="Текст 7"/>
          <p:cNvSpPr>
            <a:spLocks noGrp="1"/>
          </p:cNvSpPr>
          <p:nvPr>
            <p:ph type="body" sz="quarter" idx="43"/>
          </p:nvPr>
        </p:nvSpPr>
        <p:spPr bwMode="auto">
          <a:xfrm>
            <a:off x="7289068" y="1428776"/>
            <a:ext cx="3866856" cy="423628"/>
          </a:xfrm>
        </p:spPr>
        <p:txBody>
          <a:bodyPr/>
          <a:lstStyle/>
          <a:p>
            <a:pPr>
              <a:defRPr/>
            </a:pPr>
            <a:r>
              <a:rPr>
                <a:solidFill/>
              </a:rPr>
              <a:t>Чертёж — это вектор</a:t>
            </a:r>
            <a:endParaRPr lang="ru-RU">
              <a:solidFill>
                <a:srgbClr val="F92571"/>
              </a:solidFill>
            </a:endParaRPr>
          </a:p>
        </p:txBody>
      </p:sp>
      <p:sp>
        <p:nvSpPr>
          <p:cNvPr id="1267452843" name="Текст 8"/>
          <p:cNvSpPr>
            <a:spLocks noGrp="1"/>
          </p:cNvSpPr>
          <p:nvPr>
            <p:ph type="body" sz="quarter" idx="44"/>
          </p:nvPr>
        </p:nvSpPr>
        <p:spPr bwMode="auto">
          <a:xfrm>
            <a:off x="7289071" y="1996388"/>
            <a:ext cx="3866856" cy="672075"/>
          </a:xfrm>
        </p:spPr>
        <p:txBody>
          <a:bodyPr/>
          <a:lstStyle/>
          <a:p>
            <a:pPr>
              <a:defRPr/>
            </a:pPr>
            <a:r>
              <a:rPr>
                <a:solidFill/>
              </a:rPr>
              <a:t>PolarSym, ArchCAD-400K, RealCADBench → графический контур на векторе PDF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1645597890" name="Текст 9"/>
          <p:cNvSpPr>
            <a:spLocks noGrp="1"/>
          </p:cNvSpPr>
          <p:nvPr>
            <p:ph type="body" sz="quarter" idx="45"/>
          </p:nvPr>
        </p:nvSpPr>
        <p:spPr bwMode="auto">
          <a:xfrm>
            <a:off x="7269712" y="3032761"/>
            <a:ext cx="3866856" cy="403756"/>
          </a:xfrm>
        </p:spPr>
        <p:txBody>
          <a:bodyPr/>
          <a:lstStyle/>
          <a:p>
            <a:pPr>
              <a:defRPr/>
            </a:pPr>
            <a:r>
              <a:rPr>
                <a:solidFill/>
              </a:rPr>
              <a:t>Правила как данные</a:t>
            </a:r>
            <a:endParaRPr lang="ru-RU">
              <a:solidFill>
                <a:srgbClr val="F92571"/>
              </a:solidFill>
            </a:endParaRPr>
          </a:p>
        </p:txBody>
      </p:sp>
      <p:sp>
        <p:nvSpPr>
          <p:cNvPr id="156986459" name="Текст 10"/>
          <p:cNvSpPr>
            <a:spLocks noGrp="1"/>
          </p:cNvSpPr>
          <p:nvPr>
            <p:ph type="body" sz="quarter" idx="46"/>
          </p:nvPr>
        </p:nvSpPr>
        <p:spPr bwMode="auto">
          <a:xfrm>
            <a:off x="7269712" y="3580500"/>
            <a:ext cx="3866856" cy="672075"/>
          </a:xfrm>
        </p:spPr>
        <p:txBody>
          <a:bodyPr/>
          <a:lstStyle/>
          <a:p>
            <a:pPr>
              <a:defRPr/>
            </a:pPr>
            <a:r>
              <a:rPr>
                <a:solidFill/>
              </a:rPr>
              <a:t>ARCHER, BIM compliance: норма → исполняемое правило → матрица JSON + компараторы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1223180693" name="Текст 11"/>
          <p:cNvSpPr>
            <a:spLocks noGrp="1"/>
          </p:cNvSpPr>
          <p:nvPr>
            <p:ph type="body" sz="quarter" idx="47"/>
          </p:nvPr>
        </p:nvSpPr>
        <p:spPr bwMode="auto">
          <a:xfrm>
            <a:off x="7269712" y="4616873"/>
            <a:ext cx="3866856" cy="403913"/>
          </a:xfrm>
        </p:spPr>
        <p:txBody>
          <a:bodyPr/>
          <a:lstStyle/>
          <a:p>
            <a:pPr>
              <a:defRPr/>
            </a:pPr>
            <a:r>
              <a:rPr>
                <a:solidFill/>
              </a:rPr>
              <a:t>Документ не доверен</a:t>
            </a:r>
            <a:endParaRPr lang="ru-RU">
              <a:solidFill>
                <a:srgbClr val="F92571"/>
              </a:solidFill>
            </a:endParaRPr>
          </a:p>
        </p:txBody>
      </p:sp>
      <p:sp>
        <p:nvSpPr>
          <p:cNvPr id="1522535976" name="Текст 12"/>
          <p:cNvSpPr>
            <a:spLocks noGrp="1"/>
          </p:cNvSpPr>
          <p:nvPr>
            <p:ph type="body" sz="quarter" idx="48"/>
          </p:nvPr>
        </p:nvSpPr>
        <p:spPr bwMode="auto">
          <a:xfrm>
            <a:off x="7269712" y="5164612"/>
            <a:ext cx="3866856" cy="672075"/>
          </a:xfrm>
        </p:spPr>
        <p:txBody>
          <a:bodyPr/>
          <a:lstStyle/>
          <a:p>
            <a:pPr>
              <a:defRPr/>
            </a:pPr>
            <a:r>
              <a:rPr>
                <a:solidFill/>
              </a:rPr>
              <a:t>OWASP LLM01, Trustworthy Agentic AI → LLM вне вердикта, офлайн, сканер инъекций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1620297821" name="Заголовок 13"/>
          <p:cNvSpPr>
            <a:spLocks noGrp="1"/>
          </p:cNvSpPr>
          <p:nvPr>
            <p:ph type="title"/>
          </p:nvPr>
        </p:nvSpPr>
        <p:spPr bwMode="auto">
          <a:xfrm>
            <a:off x="525817" y="421226"/>
            <a:ext cx="5861304" cy="376138"/>
          </a:xfrm>
        </p:spPr>
        <p:txBody>
          <a:bodyPr/>
          <a:lstStyle/>
          <a:p>
            <a:pPr>
              <a:defRPr/>
            </a:pPr>
            <a:r>
              <a:rPr>
                <a:solidFill/>
              </a:rPr>
              <a:t>SOTA-2026 → НАШИ РЕШЕНИЯ</a:t>
            </a:r>
            <a:endParaRPr lang="ru-RU"/>
          </a:p>
        </p:txBody>
      </p:sp>
      <p:sp>
        <p:nvSpPr>
          <p:cNvPr id="1057968063" name="Текст 14"/>
          <p:cNvSpPr>
            <a:spLocks noGrp="1"/>
          </p:cNvSpPr>
          <p:nvPr>
            <p:ph type="body" sz="quarter" idx="49"/>
          </p:nvPr>
        </p:nvSpPr>
        <p:spPr bwMode="auto">
          <a:xfrm>
            <a:off x="520913" y="1394052"/>
            <a:ext cx="771003" cy="423628"/>
          </a:xfrm>
        </p:spPr>
        <p:txBody>
          <a:bodyPr/>
          <a:lstStyle/>
          <a:p>
            <a:pPr>
              <a:defRPr/>
            </a:pPr>
            <a:r>
              <a:rPr>
                <a:solidFill/>
              </a:rPr>
              <a:t>1</a:t>
            </a:r>
            <a:endParaRPr lang="ru-RU" b="1">
              <a:solidFill>
                <a:schemeClr val="accent5"/>
              </a:solidFill>
            </a:endParaRPr>
          </a:p>
        </p:txBody>
      </p:sp>
      <p:sp>
        <p:nvSpPr>
          <p:cNvPr id="1746298688" name="Текст 15"/>
          <p:cNvSpPr>
            <a:spLocks noGrp="1"/>
          </p:cNvSpPr>
          <p:nvPr>
            <p:ph type="body" sz="quarter" idx="50"/>
          </p:nvPr>
        </p:nvSpPr>
        <p:spPr bwMode="auto">
          <a:xfrm>
            <a:off x="501557" y="2998036"/>
            <a:ext cx="771003" cy="403756"/>
          </a:xfrm>
        </p:spPr>
        <p:txBody>
          <a:bodyPr/>
          <a:lstStyle/>
          <a:p>
            <a:pPr>
              <a:defRPr/>
            </a:pPr>
            <a:r>
              <a:rPr>
                <a:solidFill/>
              </a:rPr>
              <a:t>2</a:t>
            </a:r>
            <a:endParaRPr lang="ru-RU" b="1">
              <a:solidFill>
                <a:schemeClr val="accent5"/>
              </a:solidFill>
            </a:endParaRPr>
          </a:p>
        </p:txBody>
      </p:sp>
      <p:sp>
        <p:nvSpPr>
          <p:cNvPr id="831414996" name="Текст 16"/>
          <p:cNvSpPr>
            <a:spLocks noGrp="1"/>
          </p:cNvSpPr>
          <p:nvPr>
            <p:ph type="body" sz="quarter" idx="51"/>
          </p:nvPr>
        </p:nvSpPr>
        <p:spPr bwMode="auto">
          <a:xfrm>
            <a:off x="501557" y="4582148"/>
            <a:ext cx="771003" cy="403913"/>
          </a:xfrm>
        </p:spPr>
        <p:txBody>
          <a:bodyPr/>
          <a:lstStyle/>
          <a:p>
            <a:pPr>
              <a:defRPr/>
            </a:pPr>
            <a:r>
              <a:rPr>
                <a:solidFill/>
              </a:rPr>
              <a:t>3</a:t>
            </a:r>
            <a:endParaRPr lang="ru-RU" b="1">
              <a:solidFill>
                <a:schemeClr val="accent5"/>
              </a:solidFill>
            </a:endParaRPr>
          </a:p>
        </p:txBody>
      </p:sp>
      <p:sp>
        <p:nvSpPr>
          <p:cNvPr id="917831360" name="Текст 17"/>
          <p:cNvSpPr>
            <a:spLocks noGrp="1"/>
          </p:cNvSpPr>
          <p:nvPr>
            <p:ph type="body" sz="quarter" idx="52"/>
          </p:nvPr>
        </p:nvSpPr>
        <p:spPr bwMode="auto">
          <a:xfrm>
            <a:off x="6194020" y="1394052"/>
            <a:ext cx="771003" cy="423628"/>
          </a:xfrm>
        </p:spPr>
        <p:txBody>
          <a:bodyPr/>
          <a:lstStyle/>
          <a:p>
            <a:pPr>
              <a:defRPr/>
            </a:pPr>
            <a:r>
              <a:rPr>
                <a:solidFill/>
              </a:rPr>
              <a:t>4</a:t>
            </a:r>
            <a:endParaRPr lang="ru-RU" b="1">
              <a:solidFill>
                <a:schemeClr val="accent5"/>
              </a:solidFill>
            </a:endParaRPr>
          </a:p>
        </p:txBody>
      </p:sp>
      <p:sp>
        <p:nvSpPr>
          <p:cNvPr id="642989749" name="Текст 18"/>
          <p:cNvSpPr>
            <a:spLocks noGrp="1"/>
          </p:cNvSpPr>
          <p:nvPr>
            <p:ph type="body" sz="quarter" idx="53"/>
          </p:nvPr>
        </p:nvSpPr>
        <p:spPr bwMode="auto">
          <a:xfrm>
            <a:off x="6174664" y="2998036"/>
            <a:ext cx="771003" cy="403756"/>
          </a:xfrm>
        </p:spPr>
        <p:txBody>
          <a:bodyPr/>
          <a:lstStyle/>
          <a:p>
            <a:pPr>
              <a:defRPr/>
            </a:pPr>
            <a:r>
              <a:rPr>
                <a:solidFill/>
              </a:rPr>
              <a:t>5</a:t>
            </a:r>
            <a:endParaRPr lang="ru-RU" b="1">
              <a:solidFill>
                <a:schemeClr val="accent5"/>
              </a:solidFill>
            </a:endParaRPr>
          </a:p>
        </p:txBody>
      </p:sp>
      <p:sp>
        <p:nvSpPr>
          <p:cNvPr id="906169420" name="Текст 19"/>
          <p:cNvSpPr>
            <a:spLocks noGrp="1"/>
          </p:cNvSpPr>
          <p:nvPr>
            <p:ph type="body" sz="quarter" idx="54"/>
          </p:nvPr>
        </p:nvSpPr>
        <p:spPr bwMode="auto">
          <a:xfrm>
            <a:off x="6174664" y="4582148"/>
            <a:ext cx="771003" cy="403913"/>
          </a:xfrm>
        </p:spPr>
        <p:txBody>
          <a:bodyPr/>
          <a:lstStyle/>
          <a:p>
            <a:pPr>
              <a:defRPr/>
            </a:pPr>
            <a:r>
              <a:rPr>
                <a:solidFill/>
              </a:rPr>
              <a:t>6</a:t>
            </a:r>
            <a:endParaRPr lang="ru-RU" b="1">
              <a:solidFill>
                <a:schemeClr val="accent5"/>
              </a:solidFill>
            </a:endParaRPr>
          </a:p>
        </p:txBody>
      </p:sp>
      <p:sp>
        <p:nvSpPr>
          <p:cNvPr id="1915709517" name="TextBox 1915709516"/>
          <p:cNvSpPr txBox="1"/>
          <p:nvPr/>
        </p:nvSpPr>
        <p:spPr>
          <a:xfrm>
            <a:off x="521207" y="6419088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1">
                <a:solidFill>
                  <a:srgbClr val="FFD6E4"/>
                </a:solidFill>
                <a:latin typeface="Montserrat"/>
              </a:rPr>
              <a:t>arXiv 2605–2609 (2026), OSINT-срез docs/RESEARCH_OSINT_2026.md. Чужие цифры — ориентир, не наш результат.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3425051" name="Скругленный прямоугольник 13"/>
          <p:cNvSpPr/>
          <p:nvPr/>
        </p:nvSpPr>
        <p:spPr bwMode="auto">
          <a:xfrm>
            <a:off x="6286500" y="4747188"/>
            <a:ext cx="5570538" cy="1666934"/>
          </a:xfrm>
          <a:prstGeom prst="roundRect">
            <a:avLst>
              <a:gd name="adj" fmla="val 877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1150671869" name="Скругленный прямоугольник 11"/>
          <p:cNvSpPr/>
          <p:nvPr/>
        </p:nvSpPr>
        <p:spPr bwMode="auto">
          <a:xfrm>
            <a:off x="6286500" y="2832356"/>
            <a:ext cx="5570538" cy="1666934"/>
          </a:xfrm>
          <a:prstGeom prst="roundRect">
            <a:avLst>
              <a:gd name="adj" fmla="val 877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119896725" name="Скругленный прямоугольник 10"/>
          <p:cNvSpPr/>
          <p:nvPr/>
        </p:nvSpPr>
        <p:spPr bwMode="auto">
          <a:xfrm>
            <a:off x="6286500" y="917525"/>
            <a:ext cx="5570538" cy="1666934"/>
          </a:xfrm>
          <a:prstGeom prst="roundRect">
            <a:avLst>
              <a:gd name="adj" fmla="val 877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1005219055" name="Скругленный прямоугольник 1"/>
          <p:cNvSpPr/>
          <p:nvPr/>
        </p:nvSpPr>
        <p:spPr bwMode="auto">
          <a:xfrm>
            <a:off x="346075" y="324562"/>
            <a:ext cx="6441948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706338296" name="Номер слайда 8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r>
              <a:rPr>
                <a:solidFill/>
              </a:rPr>
              <a:t>19</a:t>
            </a:r>
            <a:endParaRPr lang="ru-RU"/>
          </a:p>
        </p:txBody>
      </p:sp>
      <p:sp>
        <p:nvSpPr>
          <p:cNvPr id="1233537166" name="Текст 2"/>
          <p:cNvSpPr>
            <a:spLocks noGrp="1"/>
          </p:cNvSpPr>
          <p:nvPr>
            <p:ph type="body" sz="quarter" idx="21"/>
          </p:nvPr>
        </p:nvSpPr>
        <p:spPr bwMode="auto">
          <a:xfrm>
            <a:off x="6591637" y="1049727"/>
            <a:ext cx="4790314" cy="597810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>
              <a:defRPr/>
            </a:pPr>
            <a:r>
              <a:rPr b="1">
                <a:solidFill>
                  <a:srgbClr val="FF0053"/>
                </a:solidFill>
              </a:rPr>
              <a:t>55 из 132</a:t>
            </a:r>
            <a:endParaRPr lang="ru-RU" b="0">
              <a:solidFill>
                <a:schemeClr val="tx1"/>
              </a:solidFill>
            </a:endParaRPr>
          </a:p>
        </p:txBody>
      </p:sp>
      <p:sp>
        <p:nvSpPr>
          <p:cNvPr id="474682657" name="Текст 3"/>
          <p:cNvSpPr>
            <a:spLocks noGrp="1"/>
          </p:cNvSpPr>
          <p:nvPr>
            <p:ph type="body" sz="quarter" idx="18"/>
          </p:nvPr>
        </p:nvSpPr>
        <p:spPr bwMode="auto">
          <a:xfrm>
            <a:off x="6591637" y="1649793"/>
            <a:ext cx="4790314" cy="779602"/>
          </a:xfrm>
        </p:spPr>
        <p:txBody>
          <a:bodyPr/>
          <a:lstStyle/>
          <a:p>
            <a:pPr>
              <a:defRPr/>
            </a:pPr>
            <a:r>
              <a:rPr>
                <a:solidFill>
                  <a:srgbClr val="1C1D22"/>
                </a:solidFill>
              </a:rPr>
              <a:t>правил имеют рабочий экстрактор; 72 ждут экстрактора, 1 справочный, 4 без источника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802416208" name="Текст 4"/>
          <p:cNvSpPr>
            <a:spLocks noGrp="1"/>
          </p:cNvSpPr>
          <p:nvPr>
            <p:ph type="body" sz="quarter" idx="22"/>
          </p:nvPr>
        </p:nvSpPr>
        <p:spPr bwMode="auto">
          <a:xfrm>
            <a:off x="6591637" y="2915797"/>
            <a:ext cx="4790314" cy="563519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>
              <a:defRPr/>
            </a:pPr>
            <a:r>
              <a:rPr b="1">
                <a:solidFill>
                  <a:srgbClr val="FF0053"/>
                </a:solidFill>
              </a:rPr>
              <a:t>OCR: CA 0,794</a:t>
            </a:r>
            <a:endParaRPr lang="ru-RU" b="0">
              <a:solidFill>
                <a:schemeClr val="tx1"/>
              </a:solidFill>
            </a:endParaRPr>
          </a:p>
        </p:txBody>
      </p:sp>
      <p:sp>
        <p:nvSpPr>
          <p:cNvPr id="309289454" name="Текст 5"/>
          <p:cNvSpPr>
            <a:spLocks noGrp="1"/>
          </p:cNvSpPr>
          <p:nvPr>
            <p:ph type="body" sz="quarter" idx="23"/>
          </p:nvPr>
        </p:nvSpPr>
        <p:spPr bwMode="auto">
          <a:xfrm>
            <a:off x="6591637" y="3515862"/>
            <a:ext cx="4790314" cy="869021"/>
          </a:xfrm>
        </p:spPr>
        <p:txBody>
          <a:bodyPr/>
          <a:lstStyle/>
          <a:p>
            <a:pPr>
              <a:defRPr/>
            </a:pPr>
            <a:r>
              <a:rPr>
                <a:solidFill>
                  <a:srgbClr val="1C1D22"/>
                </a:solidFill>
              </a:rPr>
              <a:t>Средняя CA, SILVER n=5 935; нижняя граница Wilson доли строк с CA ≥ 0,97 = 0,632. Порог не взят, гейт I открыт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121864844" name="Текст 6"/>
          <p:cNvSpPr>
            <a:spLocks noGrp="1"/>
          </p:cNvSpPr>
          <p:nvPr>
            <p:ph type="body" sz="quarter" idx="24"/>
          </p:nvPr>
        </p:nvSpPr>
        <p:spPr bwMode="auto">
          <a:xfrm>
            <a:off x="6591637" y="4871732"/>
            <a:ext cx="4790314" cy="597810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>
              <a:defRPr/>
            </a:pPr>
            <a:r>
              <a:rPr b="1">
                <a:solidFill>
                  <a:srgbClr val="FF0053"/>
                </a:solidFill>
              </a:rPr>
              <a:t>18 мс p95</a:t>
            </a:r>
            <a:endParaRPr lang="ru-RU" b="0">
              <a:solidFill>
                <a:schemeClr val="tx1"/>
              </a:solidFill>
            </a:endParaRPr>
          </a:p>
        </p:txBody>
      </p:sp>
      <p:sp>
        <p:nvSpPr>
          <p:cNvPr id="723791391" name="Текст 7"/>
          <p:cNvSpPr>
            <a:spLocks noGrp="1"/>
          </p:cNvSpPr>
          <p:nvPr>
            <p:ph type="body" sz="quarter" idx="25"/>
          </p:nvPr>
        </p:nvSpPr>
        <p:spPr bwMode="auto">
          <a:xfrm>
            <a:off x="6591637" y="5471798"/>
            <a:ext cx="4790314" cy="848014"/>
          </a:xfrm>
        </p:spPr>
        <p:txBody>
          <a:bodyPr/>
          <a:lstStyle/>
          <a:p>
            <a:pPr>
              <a:defRPr/>
            </a:pPr>
            <a:r>
              <a:rPr>
                <a:solidFill>
                  <a:srgbClr val="1C1D22"/>
                </a:solidFill>
              </a:rPr>
              <a:t>k6 /status: 100 VU, 60 с, n = 6 000, 0 ошибок. Инженерный прогон, не SLA</a:t>
            </a:r>
            <a:endParaRPr lang="ru-RU">
              <a:solidFill>
                <a:schemeClr val="tx1"/>
              </a:solidFill>
            </a:endParaRPr>
          </a:p>
        </p:txBody>
      </p:sp>
      <p:graphicFrame>
        <p:nvGraphicFramePr>
          <p:cNvPr id="668511626" name="Диаграмма 9"/>
          <p:cNvGraphicFramePr>
            <a:graphicFrameLocks xmlns:a="http://schemas.openxmlformats.org/drawingml/2006/main"/>
          </p:cNvGraphicFramePr>
          <p:nvPr/>
        </p:nvGraphicFramePr>
        <p:xfrm rot="0">
          <a:off x="346075" y="1424510"/>
          <a:ext cx="5749925" cy="44017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48142109" name="Заголовок 13"/>
          <p:cNvSpPr>
            <a:spLocks noGrp="1"/>
          </p:cNvSpPr>
          <p:nvPr>
            <p:ph type="title"/>
          </p:nvPr>
        </p:nvSpPr>
        <p:spPr bwMode="auto">
          <a:xfrm>
            <a:off x="525817" y="421226"/>
            <a:ext cx="6076188" cy="376138"/>
          </a:xfrm>
        </p:spPr>
        <p:txBody>
          <a:bodyPr/>
          <a:lstStyle/>
          <a:p>
            <a:pPr>
              <a:defRPr/>
            </a:pPr>
            <a:r>
              <a:rPr>
                <a:solidFill/>
              </a:rPr>
              <a:t>ЧЕСТНЫЕ МЕТРИКИ, СРЕЗ 28.09</a:t>
            </a:r>
            <a:endParaRPr lang="ru-RU"/>
          </a:p>
        </p:txBody>
      </p:sp>
      <p:sp>
        <p:nvSpPr>
          <p:cNvPr id="1706338297" name="TextBox 1706338296"/>
          <p:cNvSpPr txBox="1"/>
          <p:nvPr/>
        </p:nvSpPr>
        <p:spPr>
          <a:xfrm>
            <a:off x="521207" y="6419088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1">
                <a:solidFill>
                  <a:srgbClr val="FFD6E4"/>
                </a:solidFill>
                <a:latin typeface="Montserrat"/>
              </a:rPr>
              <a:t>Публичный gold (in-sample, 28.09): матрица 0/6, поиск 0/4 — отказы; строк VIOLATION_PRESENT без разметки нет. Wilson при n=6: [0; 0,39]; для нижней границы ≥ 0,80 нужно n ≥ 16.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0125280" name="Скругленный прямоугольник 7"/>
          <p:cNvSpPr/>
          <p:nvPr/>
        </p:nvSpPr>
        <p:spPr bwMode="auto">
          <a:xfrm>
            <a:off x="4419477" y="1522006"/>
            <a:ext cx="3399397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2087739713" name="Скругленный прямоугольник 8"/>
          <p:cNvSpPr/>
          <p:nvPr/>
        </p:nvSpPr>
        <p:spPr bwMode="auto">
          <a:xfrm>
            <a:off x="8365957" y="1522006"/>
            <a:ext cx="3248506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773781016" name="Скругленный прямоугольник 9"/>
          <p:cNvSpPr/>
          <p:nvPr/>
        </p:nvSpPr>
        <p:spPr bwMode="auto">
          <a:xfrm>
            <a:off x="623888" y="1522006"/>
            <a:ext cx="3248506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275543714" name="Номер слайда 20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r>
              <a:rPr>
                <a:solidFill/>
              </a:rPr>
              <a:t>20</a:t>
            </a:r>
            <a:endParaRPr lang="ru-RU">
              <a:solidFill>
                <a:schemeClr val="accent5"/>
              </a:solidFill>
            </a:endParaRPr>
          </a:p>
        </p:txBody>
      </p:sp>
      <p:sp>
        <p:nvSpPr>
          <p:cNvPr id="861711447" name="Текст 1"/>
          <p:cNvSpPr>
            <a:spLocks noGrp="1"/>
          </p:cNvSpPr>
          <p:nvPr>
            <p:ph type="body" sz="quarter" idx="37"/>
          </p:nvPr>
        </p:nvSpPr>
        <p:spPr bwMode="auto">
          <a:xfrm>
            <a:off x="780565" y="2493074"/>
            <a:ext cx="2965634" cy="423628"/>
          </a:xfrm>
        </p:spPr>
        <p:txBody>
          <a:bodyPr/>
          <a:lstStyle/>
          <a:p>
            <a:pPr>
              <a:defRPr/>
            </a:pPr>
            <a:r>
              <a:rPr b="1">
                <a:solidFill>
                  <a:srgbClr val="1C1D22"/>
                </a:solidFill>
              </a:rPr>
              <a:t>Работает сегодня</a:t>
            </a:r>
            <a:endParaRPr lang="ru-RU" sz="1800">
              <a:solidFill>
                <a:srgbClr val="F92571"/>
              </a:solidFill>
            </a:endParaRPr>
          </a:p>
        </p:txBody>
      </p:sp>
      <p:sp>
        <p:nvSpPr>
          <p:cNvPr id="1851554394" name="Текст 2"/>
          <p:cNvSpPr>
            <a:spLocks noGrp="1"/>
          </p:cNvSpPr>
          <p:nvPr>
            <p:ph type="body" sz="quarter" idx="38"/>
          </p:nvPr>
        </p:nvSpPr>
        <p:spPr bwMode="auto">
          <a:xfrm>
            <a:off x="780565" y="3128740"/>
            <a:ext cx="2965633" cy="2797928"/>
          </a:xfrm>
        </p:spPr>
        <p:txBody>
          <a:bodyPr/>
          <a:lstStyle/>
          <a:p>
            <a:pPr>
              <a:defRPr/>
            </a:pPr>
            <a:r>
              <a:rPr>
                <a:solidFill>
                  <a:srgbClr val="1C1D22"/>
                </a:solidFill>
              </a:rPr>
              <a:t>Стенд одной командой, учебный комплект, карточка с полигоном, решение и пачка CANDIDATE, протокол в 4 форматах, DOCX-таблицы, пакетный прогон и счёт с 95% CI.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815631641" name="Текст 3"/>
          <p:cNvSpPr>
            <a:spLocks noGrp="1"/>
          </p:cNvSpPr>
          <p:nvPr>
            <p:ph type="body" sz="quarter" idx="39"/>
          </p:nvPr>
        </p:nvSpPr>
        <p:spPr bwMode="auto">
          <a:xfrm>
            <a:off x="4623178" y="2493074"/>
            <a:ext cx="3034896" cy="403756"/>
          </a:xfrm>
        </p:spPr>
        <p:txBody>
          <a:bodyPr/>
          <a:lstStyle/>
          <a:p>
            <a:pPr>
              <a:defRPr/>
            </a:pPr>
            <a:r>
              <a:rPr b="1">
                <a:solidFill>
                  <a:srgbClr val="1C1D22"/>
                </a:solidFill>
              </a:rPr>
              <a:t>Ещё не приёмка</a:t>
            </a:r>
            <a:endParaRPr lang="ru-RU" sz="1800">
              <a:solidFill>
                <a:srgbClr val="F92571"/>
              </a:solidFill>
            </a:endParaRPr>
          </a:p>
        </p:txBody>
      </p:sp>
      <p:sp>
        <p:nvSpPr>
          <p:cNvPr id="716769502" name="Текст 4"/>
          <p:cNvSpPr>
            <a:spLocks noGrp="1"/>
          </p:cNvSpPr>
          <p:nvPr>
            <p:ph type="body" sz="quarter" idx="40"/>
          </p:nvPr>
        </p:nvSpPr>
        <p:spPr bwMode="auto">
          <a:xfrm>
            <a:off x="4623178" y="3128740"/>
            <a:ext cx="3034896" cy="2797928"/>
          </a:xfrm>
        </p:spPr>
        <p:txBody>
          <a:bodyPr/>
          <a:lstStyle/>
          <a:p>
            <a:pPr>
              <a:defRPr/>
            </a:pPr>
            <a:r>
              <a:rPr>
                <a:solidFill>
                  <a:srgbClr val="1C1D22"/>
                </a:solidFill>
              </a:rPr>
              <a:t>Гейты I–L открыты: frozen val, 5 сессий инспекторов, XML и вложения PDF, архивы в сервисе, живой РиН, УКЭП, OIDC. DWG не требуется (ответ 10).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278781506" name="Текст 5"/>
          <p:cNvSpPr>
            <a:spLocks noGrp="1"/>
          </p:cNvSpPr>
          <p:nvPr>
            <p:ph type="body" sz="quarter" idx="41"/>
          </p:nvPr>
        </p:nvSpPr>
        <p:spPr bwMode="auto">
          <a:xfrm>
            <a:off x="8547959" y="2493074"/>
            <a:ext cx="2945464" cy="403913"/>
          </a:xfrm>
        </p:spPr>
        <p:txBody>
          <a:bodyPr/>
          <a:lstStyle/>
          <a:p>
            <a:pPr>
              <a:defRPr/>
            </a:pPr>
            <a:r>
              <a:rPr b="1">
                <a:solidFill>
                  <a:srgbClr val="1C1D22"/>
                </a:solidFill>
              </a:rPr>
              <a:t>Право на отказ</a:t>
            </a:r>
            <a:endParaRPr lang="ru-RU" sz="1800">
              <a:solidFill>
                <a:srgbClr val="F92571"/>
              </a:solidFill>
            </a:endParaRPr>
          </a:p>
        </p:txBody>
      </p:sp>
      <p:sp>
        <p:nvSpPr>
          <p:cNvPr id="1791611182" name="Текст 6"/>
          <p:cNvSpPr>
            <a:spLocks noGrp="1"/>
          </p:cNvSpPr>
          <p:nvPr>
            <p:ph type="body" sz="quarter" idx="42"/>
          </p:nvPr>
        </p:nvSpPr>
        <p:spPr bwMode="auto">
          <a:xfrm>
            <a:off x="8547959" y="3128740"/>
            <a:ext cx="2945464" cy="2797928"/>
          </a:xfrm>
        </p:spPr>
        <p:txBody>
          <a:bodyPr/>
          <a:lstStyle/>
          <a:p>
            <a:pPr>
              <a:defRPr/>
            </a:pPr>
            <a:r>
              <a:rPr>
                <a:solidFill>
                  <a:srgbClr val="1C1D22"/>
                </a:solidFill>
              </a:rPr>
              <a:t>Не читается: говорим прямо. MISSING_EVIDENCE, LOW_QUALITY, ABSTAIN вместо угаданного вердикта.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245658108" name="Заголовок 13"/>
          <p:cNvSpPr>
            <a:spLocks noGrp="1"/>
          </p:cNvSpPr>
          <p:nvPr>
            <p:ph type="title"/>
          </p:nvPr>
        </p:nvSpPr>
        <p:spPr bwMode="auto">
          <a:xfrm>
            <a:off x="525816" y="335426"/>
            <a:ext cx="11331221" cy="376138"/>
          </a:xfrm>
        </p:spPr>
        <p:txBody>
          <a:bodyPr/>
          <a:lstStyle/>
          <a:p>
            <a:pPr>
              <a:defRPr/>
            </a:pPr>
            <a:r>
              <a:rPr>
                <a:solidFill/>
              </a:rPr>
              <a:t>ЧТО УМЕЕМ СЕГОДНЯ</a:t>
            </a:r>
            <a:endParaRPr lang="ru-RU">
              <a:solidFill>
                <a:schemeClr val="accent5"/>
              </a:solidFill>
            </a:endParaRPr>
          </a:p>
        </p:txBody>
      </p:sp>
      <p:sp>
        <p:nvSpPr>
          <p:cNvPr id="1965301476" name="Текст 14"/>
          <p:cNvSpPr>
            <a:spLocks noGrp="1"/>
          </p:cNvSpPr>
          <p:nvPr>
            <p:ph type="body" sz="quarter" idx="49"/>
          </p:nvPr>
        </p:nvSpPr>
        <p:spPr bwMode="auto">
          <a:xfrm>
            <a:off x="780565" y="1772415"/>
            <a:ext cx="1311031" cy="601141"/>
          </a:xfrm>
        </p:spPr>
        <p:txBody>
          <a:bodyPr/>
          <a:lstStyle/>
          <a:p>
            <a:pPr>
              <a:defRPr/>
            </a:pPr>
            <a:r>
              <a:rPr b="1">
                <a:solidFill>
                  <a:srgbClr val="FF0053"/>
                </a:solidFill>
              </a:rPr>
              <a:t>01</a:t>
            </a:r>
            <a:endParaRPr lang="ru-RU" sz="4400" b="1">
              <a:solidFill>
                <a:schemeClr val="accent5"/>
              </a:solidFill>
            </a:endParaRPr>
          </a:p>
        </p:txBody>
      </p:sp>
      <p:sp>
        <p:nvSpPr>
          <p:cNvPr id="288500642" name="Текст 15"/>
          <p:cNvSpPr>
            <a:spLocks noGrp="1"/>
          </p:cNvSpPr>
          <p:nvPr>
            <p:ph type="body" sz="quarter" idx="50"/>
          </p:nvPr>
        </p:nvSpPr>
        <p:spPr bwMode="auto">
          <a:xfrm>
            <a:off x="4615219" y="1766200"/>
            <a:ext cx="1311031" cy="572942"/>
          </a:xfrm>
        </p:spPr>
        <p:txBody>
          <a:bodyPr/>
          <a:lstStyle/>
          <a:p>
            <a:pPr>
              <a:defRPr/>
            </a:pPr>
            <a:r>
              <a:rPr b="1">
                <a:solidFill>
                  <a:srgbClr val="FF0053"/>
                </a:solidFill>
              </a:rPr>
              <a:t>02</a:t>
            </a:r>
            <a:endParaRPr lang="ru-RU" sz="4400" b="1">
              <a:solidFill>
                <a:schemeClr val="accent5"/>
              </a:solidFill>
            </a:endParaRPr>
          </a:p>
        </p:txBody>
      </p:sp>
      <p:sp>
        <p:nvSpPr>
          <p:cNvPr id="2072486245" name="Текст 16"/>
          <p:cNvSpPr>
            <a:spLocks noGrp="1"/>
          </p:cNvSpPr>
          <p:nvPr>
            <p:ph type="body" sz="quarter" idx="51"/>
          </p:nvPr>
        </p:nvSpPr>
        <p:spPr bwMode="auto">
          <a:xfrm>
            <a:off x="8547959" y="1766043"/>
            <a:ext cx="1311031" cy="573165"/>
          </a:xfrm>
        </p:spPr>
        <p:txBody>
          <a:bodyPr/>
          <a:lstStyle/>
          <a:p>
            <a:pPr>
              <a:defRPr/>
            </a:pPr>
            <a:r>
              <a:rPr b="1">
                <a:solidFill>
                  <a:srgbClr val="FF0053"/>
                </a:solidFill>
              </a:rPr>
              <a:t>03</a:t>
            </a:r>
            <a:endParaRPr lang="ru-RU" sz="4400" b="1">
              <a:solidFill>
                <a:schemeClr val="accent5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454368" name="Прямоугольник 29"/>
          <p:cNvSpPr/>
          <p:nvPr/>
        </p:nvSpPr>
        <p:spPr bwMode="auto">
          <a:xfrm>
            <a:off x="0" y="0"/>
            <a:ext cx="6456363" cy="6858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994751754" name="Объект 28"/>
          <p:cNvSpPr>
            <a:spLocks noGrp="1"/>
          </p:cNvSpPr>
          <p:nvPr>
            <p:ph idx="1"/>
          </p:nvPr>
        </p:nvSpPr>
        <p:spPr bwMode="auto">
          <a:xfrm>
            <a:off x="521133" y="1263123"/>
            <a:ext cx="5574868" cy="4937652"/>
          </a:xfrm>
        </p:spPr>
        <p:txBody>
          <a:bodyPr/>
          <a:lstStyle/>
          <a:p>
            <a:pPr>
              <a:defRPr/>
            </a:pPr>
            <a:r>
              <a:rPr b="1" sz="1800">
                <a:solidFill>
                  <a:srgbClr val="2D1451"/>
                </a:solidFill>
              </a:rPr>
              <a:t>Проверка жюри из комплекта</a:t>
            </a:r>
            <a:endParaRPr lang="ru-RU">
              <a:solidFill>
                <a:schemeClr val="tx1"/>
              </a:solidFill>
            </a:endParaRPr>
          </a:p>
          <a:p>
            <a:pPr>
              <a:defRPr/>
            </a:pPr>
            <a:r>
              <a:rPr>
                <a:solidFill>
                  <a:srgbClr val="1C1D22"/>
                </a:solidFill>
              </a:rPr>
              <a:t/>
            </a:r>
            <a:endParaRPr lang="ru-RU">
              <a:solidFill>
                <a:schemeClr val="tx1"/>
              </a:solidFill>
            </a:endParaRPr>
          </a:p>
          <a:p>
            <a:pPr>
              <a:defRPr/>
            </a:pPr>
            <a:r>
              <a:rPr sz="1600">
                <a:solidFill>
                  <a:srgbClr val="1C1D22"/>
                </a:solidFill>
                <a:latin typeface="Consolas"/>
              </a:rPr>
              <a:t>$ docker compose -f docker-compose.yml \</a:t>
            </a:r>
            <a:endParaRPr lang="ru-RU">
              <a:solidFill>
                <a:schemeClr val="tx1"/>
              </a:solidFill>
            </a:endParaRPr>
          </a:p>
          <a:p>
            <a:pPr>
              <a:defRPr/>
            </a:pPr>
            <a:r>
              <a:rPr sz="1600">
                <a:solidFill>
                  <a:srgbClr val="1C1D22"/>
                </a:solidFill>
                <a:latin typeface="Consolas"/>
              </a:rPr>
              <a:t>    -f docker-compose.demo.yml up -d --build</a:t>
            </a:r>
            <a:endParaRPr lang="ru-RU">
              <a:solidFill>
                <a:schemeClr val="tx1"/>
              </a:solidFill>
            </a:endParaRPr>
          </a:p>
          <a:p>
            <a:pPr>
              <a:defRPr/>
            </a:pPr>
            <a:r>
              <a:rPr sz="1600">
                <a:solidFill>
                  <a:srgbClr val="1C1D22"/>
                </a:solidFill>
                <a:latin typeface="Consolas"/>
              </a:rPr>
              <a:t>$ curl :3000/api/v1/healthz  → 200</a:t>
            </a:r>
            <a:endParaRPr lang="ru-RU">
              <a:solidFill>
                <a:schemeClr val="tx1"/>
              </a:solidFill>
            </a:endParaRPr>
          </a:p>
          <a:p>
            <a:pPr>
              <a:defRPr/>
            </a:pPr>
            <a:r>
              <a:rPr sz="1600">
                <a:solidFill>
                  <a:srgbClr val="1C1D22"/>
                </a:solidFill>
                <a:latin typeface="Consolas"/>
              </a:rPr>
              <a:t>$ docker compose --profile runner run --rm package-runner</a:t>
            </a:r>
            <a:endParaRPr lang="ru-RU">
              <a:solidFill>
                <a:schemeClr val="tx1"/>
              </a:solidFill>
            </a:endParaRPr>
          </a:p>
          <a:p>
            <a:pPr>
              <a:defRPr/>
            </a:pPr>
            <a:r>
              <a:rPr sz="1600">
                <a:solidFill>
                  <a:srgbClr val="1C1D22"/>
                </a:solidFill>
                <a:latin typeface="Consolas"/>
              </a:rPr>
              <a:t>$ python -m kontur.cli.score --submissions out/</a:t>
            </a:r>
            <a:endParaRPr lang="ru-RU">
              <a:solidFill>
                <a:schemeClr val="tx1"/>
              </a:solidFill>
            </a:endParaRPr>
          </a:p>
          <a:p>
            <a:pPr>
              <a:defRPr/>
            </a:pPr>
            <a:r>
              <a:rPr>
                <a:solidFill>
                  <a:srgbClr val="1C1D22"/>
                </a:solidFill>
              </a:rPr>
              <a:t>  → n и 95% CI; порог ТЗ не объявляется взятым</a:t>
            </a:r>
            <a:endParaRPr lang="ru-RU">
              <a:solidFill>
                <a:schemeClr val="tx1"/>
              </a:solidFill>
            </a:endParaRPr>
          </a:p>
          <a:p>
            <a:pPr>
              <a:defRPr/>
            </a:pPr>
            <a:r>
              <a:rPr>
                <a:solidFill>
                  <a:srgbClr val="1C1D22"/>
                </a:solidFill>
              </a:rPr>
              <a:t/>
            </a:r>
            <a:endParaRPr lang="ru-RU">
              <a:solidFill>
                <a:schemeClr val="tx1"/>
              </a:solidFill>
            </a:endParaRPr>
          </a:p>
          <a:p>
            <a:pPr>
              <a:defRPr/>
            </a:pPr>
            <a:r>
              <a:rPr>
                <a:solidFill>
                  <a:srgbClr val="1C1D22"/>
                </a:solidFill>
              </a:rPr>
              <a:t>Офлайн: docker-compose.offline.yml, веса OCR в vendor/ocr со сверкой SHA-256.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2065220022" name="Номер слайда 20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r>
              <a:rPr>
                <a:solidFill/>
              </a:rPr>
              <a:t>21</a:t>
            </a:r>
            <a:endParaRPr lang="ru-RU"/>
          </a:p>
        </p:txBody>
      </p:sp>
      <p:sp>
        <p:nvSpPr>
          <p:cNvPr id="1029284307" name="Заголовок 27"/>
          <p:cNvSpPr>
            <a:spLocks noGrp="1"/>
          </p:cNvSpPr>
          <p:nvPr>
            <p:ph type="title"/>
          </p:nvPr>
        </p:nvSpPr>
        <p:spPr bwMode="auto">
          <a:xfrm>
            <a:off x="527444" y="395288"/>
            <a:ext cx="5574868" cy="425729"/>
          </a:xfrm>
        </p:spPr>
        <p:txBody>
          <a:bodyPr/>
          <a:lstStyle/>
          <a:p>
            <a:pPr>
              <a:defRPr/>
            </a:pPr>
            <a:r>
              <a:rPr>
                <a:solidFill>
                  <a:srgbClr val="2D1451"/>
                </a:solidFill>
              </a:rPr>
              <a:t>ЗАКРЫТЫЙ КОНТУР</a:t>
            </a:r>
            <a:endParaRPr lang="ru-RU" sz="2000">
              <a:solidFill>
                <a:schemeClr val="accent5"/>
              </a:solidFill>
            </a:endParaRPr>
          </a:p>
        </p:txBody>
      </p:sp>
      <p:sp>
        <p:nvSpPr>
          <p:cNvPr id="2065220023" name="TextBox 2065220022"/>
          <p:cNvSpPr txBox="1"/>
          <p:nvPr/>
        </p:nvSpPr>
        <p:spPr>
          <a:xfrm>
            <a:off x="6812280" y="1371600"/>
            <a:ext cx="4892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FFFFFF"/>
                </a:solidFill>
                <a:latin typeface="Montserrat"/>
              </a:rPr>
              <a:t>ЧТО ПОЛУЧАЕТ ЖЮРИ</a:t>
            </a:r>
          </a:p>
          <a:p>
            <a:r>
              <a:rPr sz="1200" b="0" i="0">
                <a:solidFill>
                  <a:srgbClr val="1C1D22"/>
                </a:solidFill>
                <a:latin typeface="Montserrat"/>
              </a:rPr>
              <a:t/>
            </a:r>
          </a:p>
          <a:p>
            <a:r>
              <a:rPr sz="1400" b="0" i="0">
                <a:solidFill>
                  <a:srgbClr val="FFFFFF"/>
                </a:solidFill>
                <a:latin typeface="Montserrat"/>
              </a:rPr>
              <a:t>· Compose, lock-файлы по хешам, healthcheck</a:t>
            </a:r>
          </a:p>
          <a:p>
            <a:r>
              <a:rPr sz="1400" b="0" i="0">
                <a:solidFill>
                  <a:srgbClr val="FFFFFF"/>
                </a:solidFill>
                <a:latin typeface="Montserrat"/>
              </a:rPr>
              <a:t>· package-runner: submission, protocol, manifest</a:t>
            </a:r>
          </a:p>
          <a:p>
            <a:r>
              <a:rPr sz="1400" b="0" i="0">
                <a:solidFill>
                  <a:srgbClr val="FFFFFF"/>
                </a:solidFill>
                <a:latin typeface="Montserrat"/>
              </a:rPr>
              <a:t>· Открытый API: OpenAPI 3.1 и 3.0 (contracts/)</a:t>
            </a:r>
          </a:p>
          <a:p>
            <a:r>
              <a:rPr sz="1400" b="0" i="0">
                <a:solidFill>
                  <a:srgbClr val="FFFFFF"/>
                </a:solidFill>
                <a:latin typeface="Montserrat"/>
              </a:rPr>
              <a:t>· Обмен с РиН: outbox mock, ACK нет</a:t>
            </a:r>
          </a:p>
          <a:p>
            <a:r>
              <a:rPr sz="1200" b="0" i="0">
                <a:solidFill>
                  <a:srgbClr val="1C1D22"/>
                </a:solidFill>
                <a:latin typeface="Montserrat"/>
              </a:rPr>
              <a:t/>
            </a:r>
          </a:p>
          <a:p>
            <a:r>
              <a:rPr sz="1500" b="1" i="0">
                <a:solidFill>
                  <a:srgbClr val="FFFFFF"/>
                </a:solidFill>
                <a:latin typeface="Montserrat"/>
              </a:rPr>
              <a:t>СТЕК</a:t>
            </a:r>
          </a:p>
          <a:p>
            <a:r>
              <a:rPr sz="1200" b="0" i="0">
                <a:solidFill>
                  <a:srgbClr val="1C1D22"/>
                </a:solidFill>
                <a:latin typeface="Montserrat"/>
              </a:rPr>
              <a:t/>
            </a:r>
          </a:p>
          <a:p>
            <a:r>
              <a:rPr sz="1400" b="0" i="0">
                <a:solidFill>
                  <a:srgbClr val="FFFFFF"/>
                </a:solidFill>
                <a:latin typeface="Montserrat"/>
              </a:rPr>
              <a:t>Python · FastAPI · React+Vite+TS</a:t>
            </a:r>
          </a:p>
          <a:p>
            <a:r>
              <a:rPr sz="1400" b="0" i="0">
                <a:solidFill>
                  <a:srgbClr val="FFFFFF"/>
                </a:solidFill>
                <a:latin typeface="Montserrat"/>
              </a:rPr>
              <a:t>PostgreSQL · Redis · RabbitMQ · MinIO · Node.js</a:t>
            </a:r>
          </a:p>
          <a:p>
            <a:r>
              <a:rPr sz="1400" b="0" i="0">
                <a:solidFill>
                  <a:srgbClr val="FFFFFF"/>
                </a:solidFill>
                <a:latin typeface="Montserrat"/>
              </a:rPr>
              <a:t>Linux, только CPU. NVIDIA не нужна.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510125280" name="Скругленный прямоугольник 7"/>
          <p:cNvSpPr/>
          <p:nvPr/>
        </p:nvSpPr>
        <p:spPr bwMode="auto">
          <a:xfrm>
            <a:off x="4419477" y="1522006"/>
            <a:ext cx="3399397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2087739713" name="Скругленный прямоугольник 8"/>
          <p:cNvSpPr/>
          <p:nvPr/>
        </p:nvSpPr>
        <p:spPr bwMode="auto">
          <a:xfrm>
            <a:off x="8365957" y="1522006"/>
            <a:ext cx="3248506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773781016" name="Скругленный прямоугольник 9"/>
          <p:cNvSpPr/>
          <p:nvPr/>
        </p:nvSpPr>
        <p:spPr bwMode="auto">
          <a:xfrm>
            <a:off x="623888" y="1522006"/>
            <a:ext cx="3248506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275543714" name="Номер слайда 20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r>
              <a:rPr>
                <a:solidFill/>
              </a:rPr>
              <a:t>22</a:t>
            </a:r>
            <a:endParaRPr lang="ru-RU">
              <a:solidFill>
                <a:schemeClr val="accent5"/>
              </a:solidFill>
            </a:endParaRPr>
          </a:p>
        </p:txBody>
      </p:sp>
      <p:sp>
        <p:nvSpPr>
          <p:cNvPr id="861711447" name="Текст 1"/>
          <p:cNvSpPr>
            <a:spLocks noGrp="1"/>
          </p:cNvSpPr>
          <p:nvPr>
            <p:ph type="body" sz="quarter" idx="37"/>
          </p:nvPr>
        </p:nvSpPr>
        <p:spPr bwMode="auto">
          <a:xfrm>
            <a:off x="780565" y="2493074"/>
            <a:ext cx="2965634" cy="423628"/>
          </a:xfrm>
        </p:spPr>
        <p:txBody>
          <a:bodyPr/>
          <a:lstStyle/>
          <a:p>
            <a:pPr>
              <a:defRPr/>
            </a:pPr>
            <a:r>
              <a:rPr b="1">
                <a:solidFill>
                  <a:srgbClr val="1C1D22"/>
                </a:solidFill>
              </a:rPr>
              <a:t>Недели 1–2</a:t>
            </a:r>
            <a:endParaRPr lang="ru-RU" sz="1800">
              <a:solidFill>
                <a:srgbClr val="F92571"/>
              </a:solidFill>
            </a:endParaRPr>
          </a:p>
        </p:txBody>
      </p:sp>
      <p:sp>
        <p:nvSpPr>
          <p:cNvPr id="1851554394" name="Текст 2"/>
          <p:cNvSpPr>
            <a:spLocks noGrp="1"/>
          </p:cNvSpPr>
          <p:nvPr>
            <p:ph type="body" sz="quarter" idx="38"/>
          </p:nvPr>
        </p:nvSpPr>
        <p:spPr bwMode="auto">
          <a:xfrm>
            <a:off x="780565" y="3128740"/>
            <a:ext cx="2965633" cy="2797928"/>
          </a:xfrm>
        </p:spPr>
        <p:txBody>
          <a:bodyPr/>
          <a:lstStyle/>
          <a:p>
            <a:pPr>
              <a:defRPr/>
            </a:pPr>
            <a:r>
              <a:rPr>
                <a:solidFill>
                  <a:srgbClr val="1C1D22"/>
                </a:solidFill>
              </a:rPr>
              <a:t>Замороженная выборка: комплекты ПД/РД/ИД по 3–5 объектам, фиксация хэшами.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815631641" name="Текст 3"/>
          <p:cNvSpPr>
            <a:spLocks noGrp="1"/>
          </p:cNvSpPr>
          <p:nvPr>
            <p:ph type="body" sz="quarter" idx="39"/>
          </p:nvPr>
        </p:nvSpPr>
        <p:spPr bwMode="auto">
          <a:xfrm>
            <a:off x="4623178" y="2493074"/>
            <a:ext cx="3034896" cy="403756"/>
          </a:xfrm>
        </p:spPr>
        <p:txBody>
          <a:bodyPr/>
          <a:lstStyle/>
          <a:p>
            <a:pPr>
              <a:defRPr/>
            </a:pPr>
            <a:r>
              <a:rPr b="1">
                <a:solidFill>
                  <a:srgbClr val="1C1D22"/>
                </a:solidFill>
              </a:rPr>
              <a:t>Недели 3–6</a:t>
            </a:r>
            <a:endParaRPr lang="ru-RU" sz="1800">
              <a:solidFill>
                <a:srgbClr val="F92571"/>
              </a:solidFill>
            </a:endParaRPr>
          </a:p>
        </p:txBody>
      </p:sp>
      <p:sp>
        <p:nvSpPr>
          <p:cNvPr id="716769502" name="Текст 4"/>
          <p:cNvSpPr>
            <a:spLocks noGrp="1"/>
          </p:cNvSpPr>
          <p:nvPr>
            <p:ph type="body" sz="quarter" idx="40"/>
          </p:nvPr>
        </p:nvSpPr>
        <p:spPr bwMode="auto">
          <a:xfrm>
            <a:off x="4623178" y="3128740"/>
            <a:ext cx="3034896" cy="2797928"/>
          </a:xfrm>
        </p:spPr>
        <p:txBody>
          <a:bodyPr/>
          <a:lstStyle/>
          <a:p>
            <a:pPr>
              <a:defRPr/>
            </a:pPr>
            <a:r>
              <a:rPr>
                <a:solidFill>
                  <a:srgbClr val="1C1D22"/>
                </a:solidFill>
              </a:rPr>
              <a:t>Табличный и графический контур для 72 правил без экстрактора, скан-конвейер; 5 сессий с инспекторами.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278781506" name="Текст 5"/>
          <p:cNvSpPr>
            <a:spLocks noGrp="1"/>
          </p:cNvSpPr>
          <p:nvPr>
            <p:ph type="body" sz="quarter" idx="41"/>
          </p:nvPr>
        </p:nvSpPr>
        <p:spPr bwMode="auto">
          <a:xfrm>
            <a:off x="8547959" y="2493074"/>
            <a:ext cx="2945464" cy="403913"/>
          </a:xfrm>
        </p:spPr>
        <p:txBody>
          <a:bodyPr/>
          <a:lstStyle/>
          <a:p>
            <a:pPr>
              <a:defRPr/>
            </a:pPr>
            <a:r>
              <a:rPr b="1">
                <a:solidFill>
                  <a:srgbClr val="1C1D22"/>
                </a:solidFill>
              </a:rPr>
              <a:t>Недели 7–8</a:t>
            </a:r>
            <a:endParaRPr lang="ru-RU" sz="1800">
              <a:solidFill>
                <a:srgbClr val="F92571"/>
              </a:solidFill>
            </a:endParaRPr>
          </a:p>
        </p:txBody>
      </p:sp>
      <p:sp>
        <p:nvSpPr>
          <p:cNvPr id="1791611182" name="Текст 6"/>
          <p:cNvSpPr>
            <a:spLocks noGrp="1"/>
          </p:cNvSpPr>
          <p:nvPr>
            <p:ph type="body" sz="quarter" idx="42"/>
          </p:nvPr>
        </p:nvSpPr>
        <p:spPr bwMode="auto">
          <a:xfrm>
            <a:off x="8547959" y="3128740"/>
            <a:ext cx="2945464" cy="2797928"/>
          </a:xfrm>
        </p:spPr>
        <p:txBody>
          <a:bodyPr/>
          <a:lstStyle/>
          <a:p>
            <a:pPr>
              <a:defRPr/>
            </a:pPr>
            <a:r>
              <a:rPr>
                <a:solidFill>
                  <a:srgbClr val="1C1D22"/>
                </a:solidFill>
              </a:rPr>
              <a:t>Акт: P/R/F1, FPR с 95% CI по порогам ТЗ; обмен с РиН, УКЭП.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245658108" name="Заголовок 13"/>
          <p:cNvSpPr>
            <a:spLocks noGrp="1"/>
          </p:cNvSpPr>
          <p:nvPr>
            <p:ph type="title"/>
          </p:nvPr>
        </p:nvSpPr>
        <p:spPr bwMode="auto">
          <a:xfrm>
            <a:off x="525816" y="335426"/>
            <a:ext cx="11331221" cy="376138"/>
          </a:xfrm>
        </p:spPr>
        <p:txBody>
          <a:bodyPr/>
          <a:lstStyle/>
          <a:p>
            <a:pPr>
              <a:defRPr/>
            </a:pPr>
            <a:r>
              <a:rPr>
                <a:solidFill>
                  <a:srgbClr val="FFFFFF"/>
                </a:solidFill>
              </a:rPr>
              <a:t>ПИЛОТ: 8 НЕДЕЛЬ</a:t>
            </a:r>
            <a:endParaRPr lang="ru-RU">
              <a:solidFill>
                <a:schemeClr val="accent5"/>
              </a:solidFill>
            </a:endParaRPr>
          </a:p>
        </p:txBody>
      </p:sp>
      <p:sp>
        <p:nvSpPr>
          <p:cNvPr id="1965301476" name="Текст 14"/>
          <p:cNvSpPr>
            <a:spLocks noGrp="1"/>
          </p:cNvSpPr>
          <p:nvPr>
            <p:ph type="body" sz="quarter" idx="49"/>
          </p:nvPr>
        </p:nvSpPr>
        <p:spPr bwMode="auto">
          <a:xfrm>
            <a:off x="780565" y="1772415"/>
            <a:ext cx="1311031" cy="601141"/>
          </a:xfrm>
        </p:spPr>
        <p:txBody>
          <a:bodyPr/>
          <a:lstStyle/>
          <a:p>
            <a:pPr>
              <a:defRPr/>
            </a:pPr>
            <a:r>
              <a:rPr b="1">
                <a:solidFill>
                  <a:srgbClr val="FF0053"/>
                </a:solidFill>
              </a:rPr>
              <a:t>01</a:t>
            </a:r>
            <a:endParaRPr lang="ru-RU" sz="4400" b="1">
              <a:solidFill>
                <a:schemeClr val="accent5"/>
              </a:solidFill>
            </a:endParaRPr>
          </a:p>
        </p:txBody>
      </p:sp>
      <p:sp>
        <p:nvSpPr>
          <p:cNvPr id="288500642" name="Текст 15"/>
          <p:cNvSpPr>
            <a:spLocks noGrp="1"/>
          </p:cNvSpPr>
          <p:nvPr>
            <p:ph type="body" sz="quarter" idx="50"/>
          </p:nvPr>
        </p:nvSpPr>
        <p:spPr bwMode="auto">
          <a:xfrm>
            <a:off x="4615219" y="1766200"/>
            <a:ext cx="1311031" cy="572942"/>
          </a:xfrm>
        </p:spPr>
        <p:txBody>
          <a:bodyPr/>
          <a:lstStyle/>
          <a:p>
            <a:pPr>
              <a:defRPr/>
            </a:pPr>
            <a:r>
              <a:rPr b="1">
                <a:solidFill>
                  <a:srgbClr val="FF0053"/>
                </a:solidFill>
              </a:rPr>
              <a:t>02</a:t>
            </a:r>
            <a:endParaRPr lang="ru-RU" sz="4400" b="1">
              <a:solidFill>
                <a:schemeClr val="accent5"/>
              </a:solidFill>
            </a:endParaRPr>
          </a:p>
        </p:txBody>
      </p:sp>
      <p:sp>
        <p:nvSpPr>
          <p:cNvPr id="2072486245" name="Текст 16"/>
          <p:cNvSpPr>
            <a:spLocks noGrp="1"/>
          </p:cNvSpPr>
          <p:nvPr>
            <p:ph type="body" sz="quarter" idx="51"/>
          </p:nvPr>
        </p:nvSpPr>
        <p:spPr bwMode="auto">
          <a:xfrm>
            <a:off x="8547959" y="1766043"/>
            <a:ext cx="1311031" cy="573165"/>
          </a:xfrm>
        </p:spPr>
        <p:txBody>
          <a:bodyPr/>
          <a:lstStyle/>
          <a:p>
            <a:pPr>
              <a:defRPr/>
            </a:pPr>
            <a:r>
              <a:rPr b="1">
                <a:solidFill>
                  <a:srgbClr val="FF0053"/>
                </a:solidFill>
              </a:rPr>
              <a:t>03</a:t>
            </a:r>
            <a:endParaRPr lang="ru-RU" sz="4400" b="1">
              <a:solidFill>
                <a:schemeClr val="accent5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542862613" name="Скругленный прямоугольник 1"/>
          <p:cNvSpPr/>
          <p:nvPr/>
        </p:nvSpPr>
        <p:spPr bwMode="auto">
          <a:xfrm>
            <a:off x="346075" y="324562"/>
            <a:ext cx="5797296" cy="620919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982014152" name="Скругленный прямоугольник 16"/>
          <p:cNvSpPr/>
          <p:nvPr/>
        </p:nvSpPr>
        <p:spPr bwMode="auto">
          <a:xfrm>
            <a:off x="5951744" y="1366423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91388613" name="Скругленный прямоугольник 17"/>
          <p:cNvSpPr/>
          <p:nvPr/>
        </p:nvSpPr>
        <p:spPr bwMode="auto">
          <a:xfrm>
            <a:off x="5951744" y="2377094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633510201" name="Скругленный прямоугольник 18"/>
          <p:cNvSpPr/>
          <p:nvPr/>
        </p:nvSpPr>
        <p:spPr bwMode="auto">
          <a:xfrm>
            <a:off x="5951744" y="3387765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12421930" name="Скругленный прямоугольник 22"/>
          <p:cNvSpPr/>
          <p:nvPr/>
        </p:nvSpPr>
        <p:spPr bwMode="auto">
          <a:xfrm>
            <a:off x="5951744" y="4398436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666391307" name="Скругленный прямоугольник 23"/>
          <p:cNvSpPr/>
          <p:nvPr/>
        </p:nvSpPr>
        <p:spPr bwMode="auto">
          <a:xfrm>
            <a:off x="5951744" y="5409107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1871517961" name="Скругленный прямоугольник 14"/>
          <p:cNvSpPr/>
          <p:nvPr/>
        </p:nvSpPr>
        <p:spPr bwMode="auto">
          <a:xfrm>
            <a:off x="346076" y="1366423"/>
            <a:ext cx="5389562" cy="4834351"/>
          </a:xfrm>
          <a:prstGeom prst="roundRect">
            <a:avLst>
              <a:gd name="adj" fmla="val 291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2068307345" name="Текст 3"/>
          <p:cNvSpPr>
            <a:spLocks noGrp="1"/>
          </p:cNvSpPr>
          <p:nvPr>
            <p:ph type="body" sz="quarter" idx="14"/>
          </p:nvPr>
        </p:nvSpPr>
        <p:spPr bwMode="auto">
          <a:xfrm>
            <a:off x="623887" y="1732103"/>
            <a:ext cx="4734174" cy="4139307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lstStyle/>
          <a:p>
            <a:pPr algn="l">
              <a:defRPr/>
            </a:pPr>
            <a:r>
              <a:rPr b="1" sz="1800">
                <a:solidFill>
                  <a:srgbClr val="2D1451"/>
                </a:solidFill>
              </a:rPr>
              <a:t>Пилот удался, если:</a:t>
            </a:r>
            <a:endParaRPr lang="ru-RU" sz="3600" b="1">
              <a:solidFill>
                <a:schemeClr val="tx1"/>
              </a:solidFill>
            </a:endParaRPr>
          </a:p>
          <a:p>
            <a:pPr algn="l">
              <a:defRPr/>
            </a:pPr>
            <a:r>
              <a:rPr>
                <a:solidFill>
                  <a:srgbClr val="1C1D22"/>
                </a:solidFill>
              </a:rPr>
              <a:t/>
            </a:r>
            <a:endParaRPr lang="ru-RU" sz="3600" b="1">
              <a:solidFill>
                <a:schemeClr val="tx1"/>
              </a:solidFill>
            </a:endParaRPr>
          </a:p>
          <a:p>
            <a:pPr algn="l">
              <a:defRPr/>
            </a:pPr>
            <a:r>
              <a:rPr>
                <a:solidFill>
                  <a:srgbClr val="1C1D22"/>
                </a:solidFill>
              </a:rPr>
              <a:t>· нижняя граница 95% CI по критическим параметрам ≥ 0,80</a:t>
            </a:r>
            <a:endParaRPr lang="ru-RU" sz="3600" b="1">
              <a:solidFill>
                <a:schemeClr val="tx1"/>
              </a:solidFill>
            </a:endParaRPr>
          </a:p>
          <a:p>
            <a:pPr algn="l">
              <a:defRPr/>
            </a:pPr>
            <a:r>
              <a:rPr>
                <a:solidFill>
                  <a:srgbClr val="1C1D22"/>
                </a:solidFill>
              </a:rPr>
              <a:t>· FPR ≤ 0,10 с учётом устаревших редакций</a:t>
            </a:r>
            <a:endParaRPr lang="ru-RU" sz="3600" b="1">
              <a:solidFill>
                <a:schemeClr val="tx1"/>
              </a:solidFill>
            </a:endParaRPr>
          </a:p>
          <a:p>
            <a:pPr algn="l">
              <a:defRPr/>
            </a:pPr>
            <a:r>
              <a:rPr>
                <a:solidFill>
                  <a:srgbClr val="1C1D22"/>
                </a:solidFill>
              </a:rPr>
              <a:t>· протокол ≤ 30 минут</a:t>
            </a:r>
            <a:endParaRPr lang="ru-RU" sz="3600" b="1">
              <a:solidFill>
                <a:schemeClr val="tx1"/>
              </a:solidFill>
            </a:endParaRPr>
          </a:p>
          <a:p>
            <a:pPr algn="l">
              <a:defRPr/>
            </a:pPr>
            <a:r>
              <a:rPr>
                <a:solidFill>
                  <a:srgbClr val="1C1D22"/>
                </a:solidFill>
              </a:rPr>
              <a:t>· ни одного статуса, поставленного моделью</a:t>
            </a:r>
            <a:endParaRPr lang="ru-RU" sz="3600" b="1">
              <a:solidFill>
                <a:schemeClr val="tx1"/>
              </a:solidFill>
            </a:endParaRPr>
          </a:p>
        </p:txBody>
      </p:sp>
      <p:sp>
        <p:nvSpPr>
          <p:cNvPr id="90602484" name="Текст 4"/>
          <p:cNvSpPr>
            <a:spLocks noGrp="1"/>
          </p:cNvSpPr>
          <p:nvPr>
            <p:ph type="body" sz="quarter" idx="15"/>
          </p:nvPr>
        </p:nvSpPr>
        <p:spPr bwMode="auto">
          <a:xfrm>
            <a:off x="6172730" y="1445505"/>
            <a:ext cx="5460470" cy="600112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>
              <a:defRPr/>
            </a:pPr>
            <a:r>
              <a:rPr>
                <a:solidFill>
                  <a:srgbClr val="1C1D22"/>
                </a:solidFill>
              </a:rPr>
              <a:t>Комплекты ПД/РД/ИД по 3–5 объектам (с согласием на обработку)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2102025926" name="Текст 5"/>
          <p:cNvSpPr>
            <a:spLocks noGrp="1"/>
          </p:cNvSpPr>
          <p:nvPr>
            <p:ph type="body" sz="quarter" idx="16"/>
          </p:nvPr>
        </p:nvSpPr>
        <p:spPr bwMode="auto">
          <a:xfrm>
            <a:off x="6172730" y="2472872"/>
            <a:ext cx="5460470" cy="600112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>
              <a:defRPr/>
            </a:pPr>
            <a:r>
              <a:rPr>
                <a:solidFill>
                  <a:srgbClr val="1C1D22"/>
                </a:solidFill>
              </a:rPr>
              <a:t>Два инспектора для разметки и юзабилити-сессий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1984634015" name="Текст 6"/>
          <p:cNvSpPr>
            <a:spLocks noGrp="1"/>
          </p:cNvSpPr>
          <p:nvPr>
            <p:ph type="body" sz="quarter" idx="17"/>
          </p:nvPr>
        </p:nvSpPr>
        <p:spPr bwMode="auto">
          <a:xfrm>
            <a:off x="6172730" y="3485922"/>
            <a:ext cx="5460470" cy="600112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>
              <a:defRPr/>
            </a:pPr>
            <a:r>
              <a:rPr>
                <a:solidFill>
                  <a:srgbClr val="1C1D22"/>
                </a:solidFill>
              </a:rPr>
              <a:t>Контракт обмена с ИАИС «РиН» и тестовый контур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1065989968" name="Текст 7"/>
          <p:cNvSpPr>
            <a:spLocks noGrp="1"/>
          </p:cNvSpPr>
          <p:nvPr>
            <p:ph type="body" sz="quarter" idx="18"/>
          </p:nvPr>
        </p:nvSpPr>
        <p:spPr bwMode="auto">
          <a:xfrm>
            <a:off x="6172730" y="4496593"/>
            <a:ext cx="5460470" cy="600112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>
              <a:defRPr/>
            </a:pPr>
            <a:r>
              <a:rPr>
                <a:solidFill>
                  <a:srgbClr val="1C1D22"/>
                </a:solidFill>
              </a:rPr>
              <a:t>Размеченные NEGATIVE_VERIFIED: без них FPR не измерим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1908450424" name="Текст 8"/>
          <p:cNvSpPr>
            <a:spLocks noGrp="1"/>
          </p:cNvSpPr>
          <p:nvPr>
            <p:ph type="body" sz="quarter" idx="19"/>
          </p:nvPr>
        </p:nvSpPr>
        <p:spPr bwMode="auto">
          <a:xfrm>
            <a:off x="6172730" y="5516924"/>
            <a:ext cx="5460470" cy="600112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>
              <a:defRPr/>
            </a:pPr>
            <a:r>
              <a:rPr>
                <a:solidFill>
                  <a:srgbClr val="1C1D22"/>
                </a:solidFill>
              </a:rPr>
              <a:t>Регламент приёмки и приоритетные параметры первого релиза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1065763849" name="Номер слайда 9"/>
          <p:cNvSpPr>
            <a:spLocks noGrp="1"/>
          </p:cNvSpPr>
          <p:nvPr>
            <p:ph type="sldNum" sz="quarter" idx="4294967295"/>
          </p:nvPr>
        </p:nvSpPr>
        <p:spPr bwMode="auto">
          <a:xfrm>
            <a:off x="11633200" y="6356350"/>
            <a:ext cx="558800" cy="365125"/>
          </a:xfrm>
        </p:spPr>
        <p:txBody>
          <a:bodyPr/>
          <a:lstStyle/>
          <a:p>
            <a:pPr>
              <a:defRPr/>
            </a:pPr>
            <a:r>
              <a:rPr>
                <a:solidFill/>
              </a:rPr>
              <a:t>23</a:t>
            </a:r>
            <a:endParaRPr lang="ru-RU">
              <a:solidFill>
                <a:schemeClr val="accent5"/>
              </a:solidFill>
            </a:endParaRPr>
          </a:p>
        </p:txBody>
      </p:sp>
      <p:sp>
        <p:nvSpPr>
          <p:cNvPr id="1290914196" name="Заголовок 13"/>
          <p:cNvSpPr>
            <a:spLocks noGrp="1"/>
          </p:cNvSpPr>
          <p:nvPr>
            <p:ph type="title"/>
          </p:nvPr>
        </p:nvSpPr>
        <p:spPr bwMode="auto">
          <a:xfrm>
            <a:off x="525817" y="421226"/>
            <a:ext cx="5431536" cy="376138"/>
          </a:xfrm>
        </p:spPr>
        <p:txBody>
          <a:bodyPr/>
          <a:lstStyle/>
          <a:p>
            <a:pPr>
              <a:defRPr/>
            </a:pPr>
            <a:r>
              <a:rPr>
                <a:solidFill/>
              </a:rPr>
              <a:t>ЧТО НУЖНО ОТ КОМИТЕТА</a:t>
            </a:r>
            <a:endParaRPr lang="ru-RU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40199916" name="Заголовок 2"/>
          <p:cNvSpPr>
            <a:spLocks noGrp="1"/>
          </p:cNvSpPr>
          <p:nvPr>
            <p:ph type="ctrTitle"/>
          </p:nvPr>
        </p:nvSpPr>
        <p:spPr bwMode="auto">
          <a:xfrm>
            <a:off x="1" y="3894513"/>
            <a:ext cx="6271845" cy="1706743"/>
          </a:xfrm>
        </p:spPr>
        <p:txBody>
          <a:bodyPr/>
          <a:lstStyle/>
          <a:p>
            <a:pPr marL="268288" indent="0">
              <a:defRPr/>
            </a:pPr>
            <a:r>
              <a:rPr>
                <a:solidFill>
                  <a:srgbClr val="FFFFFF"/>
                </a:solidFill>
              </a:rPr>
              <a:t>СПАСИБО!</a:t>
            </a:r>
            <a:endParaRPr lang="ru-RU" sz="4800"/>
          </a:p>
        </p:txBody>
      </p:sp>
      <p:pic>
        <p:nvPicPr>
          <p:cNvPr id="1636791008" name="Рисунок 3" descr="image.png"/>
          <p:cNvPicPr>
            <a:picLocks noGrp="1" noChangeAspect="1"/>
          </p:cNvPicPr>
          <p:nvPr>
            <p:ph type="pic" sz="quarter" idx="11"/>
          </p:nvPr>
        </p:nvPicPr>
        <p:blipFill>
          <a:blip r:embed="rId2"/>
          <a:srcRect/>
          <a:stretch>
            <a:fillRect/>
          </a:stretch>
        </p:blipFill>
        <p:spPr>
          <a:xfrm>
            <a:off x="1512348" y="329184"/>
            <a:ext cx="2772599" cy="1078992"/>
          </a:xfrm>
        </p:spPr>
      </p:pic>
      <p:sp>
        <p:nvSpPr>
          <p:cNvPr id="757351073" name="Текст 4"/>
          <p:cNvSpPr>
            <a:spLocks noGrp="1"/>
          </p:cNvSpPr>
          <p:nvPr>
            <p:ph type="body" sz="quarter" idx="12"/>
          </p:nvPr>
        </p:nvSpPr>
        <p:spPr bwMode="auto">
          <a:xfrm>
            <a:off x="0" y="5659501"/>
            <a:ext cx="8930641" cy="757174"/>
          </a:xfrm>
        </p:spPr>
        <p:txBody>
          <a:bodyPr anchor="ctr"/>
          <a:lstStyle/>
          <a:p>
            <a:pPr indent="268288">
              <a:defRPr/>
            </a:pPr>
            <a:r>
              <a:rPr>
                <a:solidFill/>
              </a:rPr>
              <a:t>Команда «Контур» · Дмитрий Коньков +7 915 452-88-64 · konkov-dmitrij@yandex.ru · Елена Конькова konkovaelena@yandex.ru · github.com/KonkovDV/Kontur</a:t>
            </a:r>
            <a:endParaRPr lang="ru-RU"/>
          </a:p>
        </p:txBody>
      </p:sp>
      <p:sp>
        <p:nvSpPr>
          <p:cNvPr id="1091804844" name="Скругленный прямоугольник 1"/>
          <p:cNvSpPr/>
          <p:nvPr/>
        </p:nvSpPr>
        <p:spPr bwMode="auto">
          <a:xfrm>
            <a:off x="-296709" y="-313993"/>
            <a:ext cx="6125156" cy="2285622"/>
          </a:xfrm>
          <a:prstGeom prst="roundRect">
            <a:avLst>
              <a:gd name="adj" fmla="val 9821"/>
            </a:avLst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/>
        <a:ea typeface="Arial"/>
        <a:cs typeface="Arial"/>
      </a:majorFont>
      <a:minorFont>
        <a:latin typeface="Montserrat"/>
        <a:ea typeface="Arial"/>
        <a:cs typeface="Arial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prstGeom prst="rect">
          <a:avLst/>
        </a:prstGeom>
        <a:solidFill>
          <a:schemeClr val="bg1">
            <a:alpha val="0"/>
          </a:schemeClr>
        </a:solidFill>
        <a:ln w="19050">
          <a:solidFill>
            <a:schemeClr val="bg1">
              <a:alpha val="47000"/>
            </a:schemeClr>
          </a:solidFill>
        </a:ln>
      </a:spPr>
      <a:bodyPr/>
      <a:lstStyle/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onlyoffice/9.2.1.1</Application>
  <PresentationFormat>On-screen Show (4:3)</PresentationFormat>
  <Paragraphs>0</Paragraphs>
  <Slides>37</Slides>
  <Notes>37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38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Анастасия Юшкова</dc:creator>
  <cp:lastModifiedBy>Аноним</cp:lastModifiedBy>
  <cp:revision>96</cp:revision>
  <dcterms:created xsi:type="dcterms:W3CDTF">2023-05-15T07:36:23Z</dcterms:created>
  <dcterms:modified xsi:type="dcterms:W3CDTF">2026-09-16T13:19:25Z</dcterms:modified>
</cp:coreProperties>
</file>